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72" r:id="rId3"/>
    <p:sldId id="281" r:id="rId4"/>
    <p:sldId id="283" r:id="rId5"/>
    <p:sldId id="282" r:id="rId6"/>
    <p:sldId id="285" r:id="rId7"/>
    <p:sldId id="284" r:id="rId8"/>
    <p:sldId id="286" r:id="rId9"/>
    <p:sldId id="287" r:id="rId10"/>
    <p:sldId id="288" r:id="rId11"/>
    <p:sldId id="289" r:id="rId12"/>
    <p:sldId id="291" r:id="rId13"/>
    <p:sldId id="292" r:id="rId14"/>
    <p:sldId id="293" r:id="rId15"/>
    <p:sldId id="294" r:id="rId1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3DB6"/>
    <a:srgbClr val="FFFFFF"/>
    <a:srgbClr val="F2F2F2"/>
    <a:srgbClr val="FA91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CBE1"/>
          </a:solidFill>
        </a:fill>
      </a:tcStyle>
    </a:wholeTbl>
    <a:band2H>
      <a:tcTxStyle/>
      <a:tcStyle>
        <a:tcBdr/>
        <a:fill>
          <a:solidFill>
            <a:srgbClr val="E8E7F1"/>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DBCA"/>
          </a:solidFill>
        </a:fill>
      </a:tcStyle>
    </a:wholeTbl>
    <a:band2H>
      <a:tcTxStyle/>
      <a:tcStyle>
        <a:tcBdr/>
        <a:fill>
          <a:solidFill>
            <a:srgbClr val="FFEE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a:tcStyle>
        <a:tcBdr/>
        <a:fill>
          <a:solidFill>
            <a:srgbClr val="E8F0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p:restoredTop sz="94664"/>
  </p:normalViewPr>
  <p:slideViewPr>
    <p:cSldViewPr snapToGrid="0">
      <p:cViewPr varScale="1">
        <p:scale>
          <a:sx n="134" d="100"/>
          <a:sy n="134" d="100"/>
        </p:scale>
        <p:origin x="44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Shape 24"/>
          <p:cNvSpPr>
            <a:spLocks noGrp="1" noRot="1" noChangeAspect="1"/>
          </p:cNvSpPr>
          <p:nvPr>
            <p:ph type="sldImg"/>
          </p:nvPr>
        </p:nvSpPr>
        <p:spPr>
          <a:xfrm>
            <a:off x="1143000" y="685800"/>
            <a:ext cx="4572000" cy="3429000"/>
          </a:xfrm>
          <a:prstGeom prst="rect">
            <a:avLst/>
          </a:prstGeom>
        </p:spPr>
        <p:txBody>
          <a:bodyPr/>
          <a:lstStyle/>
          <a:p>
            <a:endParaRPr/>
          </a:p>
        </p:txBody>
      </p:sp>
      <p:sp>
        <p:nvSpPr>
          <p:cNvPr id="25" name="Shape 2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Onest"/>
      </a:defRPr>
    </a:lvl1pPr>
    <a:lvl2pPr indent="228600" latinLnBrk="0">
      <a:defRPr sz="1200">
        <a:latin typeface="+mn-lt"/>
        <a:ea typeface="+mn-ea"/>
        <a:cs typeface="+mn-cs"/>
        <a:sym typeface="Onest"/>
      </a:defRPr>
    </a:lvl2pPr>
    <a:lvl3pPr indent="457200" latinLnBrk="0">
      <a:defRPr sz="1200">
        <a:latin typeface="+mn-lt"/>
        <a:ea typeface="+mn-ea"/>
        <a:cs typeface="+mn-cs"/>
        <a:sym typeface="Onest"/>
      </a:defRPr>
    </a:lvl3pPr>
    <a:lvl4pPr indent="685800" latinLnBrk="0">
      <a:defRPr sz="1200">
        <a:latin typeface="+mn-lt"/>
        <a:ea typeface="+mn-ea"/>
        <a:cs typeface="+mn-cs"/>
        <a:sym typeface="Onest"/>
      </a:defRPr>
    </a:lvl4pPr>
    <a:lvl5pPr indent="914400" latinLnBrk="0">
      <a:defRPr sz="1200">
        <a:latin typeface="+mn-lt"/>
        <a:ea typeface="+mn-ea"/>
        <a:cs typeface="+mn-cs"/>
        <a:sym typeface="Onest"/>
      </a:defRPr>
    </a:lvl5pPr>
    <a:lvl6pPr indent="1143000" latinLnBrk="0">
      <a:defRPr sz="1200">
        <a:latin typeface="+mn-lt"/>
        <a:ea typeface="+mn-ea"/>
        <a:cs typeface="+mn-cs"/>
        <a:sym typeface="Onest"/>
      </a:defRPr>
    </a:lvl6pPr>
    <a:lvl7pPr indent="1371600" latinLnBrk="0">
      <a:defRPr sz="1200">
        <a:latin typeface="+mn-lt"/>
        <a:ea typeface="+mn-ea"/>
        <a:cs typeface="+mn-cs"/>
        <a:sym typeface="Onest"/>
      </a:defRPr>
    </a:lvl7pPr>
    <a:lvl8pPr indent="1600200" latinLnBrk="0">
      <a:defRPr sz="1200">
        <a:latin typeface="+mn-lt"/>
        <a:ea typeface="+mn-ea"/>
        <a:cs typeface="+mn-cs"/>
        <a:sym typeface="Onest"/>
      </a:defRPr>
    </a:lvl8pPr>
    <a:lvl9pPr indent="1828800" latinLnBrk="0">
      <a:defRPr sz="1200">
        <a:latin typeface="+mn-lt"/>
        <a:ea typeface="+mn-ea"/>
        <a:cs typeface="+mn-cs"/>
        <a:sym typeface="Onest"/>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Slide 0">
    <p:bg>
      <p:bgPr>
        <a:solidFill>
          <a:srgbClr val="262626"/>
        </a:solidFill>
        <a:effectLst/>
      </p:bgPr>
    </p:bg>
    <p:spTree>
      <p:nvGrpSpPr>
        <p:cNvPr id="1" name=""/>
        <p:cNvGrpSpPr/>
        <p:nvPr/>
      </p:nvGrpSpPr>
      <p:grpSpPr>
        <a:xfrm>
          <a:off x="0" y="0"/>
          <a:ext cx="0" cy="0"/>
          <a:chOff x="0" y="0"/>
          <a:chExt cx="0" cy="0"/>
        </a:xfrm>
      </p:grpSpPr>
      <p:sp>
        <p:nvSpPr>
          <p:cNvPr id="18" name="Slide Number"/>
          <p:cNvSpPr txBox="1">
            <a:spLocks noGrp="1"/>
          </p:cNvSpPr>
          <p:nvPr>
            <p:ph type="sldNum" sz="quarter" idx="2"/>
          </p:nvPr>
        </p:nvSpPr>
        <p:spPr>
          <a:xfrm>
            <a:off x="5892800" y="6172200"/>
            <a:ext cx="2844800" cy="368301"/>
          </a:xfrm>
          <a:prstGeom prst="rect">
            <a:avLst/>
          </a:prstGeom>
        </p:spPr>
        <p:txBody>
          <a:bodyPr/>
          <a:lstStyle>
            <a:lvl1pPr algn="r">
              <a:defRPr sz="1200" b="0">
                <a:solidFill>
                  <a:srgbClr val="000000"/>
                </a:solidFill>
                <a:latin typeface="+mn-lt"/>
                <a:ea typeface="+mn-ea"/>
                <a:cs typeface="+mn-cs"/>
                <a:sym typeface="Onest"/>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11337013" y="5997575"/>
            <a:ext cx="556181" cy="574041"/>
          </a:xfrm>
          <a:prstGeom prst="rect">
            <a:avLst/>
          </a:prstGeom>
          <a:ln w="12700">
            <a:miter lim="400000"/>
          </a:ln>
        </p:spPr>
        <p:txBody>
          <a:bodyPr wrap="none" lIns="45719" rIns="45719" anchor="ctr">
            <a:spAutoFit/>
          </a:bodyPr>
          <a:lstStyle>
            <a:lvl1pPr algn="ctr">
              <a:defRPr sz="3200" b="1">
                <a:solidFill>
                  <a:srgbClr val="D9D9D9"/>
                </a:solidFill>
                <a:latin typeface="+mj-lt"/>
                <a:ea typeface="+mj-ea"/>
                <a:cs typeface="+mj-cs"/>
                <a:sym typeface="Helvetica"/>
              </a:defRPr>
            </a:lvl1pPr>
          </a:lstStyle>
          <a:p>
            <a:fld id="{86CB4B4D-7CA3-9044-876B-883B54F8677D}" type="slidenum">
              <a:t>‹#›</a:t>
            </a:fld>
            <a:endParaRPr/>
          </a:p>
        </p:txBody>
      </p:sp>
      <p:sp>
        <p:nvSpPr>
          <p:cNvPr id="3"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Title Text</a:t>
            </a:r>
          </a:p>
        </p:txBody>
      </p:sp>
      <p:sp>
        <p:nvSpPr>
          <p:cNvPr id="4"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1pPr>
      <a:lvl2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2pPr>
      <a:lvl3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3pPr>
      <a:lvl4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4pPr>
      <a:lvl5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5pPr>
      <a:lvl6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6pPr>
      <a:lvl7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7pPr>
      <a:lvl8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8pPr>
      <a:lvl9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9pPr>
    </p:bodyStyle>
    <p:otherStyle>
      <a:lvl1pPr marL="0" marR="0" indent="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1pPr>
      <a:lvl2pPr marL="0" marR="0" indent="4572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2pPr>
      <a:lvl3pPr marL="0" marR="0" indent="9144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3pPr>
      <a:lvl4pPr marL="0" marR="0" indent="13716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4pPr>
      <a:lvl5pPr marL="0" marR="0" indent="18288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5pPr>
      <a:lvl6pPr marL="0" marR="0" indent="22860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6pPr>
      <a:lvl7pPr marL="0" marR="0" indent="27432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7pPr>
      <a:lvl8pPr marL="0" marR="0" indent="32004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8pPr>
      <a:lvl9pPr marL="0" marR="0" indent="36576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8491705f-31e7-4fe0-8092-0c935f4e6abf/reports/5566c85a-6f22-45e2-9694-050e069bcb92/56ef5cc01ad0c3e0d28a?experience=power-bi"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hyperlink" Target="https://app.powerbi.com/groups/8491705f-31e7-4fe0-8092-0c935f4e6abf/reports/5566c85a-6f22-45e2-9694-050e069bcb92/56ef5cc01ad0c3e0d28a?experience=power-bi"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app.powerbi.com/groups/8491705f-31e7-4fe0-8092-0c935f4e6abf/reports/5566c85a-6f22-45e2-9694-050e069bcb92/56ef5cc01ad0c3e0d28a?experience=power-bi"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8491705f-31e7-4fe0-8092-0c935f4e6abf/reports/5566c85a-6f22-45e2-9694-050e069bcb92/56ef5cc01ad0c3e0d28a?experience=power-bi" TargetMode="External"/><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hyperlink" Target="https://app.powerbi.com/groups/8491705f-31e7-4fe0-8092-0c935f4e6abf/reports/5566c85a-6f22-45e2-9694-050e069bcb92/56ef5cc01ad0c3e0d28a?experience=power-bi" TargetMode="Externa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hyperlink" Target="https://app.powerbi.com/groups/8491705f-31e7-4fe0-8092-0c935f4e6abf/reports/5566c85a-6f22-45e2-9694-050e069bcb92/56ef5cc01ad0c3e0d28a?experience=power-bi"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hyperlink" Target="https://app.powerbi.com/groups/8491705f-31e7-4fe0-8092-0c935f4e6abf/reports/5566c85a-6f22-45e2-9694-050e069bcb92/56ef5cc01ad0c3e0d28a?experience=power-bi"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hyperlink" Target="https://app.powerbi.com/groups/8491705f-31e7-4fe0-8092-0c935f4e6abf/reports/5566c85a-6f22-45e2-9694-050e069bcb92/56ef5cc01ad0c3e0d28a?experience=power-bi"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app.powerbi.com/groups/8491705f-31e7-4fe0-8092-0c935f4e6abf/reports/5566c85a-6f22-45e2-9694-050e069bcb92/56ef5cc01ad0c3e0d28a?experience=power-bi"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9" name="Group 1"/>
          <p:cNvGrpSpPr/>
          <p:nvPr/>
        </p:nvGrpSpPr>
        <p:grpSpPr>
          <a:xfrm>
            <a:off x="3070578" y="2872292"/>
            <a:ext cx="12159408" cy="1438210"/>
            <a:chOff x="1923205" y="56444"/>
            <a:chExt cx="10847074" cy="1139390"/>
          </a:xfrm>
        </p:grpSpPr>
        <p:sp>
          <p:nvSpPr>
            <p:cNvPr id="27" name="TextBox 3"/>
            <p:cNvSpPr/>
            <p:nvPr/>
          </p:nvSpPr>
          <p:spPr>
            <a:xfrm>
              <a:off x="2902518" y="56444"/>
              <a:ext cx="9867761" cy="76943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r>
                <a:rPr lang="en-US" sz="4400" b="1" dirty="0">
                  <a:solidFill>
                    <a:srgbClr val="623DB6"/>
                  </a:solidFill>
                </a:rPr>
                <a:t>E-com Analytics</a:t>
              </a:r>
              <a:endParaRPr sz="8000" dirty="0">
                <a:solidFill>
                  <a:srgbClr val="623DB6"/>
                </a:solidFill>
              </a:endParaRPr>
            </a:p>
          </p:txBody>
        </p:sp>
        <p:sp>
          <p:nvSpPr>
            <p:cNvPr id="28" name="TextBox 15"/>
            <p:cNvSpPr/>
            <p:nvPr/>
          </p:nvSpPr>
          <p:spPr>
            <a:xfrm>
              <a:off x="1923205" y="1195833"/>
              <a:ext cx="56388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1200">
                  <a:solidFill>
                    <a:srgbClr val="FFFFFF"/>
                  </a:solidFill>
                </a:defRPr>
              </a:lvl1pPr>
            </a:lstStyle>
            <a:p>
              <a:r>
                <a:rPr dirty="0"/>
                <a:t>Transforming Data into Actionable Insights</a:t>
              </a:r>
            </a:p>
          </p:txBody>
        </p:sp>
      </p:grpSp>
      <p:sp>
        <p:nvSpPr>
          <p:cNvPr id="3" name="TextBox 2">
            <a:extLst>
              <a:ext uri="{FF2B5EF4-FFF2-40B4-BE49-F238E27FC236}">
                <a16:creationId xmlns:a16="http://schemas.microsoft.com/office/drawing/2014/main" id="{E870D278-E9C5-55BF-4858-7E31C21D3FFF}"/>
              </a:ext>
            </a:extLst>
          </p:cNvPr>
          <p:cNvSpPr txBox="1"/>
          <p:nvPr/>
        </p:nvSpPr>
        <p:spPr>
          <a:xfrm>
            <a:off x="4109156" y="3895004"/>
            <a:ext cx="8082844"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vi-VN" sz="1200" b="0" i="0" dirty="0">
                <a:solidFill>
                  <a:schemeClr val="bg2"/>
                </a:solidFill>
                <a:effectLst/>
                <a:latin typeface="Google Sans Text"/>
              </a:rPr>
              <a:t>Dashboard được thiết kế để cung cấp một cái nhìn toàn diện và đa chiều về hiệu suất kinh doanh thương mại điện tử, từ tổng quan hoạt động, hiệu quả của từng sản phẩm, đến hành vi và giá trị của cơ sở khách hàng, và cuối cùng là tình hình quản lý hàng tồn kho. Mục tiêu là xác định các điểm mạnh, điểm yếu, cơ hội và thách thức, từ đó đưa ra các quyết định kinh doanh dựa trên dữ liệu một cách hiệu quả</a:t>
            </a:r>
            <a:endParaRPr lang="en-VN" sz="1200" dirty="0">
              <a:solidFill>
                <a:schemeClr val="bg2"/>
              </a:solidFill>
            </a:endParaRPr>
          </a:p>
        </p:txBody>
      </p:sp>
      <p:sp>
        <p:nvSpPr>
          <p:cNvPr id="4" name="TextBox 3">
            <a:extLst>
              <a:ext uri="{FF2B5EF4-FFF2-40B4-BE49-F238E27FC236}">
                <a16:creationId xmlns:a16="http://schemas.microsoft.com/office/drawing/2014/main" id="{70B72974-C107-9A27-AFA1-4EC03F7F9BCA}"/>
              </a:ext>
            </a:extLst>
          </p:cNvPr>
          <p:cNvSpPr txBox="1"/>
          <p:nvPr/>
        </p:nvSpPr>
        <p:spPr>
          <a:xfrm>
            <a:off x="8920628" y="5870222"/>
            <a:ext cx="155710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VN" sz="1800" b="0" i="0" u="none" strike="noStrike" cap="none" spc="0" normalizeH="0" baseline="0" dirty="0">
                <a:ln>
                  <a:noFill/>
                </a:ln>
                <a:solidFill>
                  <a:srgbClr val="000000"/>
                </a:solidFill>
                <a:effectLst/>
                <a:uFillTx/>
                <a:latin typeface="+mn-lt"/>
                <a:ea typeface="+mn-ea"/>
                <a:cs typeface="+mn-cs"/>
                <a:sym typeface="Onest"/>
                <a:hlinkClick r:id="rId3"/>
              </a:rPr>
              <a:t>Discover more</a:t>
            </a:r>
            <a:endParaRPr kumimoji="0" lang="en-VN" sz="1800" b="0" i="0" u="none" strike="noStrike" cap="none" spc="0" normalizeH="0" baseline="0" dirty="0">
              <a:ln>
                <a:noFill/>
              </a:ln>
              <a:solidFill>
                <a:srgbClr val="000000"/>
              </a:solidFill>
              <a:effectLst/>
              <a:uFillTx/>
              <a:latin typeface="+mn-lt"/>
              <a:ea typeface="+mn-ea"/>
              <a:cs typeface="+mn-cs"/>
              <a:sym typeface="Onest"/>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 name="Slide Number Placeholder 5"/>
          <p:cNvSpPr txBox="1">
            <a:spLocks noGrp="1"/>
          </p:cNvSpPr>
          <p:nvPr>
            <p:ph type="sldNum" sz="quarter" idx="2"/>
          </p:nvPr>
        </p:nvSpPr>
        <p:spPr>
          <a:xfrm>
            <a:off x="11337013" y="5997575"/>
            <a:ext cx="556181" cy="5740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a:t>
            </a:fld>
            <a:endParaRPr/>
          </a:p>
        </p:txBody>
      </p:sp>
      <p:sp>
        <p:nvSpPr>
          <p:cNvPr id="469" name="Rectangle: Rounded Corners 2"/>
          <p:cNvSpPr/>
          <p:nvPr/>
        </p:nvSpPr>
        <p:spPr>
          <a:xfrm rot="16200000">
            <a:off x="7486008" y="33307"/>
            <a:ext cx="638814" cy="5534480"/>
          </a:xfrm>
          <a:prstGeom prst="roundRect">
            <a:avLst>
              <a:gd name="adj" fmla="val 16667"/>
            </a:avLst>
          </a:prstGeom>
          <a:solidFill>
            <a:schemeClr val="accent2">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470" name="Rectangle: Rounded Corners 3"/>
          <p:cNvSpPr/>
          <p:nvPr/>
        </p:nvSpPr>
        <p:spPr>
          <a:xfrm rot="16200000">
            <a:off x="7486009" y="1962252"/>
            <a:ext cx="638812" cy="5534479"/>
          </a:xfrm>
          <a:prstGeom prst="roundRect">
            <a:avLst>
              <a:gd name="adj" fmla="val 16667"/>
            </a:avLst>
          </a:prstGeom>
          <a:solidFill>
            <a:schemeClr val="accent3">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71" name="Rectangle: Rounded Corners 4"/>
          <p:cNvSpPr/>
          <p:nvPr/>
        </p:nvSpPr>
        <p:spPr>
          <a:xfrm rot="16200000">
            <a:off x="7486008" y="1028304"/>
            <a:ext cx="638813" cy="5534479"/>
          </a:xfrm>
          <a:prstGeom prst="roundRect">
            <a:avLst>
              <a:gd name="adj" fmla="val 16667"/>
            </a:avLst>
          </a:prstGeom>
          <a:solidFill>
            <a:schemeClr val="accent4">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 name="TextBox 2">
            <a:extLst>
              <a:ext uri="{FF2B5EF4-FFF2-40B4-BE49-F238E27FC236}">
                <a16:creationId xmlns:a16="http://schemas.microsoft.com/office/drawing/2014/main" id="{3DBC51CB-3000-3D08-59A5-7980FEF79BE5}"/>
              </a:ext>
            </a:extLst>
          </p:cNvPr>
          <p:cNvSpPr txBox="1"/>
          <p:nvPr/>
        </p:nvSpPr>
        <p:spPr>
          <a:xfrm>
            <a:off x="756355" y="597077"/>
            <a:ext cx="6096000"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dirty="0">
                <a:solidFill>
                  <a:schemeClr val="accent2"/>
                </a:solidFill>
              </a:rPr>
              <a:t>Agenda</a:t>
            </a:r>
          </a:p>
        </p:txBody>
      </p:sp>
      <p:grpSp>
        <p:nvGrpSpPr>
          <p:cNvPr id="8" name="Group 7">
            <a:extLst>
              <a:ext uri="{FF2B5EF4-FFF2-40B4-BE49-F238E27FC236}">
                <a16:creationId xmlns:a16="http://schemas.microsoft.com/office/drawing/2014/main" id="{BC41CBD1-24AF-BA41-6607-283028D3D21D}"/>
              </a:ext>
            </a:extLst>
          </p:cNvPr>
          <p:cNvGrpSpPr/>
          <p:nvPr/>
        </p:nvGrpSpPr>
        <p:grpSpPr>
          <a:xfrm>
            <a:off x="5038219" y="1573802"/>
            <a:ext cx="6298794" cy="638813"/>
            <a:chOff x="5038219" y="1573802"/>
            <a:chExt cx="6298794" cy="638813"/>
          </a:xfrm>
        </p:grpSpPr>
        <p:sp>
          <p:nvSpPr>
            <p:cNvPr id="468" name="Rectangle: Rounded Corners 1"/>
            <p:cNvSpPr/>
            <p:nvPr/>
          </p:nvSpPr>
          <p:spPr>
            <a:xfrm rot="16200000">
              <a:off x="7486052" y="-874031"/>
              <a:ext cx="638813" cy="5534479"/>
            </a:xfrm>
            <a:prstGeom prst="roundRect">
              <a:avLst>
                <a:gd name="adj" fmla="val 16667"/>
              </a:avLst>
            </a:prstGeom>
            <a:solidFill>
              <a:schemeClr val="accent1">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 name="TextBox 3">
              <a:extLst>
                <a:ext uri="{FF2B5EF4-FFF2-40B4-BE49-F238E27FC236}">
                  <a16:creationId xmlns:a16="http://schemas.microsoft.com/office/drawing/2014/main" id="{0F8875B0-A577-5FA3-5E49-8C19EBA10671}"/>
                </a:ext>
              </a:extLst>
            </p:cNvPr>
            <p:cNvSpPr txBox="1"/>
            <p:nvPr/>
          </p:nvSpPr>
          <p:spPr>
            <a:xfrm>
              <a:off x="5241013" y="1693153"/>
              <a:ext cx="6096000"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2000" dirty="0">
                  <a:solidFill>
                    <a:schemeClr val="bg1">
                      <a:lumMod val="10000"/>
                      <a:lumOff val="90000"/>
                    </a:schemeClr>
                  </a:solidFill>
                </a:rPr>
                <a:t>1. </a:t>
              </a:r>
              <a:r>
                <a:rPr lang="en-US" sz="2000" dirty="0" err="1">
                  <a:solidFill>
                    <a:schemeClr val="bg1">
                      <a:lumMod val="10000"/>
                      <a:lumOff val="90000"/>
                    </a:schemeClr>
                  </a:solidFill>
                </a:rPr>
                <a:t>Phân</a:t>
              </a:r>
              <a:r>
                <a:rPr lang="en-US" sz="2000" dirty="0">
                  <a:solidFill>
                    <a:schemeClr val="bg1">
                      <a:lumMod val="10000"/>
                      <a:lumOff val="90000"/>
                    </a:schemeClr>
                  </a:solidFill>
                </a:rPr>
                <a:t> </a:t>
              </a:r>
              <a:r>
                <a:rPr lang="en-US" sz="2000" dirty="0" err="1">
                  <a:solidFill>
                    <a:schemeClr val="bg1">
                      <a:lumMod val="10000"/>
                      <a:lumOff val="90000"/>
                    </a:schemeClr>
                  </a:solidFill>
                </a:rPr>
                <a:t>tích</a:t>
              </a:r>
              <a:r>
                <a:rPr lang="en-US" sz="2000" dirty="0">
                  <a:solidFill>
                    <a:schemeClr val="bg1">
                      <a:lumMod val="10000"/>
                      <a:lumOff val="90000"/>
                    </a:schemeClr>
                  </a:solidFill>
                </a:rPr>
                <a:t> </a:t>
              </a:r>
              <a:r>
                <a:rPr lang="en-US" sz="2000" dirty="0" err="1">
                  <a:solidFill>
                    <a:schemeClr val="bg1">
                      <a:lumMod val="10000"/>
                      <a:lumOff val="90000"/>
                    </a:schemeClr>
                  </a:solidFill>
                </a:rPr>
                <a:t>tổng</a:t>
              </a:r>
              <a:r>
                <a:rPr lang="en-US" sz="2000" dirty="0">
                  <a:solidFill>
                    <a:schemeClr val="bg1">
                      <a:lumMod val="10000"/>
                      <a:lumOff val="90000"/>
                    </a:schemeClr>
                  </a:solidFill>
                </a:rPr>
                <a:t> </a:t>
              </a:r>
              <a:r>
                <a:rPr lang="en-US" sz="2000" dirty="0" err="1">
                  <a:solidFill>
                    <a:schemeClr val="bg1">
                      <a:lumMod val="10000"/>
                      <a:lumOff val="90000"/>
                    </a:schemeClr>
                  </a:solidFill>
                </a:rPr>
                <a:t>quan</a:t>
              </a:r>
              <a:r>
                <a:rPr lang="en-US" sz="2000" dirty="0">
                  <a:solidFill>
                    <a:schemeClr val="bg1">
                      <a:lumMod val="10000"/>
                      <a:lumOff val="90000"/>
                    </a:schemeClr>
                  </a:solidFill>
                </a:rPr>
                <a:t> </a:t>
              </a:r>
              <a:r>
                <a:rPr lang="en-US" sz="2000" dirty="0" err="1">
                  <a:solidFill>
                    <a:schemeClr val="bg1">
                      <a:lumMod val="10000"/>
                      <a:lumOff val="90000"/>
                    </a:schemeClr>
                  </a:solidFill>
                </a:rPr>
                <a:t>thị</a:t>
              </a:r>
              <a:r>
                <a:rPr lang="en-US" sz="2000" dirty="0">
                  <a:solidFill>
                    <a:schemeClr val="bg1">
                      <a:lumMod val="10000"/>
                      <a:lumOff val="90000"/>
                    </a:schemeClr>
                  </a:solidFill>
                </a:rPr>
                <a:t> </a:t>
              </a:r>
              <a:r>
                <a:rPr lang="en-US" sz="2000" dirty="0" err="1">
                  <a:solidFill>
                    <a:schemeClr val="bg1">
                      <a:lumMod val="10000"/>
                      <a:lumOff val="90000"/>
                    </a:schemeClr>
                  </a:solidFill>
                </a:rPr>
                <a:t>trường</a:t>
              </a:r>
              <a:endParaRPr lang="en-US" sz="2000" dirty="0">
                <a:solidFill>
                  <a:schemeClr val="bg1">
                    <a:lumMod val="10000"/>
                    <a:lumOff val="90000"/>
                  </a:schemeClr>
                </a:solidFill>
              </a:endParaRPr>
            </a:p>
          </p:txBody>
        </p:sp>
      </p:grpSp>
      <p:sp>
        <p:nvSpPr>
          <p:cNvPr id="5" name="TextBox 4">
            <a:extLst>
              <a:ext uri="{FF2B5EF4-FFF2-40B4-BE49-F238E27FC236}">
                <a16:creationId xmlns:a16="http://schemas.microsoft.com/office/drawing/2014/main" id="{B0F22B80-C630-8C65-58FF-7227EB82BC2C}"/>
              </a:ext>
            </a:extLst>
          </p:cNvPr>
          <p:cNvSpPr txBox="1"/>
          <p:nvPr/>
        </p:nvSpPr>
        <p:spPr>
          <a:xfrm>
            <a:off x="5241013" y="2631016"/>
            <a:ext cx="6096000"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2000" dirty="0">
                <a:solidFill>
                  <a:schemeClr val="bg1">
                    <a:lumMod val="10000"/>
                    <a:lumOff val="90000"/>
                  </a:schemeClr>
                </a:solidFill>
              </a:rPr>
              <a:t>2. </a:t>
            </a:r>
            <a:r>
              <a:rPr lang="en-US" sz="2000" dirty="0" err="1">
                <a:solidFill>
                  <a:schemeClr val="bg1">
                    <a:lumMod val="10000"/>
                    <a:lumOff val="90000"/>
                  </a:schemeClr>
                </a:solidFill>
              </a:rPr>
              <a:t>Phân</a:t>
            </a:r>
            <a:r>
              <a:rPr lang="en-US" sz="2000" dirty="0">
                <a:solidFill>
                  <a:schemeClr val="bg1">
                    <a:lumMod val="10000"/>
                    <a:lumOff val="90000"/>
                  </a:schemeClr>
                </a:solidFill>
              </a:rPr>
              <a:t> </a:t>
            </a:r>
            <a:r>
              <a:rPr lang="en-US" sz="2000" dirty="0" err="1">
                <a:solidFill>
                  <a:schemeClr val="bg1">
                    <a:lumMod val="10000"/>
                    <a:lumOff val="90000"/>
                  </a:schemeClr>
                </a:solidFill>
              </a:rPr>
              <a:t>tích</a:t>
            </a:r>
            <a:r>
              <a:rPr lang="en-US" sz="2000" dirty="0">
                <a:solidFill>
                  <a:schemeClr val="bg1">
                    <a:lumMod val="10000"/>
                    <a:lumOff val="90000"/>
                  </a:schemeClr>
                </a:solidFill>
              </a:rPr>
              <a:t> </a:t>
            </a:r>
            <a:r>
              <a:rPr lang="en-US" sz="2000" dirty="0" err="1">
                <a:solidFill>
                  <a:schemeClr val="bg1">
                    <a:lumMod val="10000"/>
                    <a:lumOff val="90000"/>
                  </a:schemeClr>
                </a:solidFill>
              </a:rPr>
              <a:t>khách</a:t>
            </a:r>
            <a:r>
              <a:rPr lang="en-US" sz="2000" dirty="0">
                <a:solidFill>
                  <a:schemeClr val="bg1">
                    <a:lumMod val="10000"/>
                    <a:lumOff val="90000"/>
                  </a:schemeClr>
                </a:solidFill>
              </a:rPr>
              <a:t> </a:t>
            </a:r>
            <a:r>
              <a:rPr lang="en-US" sz="2000" dirty="0" err="1">
                <a:solidFill>
                  <a:schemeClr val="bg1">
                    <a:lumMod val="10000"/>
                    <a:lumOff val="90000"/>
                  </a:schemeClr>
                </a:solidFill>
              </a:rPr>
              <a:t>hàng</a:t>
            </a:r>
            <a:endParaRPr lang="en-US" sz="2000" dirty="0">
              <a:solidFill>
                <a:schemeClr val="bg1">
                  <a:lumMod val="10000"/>
                  <a:lumOff val="90000"/>
                </a:schemeClr>
              </a:solidFill>
            </a:endParaRPr>
          </a:p>
        </p:txBody>
      </p:sp>
      <p:sp>
        <p:nvSpPr>
          <p:cNvPr id="6" name="TextBox 5">
            <a:extLst>
              <a:ext uri="{FF2B5EF4-FFF2-40B4-BE49-F238E27FC236}">
                <a16:creationId xmlns:a16="http://schemas.microsoft.com/office/drawing/2014/main" id="{689D3E0F-0E23-BD9C-CE5B-9A068AE74B03}"/>
              </a:ext>
            </a:extLst>
          </p:cNvPr>
          <p:cNvSpPr txBox="1"/>
          <p:nvPr/>
        </p:nvSpPr>
        <p:spPr>
          <a:xfrm>
            <a:off x="5241013" y="3609378"/>
            <a:ext cx="6096000"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2000" dirty="0">
                <a:solidFill>
                  <a:schemeClr val="bg1">
                    <a:lumMod val="10000"/>
                    <a:lumOff val="90000"/>
                  </a:schemeClr>
                </a:solidFill>
              </a:rPr>
              <a:t>3. </a:t>
            </a:r>
            <a:r>
              <a:rPr lang="en-US" sz="2000" dirty="0" err="1">
                <a:solidFill>
                  <a:schemeClr val="bg1">
                    <a:lumMod val="10000"/>
                    <a:lumOff val="90000"/>
                  </a:schemeClr>
                </a:solidFill>
              </a:rPr>
              <a:t>Phân</a:t>
            </a:r>
            <a:r>
              <a:rPr lang="en-US" sz="2000" dirty="0">
                <a:solidFill>
                  <a:schemeClr val="bg1">
                    <a:lumMod val="10000"/>
                    <a:lumOff val="90000"/>
                  </a:schemeClr>
                </a:solidFill>
              </a:rPr>
              <a:t> </a:t>
            </a:r>
            <a:r>
              <a:rPr lang="en-US" sz="2000" dirty="0" err="1">
                <a:solidFill>
                  <a:schemeClr val="bg1">
                    <a:lumMod val="10000"/>
                    <a:lumOff val="90000"/>
                  </a:schemeClr>
                </a:solidFill>
              </a:rPr>
              <a:t>tích</a:t>
            </a:r>
            <a:r>
              <a:rPr lang="en-US" sz="2000" dirty="0">
                <a:solidFill>
                  <a:schemeClr val="bg1">
                    <a:lumMod val="10000"/>
                    <a:lumOff val="90000"/>
                  </a:schemeClr>
                </a:solidFill>
              </a:rPr>
              <a:t> </a:t>
            </a:r>
            <a:r>
              <a:rPr lang="en-US" sz="2000" dirty="0" err="1">
                <a:solidFill>
                  <a:schemeClr val="bg1">
                    <a:lumMod val="10000"/>
                    <a:lumOff val="90000"/>
                  </a:schemeClr>
                </a:solidFill>
              </a:rPr>
              <a:t>sản</a:t>
            </a:r>
            <a:r>
              <a:rPr lang="en-US" sz="2000" dirty="0">
                <a:solidFill>
                  <a:schemeClr val="bg1">
                    <a:lumMod val="10000"/>
                    <a:lumOff val="90000"/>
                  </a:schemeClr>
                </a:solidFill>
              </a:rPr>
              <a:t> </a:t>
            </a:r>
            <a:r>
              <a:rPr lang="en-US" sz="2000" dirty="0" err="1">
                <a:solidFill>
                  <a:schemeClr val="bg1">
                    <a:lumMod val="10000"/>
                    <a:lumOff val="90000"/>
                  </a:schemeClr>
                </a:solidFill>
              </a:rPr>
              <a:t>phẩm</a:t>
            </a:r>
            <a:endParaRPr lang="en-US" sz="2000" dirty="0">
              <a:solidFill>
                <a:schemeClr val="bg1">
                  <a:lumMod val="10000"/>
                  <a:lumOff val="90000"/>
                </a:schemeClr>
              </a:solidFill>
            </a:endParaRPr>
          </a:p>
        </p:txBody>
      </p:sp>
      <p:sp>
        <p:nvSpPr>
          <p:cNvPr id="7" name="TextBox 6">
            <a:extLst>
              <a:ext uri="{FF2B5EF4-FFF2-40B4-BE49-F238E27FC236}">
                <a16:creationId xmlns:a16="http://schemas.microsoft.com/office/drawing/2014/main" id="{CC4A13A6-0D3C-1985-4B61-8A7ED693269F}"/>
              </a:ext>
            </a:extLst>
          </p:cNvPr>
          <p:cNvSpPr txBox="1"/>
          <p:nvPr/>
        </p:nvSpPr>
        <p:spPr>
          <a:xfrm>
            <a:off x="5241013" y="4529436"/>
            <a:ext cx="6096000"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2000" dirty="0">
                <a:solidFill>
                  <a:schemeClr val="bg1">
                    <a:lumMod val="10000"/>
                    <a:lumOff val="90000"/>
                  </a:schemeClr>
                </a:solidFill>
              </a:rPr>
              <a:t>4. </a:t>
            </a:r>
            <a:r>
              <a:rPr lang="en-US" sz="2000" dirty="0" err="1">
                <a:solidFill>
                  <a:schemeClr val="bg1">
                    <a:lumMod val="10000"/>
                    <a:lumOff val="90000"/>
                  </a:schemeClr>
                </a:solidFill>
              </a:rPr>
              <a:t>Phân</a:t>
            </a:r>
            <a:r>
              <a:rPr lang="en-US" sz="2000" dirty="0">
                <a:solidFill>
                  <a:schemeClr val="bg1">
                    <a:lumMod val="10000"/>
                    <a:lumOff val="90000"/>
                  </a:schemeClr>
                </a:solidFill>
              </a:rPr>
              <a:t> </a:t>
            </a:r>
            <a:r>
              <a:rPr lang="en-US" sz="2000" dirty="0" err="1">
                <a:solidFill>
                  <a:schemeClr val="bg1">
                    <a:lumMod val="10000"/>
                    <a:lumOff val="90000"/>
                  </a:schemeClr>
                </a:solidFill>
              </a:rPr>
              <a:t>tích</a:t>
            </a:r>
            <a:r>
              <a:rPr lang="en-US" sz="2000" dirty="0">
                <a:solidFill>
                  <a:schemeClr val="bg1">
                    <a:lumMod val="10000"/>
                    <a:lumOff val="90000"/>
                  </a:schemeClr>
                </a:solidFill>
              </a:rPr>
              <a:t> </a:t>
            </a:r>
            <a:r>
              <a:rPr lang="en-US" sz="2000" dirty="0" err="1">
                <a:solidFill>
                  <a:schemeClr val="bg1">
                    <a:lumMod val="10000"/>
                    <a:lumOff val="90000"/>
                  </a:schemeClr>
                </a:solidFill>
              </a:rPr>
              <a:t>tồn</a:t>
            </a:r>
            <a:r>
              <a:rPr lang="en-US" sz="2000" dirty="0">
                <a:solidFill>
                  <a:schemeClr val="bg1">
                    <a:lumMod val="10000"/>
                    <a:lumOff val="90000"/>
                  </a:schemeClr>
                </a:solidFill>
              </a:rPr>
              <a:t> </a:t>
            </a:r>
            <a:r>
              <a:rPr lang="en-US" sz="2000" dirty="0" err="1">
                <a:solidFill>
                  <a:schemeClr val="bg1">
                    <a:lumMod val="10000"/>
                    <a:lumOff val="90000"/>
                  </a:schemeClr>
                </a:solidFill>
              </a:rPr>
              <a:t>kho</a:t>
            </a:r>
            <a:endParaRPr lang="en-US" sz="2000" dirty="0">
              <a:solidFill>
                <a:schemeClr val="bg1">
                  <a:lumMod val="10000"/>
                  <a:lumOff val="90000"/>
                </a:schemeClr>
              </a:solidFill>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548267E4-E274-61CA-2D67-F46439E0936D}"/>
            </a:ext>
          </a:extLst>
        </p:cNvPr>
        <p:cNvGrpSpPr/>
        <p:nvPr/>
      </p:nvGrpSpPr>
      <p:grpSpPr>
        <a:xfrm>
          <a:off x="0" y="0"/>
          <a:ext cx="0" cy="0"/>
          <a:chOff x="0" y="0"/>
          <a:chExt cx="0" cy="0"/>
        </a:xfrm>
      </p:grpSpPr>
      <p:sp>
        <p:nvSpPr>
          <p:cNvPr id="22" name="Rectangle: Rounded Corners 9">
            <a:extLst>
              <a:ext uri="{FF2B5EF4-FFF2-40B4-BE49-F238E27FC236}">
                <a16:creationId xmlns:a16="http://schemas.microsoft.com/office/drawing/2014/main" id="{FE1327B3-E71D-95B4-3898-F32DC07834F4}"/>
              </a:ext>
            </a:extLst>
          </p:cNvPr>
          <p:cNvSpPr/>
          <p:nvPr/>
        </p:nvSpPr>
        <p:spPr>
          <a:xfrm>
            <a:off x="684034" y="3853951"/>
            <a:ext cx="10394918" cy="2221709"/>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a:p>
        </p:txBody>
      </p:sp>
      <p:sp>
        <p:nvSpPr>
          <p:cNvPr id="21" name="Rectangle: Rounded Corners 9">
            <a:extLst>
              <a:ext uri="{FF2B5EF4-FFF2-40B4-BE49-F238E27FC236}">
                <a16:creationId xmlns:a16="http://schemas.microsoft.com/office/drawing/2014/main" id="{5A3EF535-DD3E-7685-8628-58FDBE519EE2}"/>
              </a:ext>
            </a:extLst>
          </p:cNvPr>
          <p:cNvSpPr/>
          <p:nvPr/>
        </p:nvSpPr>
        <p:spPr>
          <a:xfrm>
            <a:off x="684034" y="905975"/>
            <a:ext cx="5108964" cy="2739482"/>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a:p>
        </p:txBody>
      </p:sp>
      <p:pic>
        <p:nvPicPr>
          <p:cNvPr id="2" name="Picture 1">
            <a:extLst>
              <a:ext uri="{FF2B5EF4-FFF2-40B4-BE49-F238E27FC236}">
                <a16:creationId xmlns:a16="http://schemas.microsoft.com/office/drawing/2014/main" id="{D6140F74-CD21-E40F-3501-2371634A4FDA}"/>
              </a:ext>
            </a:extLst>
          </p:cNvPr>
          <p:cNvPicPr>
            <a:picLocks noChangeAspect="1"/>
          </p:cNvPicPr>
          <p:nvPr/>
        </p:nvPicPr>
        <p:blipFill>
          <a:blip r:embed="rId2"/>
          <a:srcRect l="3230" t="3474" r="2877" b="4829"/>
          <a:stretch>
            <a:fillRect/>
          </a:stretch>
        </p:blipFill>
        <p:spPr>
          <a:xfrm>
            <a:off x="812800" y="1003538"/>
            <a:ext cx="4589389" cy="1609454"/>
          </a:xfrm>
          <a:prstGeom prst="rect">
            <a:avLst/>
          </a:prstGeom>
        </p:spPr>
      </p:pic>
      <p:sp>
        <p:nvSpPr>
          <p:cNvPr id="31" name="Slide Number Placeholder 5">
            <a:extLst>
              <a:ext uri="{FF2B5EF4-FFF2-40B4-BE49-F238E27FC236}">
                <a16:creationId xmlns:a16="http://schemas.microsoft.com/office/drawing/2014/main" id="{7FD187FF-1A15-8910-5CCC-1FC0A5D8950A}"/>
              </a:ext>
            </a:extLst>
          </p:cNvPr>
          <p:cNvSpPr txBox="1">
            <a:spLocks noGrp="1"/>
          </p:cNvSpPr>
          <p:nvPr>
            <p:ph type="sldNum" sz="quarter" idx="2"/>
          </p:nvPr>
        </p:nvSpPr>
        <p:spPr>
          <a:xfrm>
            <a:off x="11450023" y="5997575"/>
            <a:ext cx="330161" cy="57404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58" name="TextBox 43">
            <a:extLst>
              <a:ext uri="{FF2B5EF4-FFF2-40B4-BE49-F238E27FC236}">
                <a16:creationId xmlns:a16="http://schemas.microsoft.com/office/drawing/2014/main" id="{53686976-F81E-9436-329F-679341D91F49}"/>
              </a:ext>
            </a:extLst>
          </p:cNvPr>
          <p:cNvSpPr txBox="1"/>
          <p:nvPr/>
        </p:nvSpPr>
        <p:spPr>
          <a:xfrm>
            <a:off x="7314039" y="816641"/>
            <a:ext cx="2793674" cy="30777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sz="1400" b="1">
                <a:solidFill>
                  <a:srgbClr val="404040"/>
                </a:solidFill>
                <a:latin typeface="+mj-lt"/>
                <a:ea typeface="+mj-ea"/>
                <a:cs typeface="+mj-cs"/>
                <a:sym typeface="Helvetica"/>
              </a:defRPr>
            </a:lvl1pPr>
          </a:lstStyle>
          <a:p>
            <a:endParaRPr dirty="0"/>
          </a:p>
        </p:txBody>
      </p:sp>
      <p:sp>
        <p:nvSpPr>
          <p:cNvPr id="59" name="TextBox 44">
            <a:extLst>
              <a:ext uri="{FF2B5EF4-FFF2-40B4-BE49-F238E27FC236}">
                <a16:creationId xmlns:a16="http://schemas.microsoft.com/office/drawing/2014/main" id="{2FD44C29-54C4-8EA8-9725-98AD482CACD9}"/>
              </a:ext>
            </a:extLst>
          </p:cNvPr>
          <p:cNvSpPr txBox="1"/>
          <p:nvPr/>
        </p:nvSpPr>
        <p:spPr>
          <a:xfrm>
            <a:off x="812800" y="2658393"/>
            <a:ext cx="4749745" cy="9870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nSpc>
                <a:spcPct val="150000"/>
              </a:lnSpc>
              <a:defRPr sz="1200">
                <a:solidFill>
                  <a:srgbClr val="404040"/>
                </a:solidFill>
              </a:defRPr>
            </a:lvl1pPr>
          </a:lstStyle>
          <a:p>
            <a:r>
              <a:rPr lang="vi-VN" dirty="0"/>
              <a:t>Nhìn chung doanh số năm 2023 không có biến động nhiều, giữ mức </a:t>
            </a:r>
            <a:r>
              <a:rPr lang="vi-VN" sz="1400" b="1" dirty="0"/>
              <a:t>ổn định</a:t>
            </a:r>
            <a:r>
              <a:rPr lang="vi-VN" dirty="0"/>
              <a:t>. Ngoài ra biểu đồ đường cũng thể hiện các chỉ số như tổng số đơn, số đơn hàng thành công, đơn huỷ… theo từng tháng</a:t>
            </a:r>
          </a:p>
        </p:txBody>
      </p:sp>
      <p:pic>
        <p:nvPicPr>
          <p:cNvPr id="4" name="Picture 3">
            <a:extLst>
              <a:ext uri="{FF2B5EF4-FFF2-40B4-BE49-F238E27FC236}">
                <a16:creationId xmlns:a16="http://schemas.microsoft.com/office/drawing/2014/main" id="{F5DAF548-AD93-4B2C-4510-4E57700BDD3A}"/>
              </a:ext>
            </a:extLst>
          </p:cNvPr>
          <p:cNvPicPr>
            <a:picLocks noChangeAspect="1"/>
          </p:cNvPicPr>
          <p:nvPr/>
        </p:nvPicPr>
        <p:blipFill>
          <a:blip r:embed="rId3"/>
          <a:stretch>
            <a:fillRect/>
          </a:stretch>
        </p:blipFill>
        <p:spPr>
          <a:xfrm>
            <a:off x="814874" y="3937202"/>
            <a:ext cx="2945609" cy="1917260"/>
          </a:xfrm>
          <a:prstGeom prst="rect">
            <a:avLst/>
          </a:prstGeom>
        </p:spPr>
      </p:pic>
      <p:grpSp>
        <p:nvGrpSpPr>
          <p:cNvPr id="6" name="Group 5">
            <a:extLst>
              <a:ext uri="{FF2B5EF4-FFF2-40B4-BE49-F238E27FC236}">
                <a16:creationId xmlns:a16="http://schemas.microsoft.com/office/drawing/2014/main" id="{E6BBFCBF-D121-3A33-398E-82D8C8D572C0}"/>
              </a:ext>
            </a:extLst>
          </p:cNvPr>
          <p:cNvGrpSpPr/>
          <p:nvPr/>
        </p:nvGrpSpPr>
        <p:grpSpPr>
          <a:xfrm>
            <a:off x="684034" y="323479"/>
            <a:ext cx="2229948" cy="463140"/>
            <a:chOff x="5241013" y="1573798"/>
            <a:chExt cx="2295272" cy="463140"/>
          </a:xfrm>
        </p:grpSpPr>
        <p:sp>
          <p:nvSpPr>
            <p:cNvPr id="7" name="Rectangle: Rounded Corners 1">
              <a:extLst>
                <a:ext uri="{FF2B5EF4-FFF2-40B4-BE49-F238E27FC236}">
                  <a16:creationId xmlns:a16="http://schemas.microsoft.com/office/drawing/2014/main" id="{93A5426A-D5C4-3206-190B-F4BEE2DE7DBA}"/>
                </a:ext>
              </a:extLst>
            </p:cNvPr>
            <p:cNvSpPr/>
            <p:nvPr/>
          </p:nvSpPr>
          <p:spPr>
            <a:xfrm rot="16200000">
              <a:off x="6157080" y="657733"/>
              <a:ext cx="463140" cy="2295270"/>
            </a:xfrm>
            <a:prstGeom prst="rect">
              <a:avLst/>
            </a:prstGeom>
            <a:solidFill>
              <a:schemeClr val="accent1">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8" name="TextBox 7">
              <a:extLst>
                <a:ext uri="{FF2B5EF4-FFF2-40B4-BE49-F238E27FC236}">
                  <a16:creationId xmlns:a16="http://schemas.microsoft.com/office/drawing/2014/main" id="{991F413A-CBD6-3240-7C0E-53C0F4E1975A}"/>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dirty="0">
                  <a:solidFill>
                    <a:schemeClr val="bg1">
                      <a:lumMod val="10000"/>
                      <a:lumOff val="90000"/>
                    </a:schemeClr>
                  </a:solidFill>
                </a:rPr>
                <a:t>1. </a:t>
              </a:r>
              <a:r>
                <a:rPr lang="en-US" sz="1000" dirty="0" err="1">
                  <a:solidFill>
                    <a:schemeClr val="bg1">
                      <a:lumMod val="10000"/>
                      <a:lumOff val="90000"/>
                    </a:schemeClr>
                  </a:solidFill>
                </a:rPr>
                <a:t>Phân</a:t>
              </a:r>
              <a:r>
                <a:rPr lang="en-US" sz="1000" dirty="0">
                  <a:solidFill>
                    <a:schemeClr val="bg1">
                      <a:lumMod val="10000"/>
                      <a:lumOff val="90000"/>
                    </a:schemeClr>
                  </a:solidFill>
                </a:rPr>
                <a:t> </a:t>
              </a:r>
              <a:r>
                <a:rPr lang="en-US" sz="1000" dirty="0" err="1">
                  <a:solidFill>
                    <a:schemeClr val="bg1">
                      <a:lumMod val="10000"/>
                      <a:lumOff val="90000"/>
                    </a:schemeClr>
                  </a:solidFill>
                </a:rPr>
                <a:t>tích</a:t>
              </a:r>
              <a:r>
                <a:rPr lang="en-US" sz="1000" dirty="0">
                  <a:solidFill>
                    <a:schemeClr val="bg1">
                      <a:lumMod val="10000"/>
                      <a:lumOff val="90000"/>
                    </a:schemeClr>
                  </a:solidFill>
                </a:rPr>
                <a:t> </a:t>
              </a:r>
              <a:r>
                <a:rPr lang="en-US" sz="1000" dirty="0" err="1">
                  <a:solidFill>
                    <a:schemeClr val="bg1">
                      <a:lumMod val="10000"/>
                      <a:lumOff val="90000"/>
                    </a:schemeClr>
                  </a:solidFill>
                </a:rPr>
                <a:t>tổng</a:t>
              </a:r>
              <a:r>
                <a:rPr lang="en-US" sz="1000" dirty="0">
                  <a:solidFill>
                    <a:schemeClr val="bg1">
                      <a:lumMod val="10000"/>
                      <a:lumOff val="90000"/>
                    </a:schemeClr>
                  </a:solidFill>
                </a:rPr>
                <a:t> </a:t>
              </a:r>
              <a:r>
                <a:rPr lang="en-US" sz="1000" dirty="0" err="1">
                  <a:solidFill>
                    <a:schemeClr val="bg1">
                      <a:lumMod val="10000"/>
                      <a:lumOff val="90000"/>
                    </a:schemeClr>
                  </a:solidFill>
                </a:rPr>
                <a:t>quan</a:t>
              </a:r>
              <a:r>
                <a:rPr lang="en-US" sz="1000" dirty="0">
                  <a:solidFill>
                    <a:schemeClr val="bg1">
                      <a:lumMod val="10000"/>
                      <a:lumOff val="90000"/>
                    </a:schemeClr>
                  </a:solidFill>
                </a:rPr>
                <a:t> </a:t>
              </a:r>
              <a:r>
                <a:rPr lang="en-US" sz="1000" dirty="0" err="1">
                  <a:solidFill>
                    <a:schemeClr val="bg1">
                      <a:lumMod val="10000"/>
                      <a:lumOff val="90000"/>
                    </a:schemeClr>
                  </a:solidFill>
                </a:rPr>
                <a:t>thị</a:t>
              </a:r>
              <a:r>
                <a:rPr lang="en-US" sz="1000" dirty="0">
                  <a:solidFill>
                    <a:schemeClr val="bg1">
                      <a:lumMod val="10000"/>
                      <a:lumOff val="90000"/>
                    </a:schemeClr>
                  </a:solidFill>
                </a:rPr>
                <a:t> </a:t>
              </a:r>
              <a:r>
                <a:rPr lang="en-US" sz="1000" dirty="0" err="1">
                  <a:solidFill>
                    <a:schemeClr val="bg1">
                      <a:lumMod val="10000"/>
                      <a:lumOff val="90000"/>
                    </a:schemeClr>
                  </a:solidFill>
                </a:rPr>
                <a:t>trường</a:t>
              </a:r>
              <a:endParaRPr lang="en-US" sz="1000" dirty="0">
                <a:solidFill>
                  <a:schemeClr val="bg1">
                    <a:lumMod val="10000"/>
                    <a:lumOff val="90000"/>
                  </a:schemeClr>
                </a:solidFill>
              </a:endParaRPr>
            </a:p>
          </p:txBody>
        </p:sp>
      </p:grpSp>
      <p:grpSp>
        <p:nvGrpSpPr>
          <p:cNvPr id="11" name="Group 10">
            <a:extLst>
              <a:ext uri="{FF2B5EF4-FFF2-40B4-BE49-F238E27FC236}">
                <a16:creationId xmlns:a16="http://schemas.microsoft.com/office/drawing/2014/main" id="{9605BE9F-45B8-B062-1253-7F40B7889DC9}"/>
              </a:ext>
            </a:extLst>
          </p:cNvPr>
          <p:cNvGrpSpPr/>
          <p:nvPr/>
        </p:nvGrpSpPr>
        <p:grpSpPr>
          <a:xfrm>
            <a:off x="3441856" y="331710"/>
            <a:ext cx="2229948" cy="463140"/>
            <a:chOff x="5241013" y="1573798"/>
            <a:chExt cx="2295272" cy="463140"/>
          </a:xfrm>
        </p:grpSpPr>
        <p:sp>
          <p:nvSpPr>
            <p:cNvPr id="12" name="Rectangle: Rounded Corners 1">
              <a:extLst>
                <a:ext uri="{FF2B5EF4-FFF2-40B4-BE49-F238E27FC236}">
                  <a16:creationId xmlns:a16="http://schemas.microsoft.com/office/drawing/2014/main" id="{78572827-84D7-2EA8-3BA8-B68BBC1B1A6D}"/>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highlight>
                  <a:srgbClr val="808080"/>
                </a:highlight>
              </a:endParaRPr>
            </a:p>
          </p:txBody>
        </p:sp>
        <p:sp>
          <p:nvSpPr>
            <p:cNvPr id="13" name="TextBox 12">
              <a:extLst>
                <a:ext uri="{FF2B5EF4-FFF2-40B4-BE49-F238E27FC236}">
                  <a16:creationId xmlns:a16="http://schemas.microsoft.com/office/drawing/2014/main" id="{59FFF3CD-2E40-AC0A-505A-ABA07EB31120}"/>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2.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khách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hàng</a:t>
              </a:r>
              <a:endParaRPr lang="en-US" sz="1000" b="1" dirty="0">
                <a:solidFill>
                  <a:schemeClr val="bg1">
                    <a:lumMod val="10000"/>
                    <a:lumOff val="90000"/>
                  </a:schemeClr>
                </a:solidFill>
                <a:sym typeface="Helvetica"/>
              </a:endParaRPr>
            </a:p>
          </p:txBody>
        </p:sp>
      </p:grpSp>
      <p:grpSp>
        <p:nvGrpSpPr>
          <p:cNvPr id="14" name="Group 13">
            <a:extLst>
              <a:ext uri="{FF2B5EF4-FFF2-40B4-BE49-F238E27FC236}">
                <a16:creationId xmlns:a16="http://schemas.microsoft.com/office/drawing/2014/main" id="{30529099-073B-0FF7-FEBD-1C7462FCCE0D}"/>
              </a:ext>
            </a:extLst>
          </p:cNvPr>
          <p:cNvGrpSpPr/>
          <p:nvPr/>
        </p:nvGrpSpPr>
        <p:grpSpPr>
          <a:xfrm>
            <a:off x="6199676" y="331710"/>
            <a:ext cx="2229948" cy="463140"/>
            <a:chOff x="5241013" y="1573798"/>
            <a:chExt cx="2295272" cy="463140"/>
          </a:xfrm>
        </p:grpSpPr>
        <p:sp>
          <p:nvSpPr>
            <p:cNvPr id="15" name="Rectangle: Rounded Corners 1">
              <a:extLst>
                <a:ext uri="{FF2B5EF4-FFF2-40B4-BE49-F238E27FC236}">
                  <a16:creationId xmlns:a16="http://schemas.microsoft.com/office/drawing/2014/main" id="{BD49E029-9C00-9AC9-5D3B-19850CA24CA8}"/>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6" name="TextBox 15">
              <a:extLst>
                <a:ext uri="{FF2B5EF4-FFF2-40B4-BE49-F238E27FC236}">
                  <a16:creationId xmlns:a16="http://schemas.microsoft.com/office/drawing/2014/main" id="{9585BD04-9049-62D0-A6D7-797D7C1FA113}"/>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3.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sản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phẩm</a:t>
              </a:r>
              <a:endParaRPr lang="en-US" sz="1000" b="1" dirty="0">
                <a:solidFill>
                  <a:schemeClr val="bg1">
                    <a:lumMod val="10000"/>
                    <a:lumOff val="90000"/>
                  </a:schemeClr>
                </a:solidFill>
                <a:sym typeface="Helvetica"/>
              </a:endParaRPr>
            </a:p>
          </p:txBody>
        </p:sp>
      </p:grpSp>
      <p:grpSp>
        <p:nvGrpSpPr>
          <p:cNvPr id="17" name="Group 16">
            <a:extLst>
              <a:ext uri="{FF2B5EF4-FFF2-40B4-BE49-F238E27FC236}">
                <a16:creationId xmlns:a16="http://schemas.microsoft.com/office/drawing/2014/main" id="{3E5AF09B-46A1-39D7-DED2-4DF91D439CB2}"/>
              </a:ext>
            </a:extLst>
          </p:cNvPr>
          <p:cNvGrpSpPr/>
          <p:nvPr/>
        </p:nvGrpSpPr>
        <p:grpSpPr>
          <a:xfrm>
            <a:off x="8998971" y="331710"/>
            <a:ext cx="2229948" cy="463140"/>
            <a:chOff x="5241013" y="1573798"/>
            <a:chExt cx="2295272" cy="463140"/>
          </a:xfrm>
        </p:grpSpPr>
        <p:sp>
          <p:nvSpPr>
            <p:cNvPr id="18" name="Rectangle: Rounded Corners 1">
              <a:extLst>
                <a:ext uri="{FF2B5EF4-FFF2-40B4-BE49-F238E27FC236}">
                  <a16:creationId xmlns:a16="http://schemas.microsoft.com/office/drawing/2014/main" id="{1CBEC1C2-E50B-25B1-58D3-E96DF53D99BF}"/>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9" name="TextBox 18">
              <a:extLst>
                <a:ext uri="{FF2B5EF4-FFF2-40B4-BE49-F238E27FC236}">
                  <a16:creationId xmlns:a16="http://schemas.microsoft.com/office/drawing/2014/main" id="{1B0D87A2-F6E1-C8A7-67AF-72A61C335EFB}"/>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4.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tồn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kho</a:t>
              </a:r>
              <a:endParaRPr lang="en-US" sz="1000" b="1" dirty="0">
                <a:solidFill>
                  <a:schemeClr val="bg1">
                    <a:lumMod val="10000"/>
                    <a:lumOff val="90000"/>
                  </a:schemeClr>
                </a:solidFill>
                <a:sym typeface="Helvetica"/>
              </a:endParaRPr>
            </a:p>
          </p:txBody>
        </p:sp>
      </p:grpSp>
      <p:sp>
        <p:nvSpPr>
          <p:cNvPr id="23" name="TextBox 44">
            <a:extLst>
              <a:ext uri="{FF2B5EF4-FFF2-40B4-BE49-F238E27FC236}">
                <a16:creationId xmlns:a16="http://schemas.microsoft.com/office/drawing/2014/main" id="{2A55EFBD-A78F-2485-8538-323149BD669F}"/>
              </a:ext>
            </a:extLst>
          </p:cNvPr>
          <p:cNvSpPr txBox="1"/>
          <p:nvPr/>
        </p:nvSpPr>
        <p:spPr>
          <a:xfrm>
            <a:off x="8225025" y="4204415"/>
            <a:ext cx="2623368" cy="117172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nSpc>
                <a:spcPct val="150000"/>
              </a:lnSpc>
              <a:defRPr sz="1200">
                <a:solidFill>
                  <a:srgbClr val="404040"/>
                </a:solidFill>
              </a:defRPr>
            </a:lvl1pPr>
          </a:lstStyle>
          <a:p>
            <a:r>
              <a:rPr lang="vi-VN" dirty="0"/>
              <a:t>Tỷ lệ đơn hàng bị huỷ chiếm 25%, trong đó nguyên nhân đến từ nhiều phía như khách hàng, thất lạc trong quá trình vận chuyển…</a:t>
            </a:r>
          </a:p>
        </p:txBody>
      </p:sp>
      <p:grpSp>
        <p:nvGrpSpPr>
          <p:cNvPr id="40" name="Group 39">
            <a:extLst>
              <a:ext uri="{FF2B5EF4-FFF2-40B4-BE49-F238E27FC236}">
                <a16:creationId xmlns:a16="http://schemas.microsoft.com/office/drawing/2014/main" id="{9B7522B0-19E8-2230-7D1C-AE7DDCFD865C}"/>
              </a:ext>
            </a:extLst>
          </p:cNvPr>
          <p:cNvGrpSpPr/>
          <p:nvPr/>
        </p:nvGrpSpPr>
        <p:grpSpPr>
          <a:xfrm>
            <a:off x="5921764" y="935096"/>
            <a:ext cx="5188177" cy="2739482"/>
            <a:chOff x="684034" y="3756582"/>
            <a:chExt cx="5188177" cy="2650353"/>
          </a:xfrm>
        </p:grpSpPr>
        <p:sp>
          <p:nvSpPr>
            <p:cNvPr id="24" name="Rectangle: Rounded Corners 9">
              <a:extLst>
                <a:ext uri="{FF2B5EF4-FFF2-40B4-BE49-F238E27FC236}">
                  <a16:creationId xmlns:a16="http://schemas.microsoft.com/office/drawing/2014/main" id="{A18CC21F-E517-0E92-7F0B-2090058CA319}"/>
                </a:ext>
              </a:extLst>
            </p:cNvPr>
            <p:cNvSpPr/>
            <p:nvPr/>
          </p:nvSpPr>
          <p:spPr>
            <a:xfrm>
              <a:off x="684034" y="3756582"/>
              <a:ext cx="5157188" cy="2650353"/>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a:p>
          </p:txBody>
        </p:sp>
        <p:sp>
          <p:nvSpPr>
            <p:cNvPr id="29" name="TextBox 44">
              <a:extLst>
                <a:ext uri="{FF2B5EF4-FFF2-40B4-BE49-F238E27FC236}">
                  <a16:creationId xmlns:a16="http://schemas.microsoft.com/office/drawing/2014/main" id="{72F8C2F1-67B1-4D5F-40A2-CD34906B04E9}"/>
                </a:ext>
              </a:extLst>
            </p:cNvPr>
            <p:cNvSpPr txBox="1"/>
            <p:nvPr/>
          </p:nvSpPr>
          <p:spPr>
            <a:xfrm>
              <a:off x="715023" y="5943863"/>
              <a:ext cx="5157188" cy="34073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nSpc>
                  <a:spcPct val="150000"/>
                </a:lnSpc>
                <a:defRPr sz="1200">
                  <a:solidFill>
                    <a:srgbClr val="404040"/>
                  </a:solidFill>
                </a:defRPr>
              </a:lvl1pPr>
            </a:lstStyle>
            <a:p>
              <a:r>
                <a:rPr lang="vi-VN" dirty="0"/>
                <a:t>Merchant chiếm 31% doanh số, nhưng lại chiếm đến gần 45% đơn hàng pending </a:t>
              </a:r>
            </a:p>
          </p:txBody>
        </p:sp>
        <p:grpSp>
          <p:nvGrpSpPr>
            <p:cNvPr id="35" name="Group 34">
              <a:extLst>
                <a:ext uri="{FF2B5EF4-FFF2-40B4-BE49-F238E27FC236}">
                  <a16:creationId xmlns:a16="http://schemas.microsoft.com/office/drawing/2014/main" id="{40FD9E4F-A75F-6E87-45A6-1B98A76E91FE}"/>
                </a:ext>
              </a:extLst>
            </p:cNvPr>
            <p:cNvGrpSpPr/>
            <p:nvPr/>
          </p:nvGrpSpPr>
          <p:grpSpPr>
            <a:xfrm>
              <a:off x="819756" y="3854147"/>
              <a:ext cx="4866516" cy="1859643"/>
              <a:chOff x="5743339" y="3097163"/>
              <a:chExt cx="5242388" cy="1974083"/>
            </a:xfrm>
          </p:grpSpPr>
          <p:pic>
            <p:nvPicPr>
              <p:cNvPr id="28" name="Picture 27">
                <a:extLst>
                  <a:ext uri="{FF2B5EF4-FFF2-40B4-BE49-F238E27FC236}">
                    <a16:creationId xmlns:a16="http://schemas.microsoft.com/office/drawing/2014/main" id="{B21901F5-D039-91AB-711E-822D23F9E6D2}"/>
                  </a:ext>
                </a:extLst>
              </p:cNvPr>
              <p:cNvPicPr>
                <a:picLocks noChangeAspect="1"/>
              </p:cNvPicPr>
              <p:nvPr/>
            </p:nvPicPr>
            <p:blipFill>
              <a:blip r:embed="rId4"/>
              <a:stretch>
                <a:fillRect/>
              </a:stretch>
            </p:blipFill>
            <p:spPr>
              <a:xfrm>
                <a:off x="5743339" y="3261055"/>
                <a:ext cx="2526850" cy="1810191"/>
              </a:xfrm>
              <a:prstGeom prst="rect">
                <a:avLst/>
              </a:prstGeom>
            </p:spPr>
          </p:pic>
          <p:pic>
            <p:nvPicPr>
              <p:cNvPr id="32" name="Picture 31">
                <a:extLst>
                  <a:ext uri="{FF2B5EF4-FFF2-40B4-BE49-F238E27FC236}">
                    <a16:creationId xmlns:a16="http://schemas.microsoft.com/office/drawing/2014/main" id="{9E9B22FC-74D5-6BAB-67EC-3231E0DC8D0C}"/>
                  </a:ext>
                </a:extLst>
              </p:cNvPr>
              <p:cNvPicPr>
                <a:picLocks noChangeAspect="1"/>
              </p:cNvPicPr>
              <p:nvPr/>
            </p:nvPicPr>
            <p:blipFill>
              <a:blip r:embed="rId5"/>
              <a:stretch>
                <a:fillRect/>
              </a:stretch>
            </p:blipFill>
            <p:spPr>
              <a:xfrm>
                <a:off x="8270189" y="3247599"/>
                <a:ext cx="2715538" cy="1753793"/>
              </a:xfrm>
              <a:prstGeom prst="rect">
                <a:avLst/>
              </a:prstGeom>
            </p:spPr>
          </p:pic>
          <p:pic>
            <p:nvPicPr>
              <p:cNvPr id="33" name="Picture 32">
                <a:extLst>
                  <a:ext uri="{FF2B5EF4-FFF2-40B4-BE49-F238E27FC236}">
                    <a16:creationId xmlns:a16="http://schemas.microsoft.com/office/drawing/2014/main" id="{8ED29DD1-0D0A-FC0B-D1CB-C89CD1B3D6CD}"/>
                  </a:ext>
                </a:extLst>
              </p:cNvPr>
              <p:cNvPicPr>
                <a:picLocks noChangeAspect="1"/>
              </p:cNvPicPr>
              <p:nvPr/>
            </p:nvPicPr>
            <p:blipFill>
              <a:blip r:embed="rId6"/>
              <a:stretch>
                <a:fillRect/>
              </a:stretch>
            </p:blipFill>
            <p:spPr>
              <a:xfrm>
                <a:off x="10086182" y="3097163"/>
                <a:ext cx="818096" cy="177847"/>
              </a:xfrm>
              <a:prstGeom prst="rect">
                <a:avLst/>
              </a:prstGeom>
            </p:spPr>
          </p:pic>
        </p:grpSp>
      </p:grpSp>
      <p:pic>
        <p:nvPicPr>
          <p:cNvPr id="42" name="Picture 41">
            <a:extLst>
              <a:ext uri="{FF2B5EF4-FFF2-40B4-BE49-F238E27FC236}">
                <a16:creationId xmlns:a16="http://schemas.microsoft.com/office/drawing/2014/main" id="{15D9C377-04B0-EA3C-DBAF-A8A8B27CB963}"/>
              </a:ext>
            </a:extLst>
          </p:cNvPr>
          <p:cNvPicPr>
            <a:picLocks noChangeAspect="1"/>
          </p:cNvPicPr>
          <p:nvPr/>
        </p:nvPicPr>
        <p:blipFill>
          <a:blip r:embed="rId7"/>
          <a:stretch>
            <a:fillRect/>
          </a:stretch>
        </p:blipFill>
        <p:spPr>
          <a:xfrm>
            <a:off x="3966976" y="3950978"/>
            <a:ext cx="2388852" cy="1919808"/>
          </a:xfrm>
          <a:prstGeom prst="rect">
            <a:avLst/>
          </a:prstGeom>
        </p:spPr>
      </p:pic>
      <p:pic>
        <p:nvPicPr>
          <p:cNvPr id="43" name="Picture 42">
            <a:extLst>
              <a:ext uri="{FF2B5EF4-FFF2-40B4-BE49-F238E27FC236}">
                <a16:creationId xmlns:a16="http://schemas.microsoft.com/office/drawing/2014/main" id="{9F8A3F61-0155-84AA-9C06-EC60221F9EA7}"/>
              </a:ext>
            </a:extLst>
          </p:cNvPr>
          <p:cNvPicPr>
            <a:picLocks noChangeAspect="1"/>
          </p:cNvPicPr>
          <p:nvPr/>
        </p:nvPicPr>
        <p:blipFill>
          <a:blip r:embed="rId8"/>
          <a:stretch>
            <a:fillRect/>
          </a:stretch>
        </p:blipFill>
        <p:spPr>
          <a:xfrm>
            <a:off x="6355828" y="4204416"/>
            <a:ext cx="1346632" cy="1315746"/>
          </a:xfrm>
          <a:prstGeom prst="rect">
            <a:avLst/>
          </a:prstGeom>
        </p:spPr>
      </p:pic>
      <p:sp>
        <p:nvSpPr>
          <p:cNvPr id="3" name="TextBox 2">
            <a:extLst>
              <a:ext uri="{FF2B5EF4-FFF2-40B4-BE49-F238E27FC236}">
                <a16:creationId xmlns:a16="http://schemas.microsoft.com/office/drawing/2014/main" id="{9541593E-4A64-C4D4-82D1-D5FBDC4FDAA9}"/>
              </a:ext>
            </a:extLst>
          </p:cNvPr>
          <p:cNvSpPr txBox="1"/>
          <p:nvPr/>
        </p:nvSpPr>
        <p:spPr>
          <a:xfrm>
            <a:off x="684034" y="6473420"/>
            <a:ext cx="1905000"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VN" sz="800" b="0" i="1" u="none" strike="noStrike" cap="none" spc="0" normalizeH="0" baseline="0" dirty="0">
                <a:ln>
                  <a:noFill/>
                </a:ln>
                <a:solidFill>
                  <a:srgbClr val="000000"/>
                </a:solidFill>
                <a:effectLst/>
                <a:uFillTx/>
                <a:latin typeface="+mn-lt"/>
                <a:ea typeface="+mn-ea"/>
                <a:sym typeface="Onest"/>
                <a:hlinkClick r:id="rId9"/>
              </a:rPr>
              <a:t>| Link Dashboard</a:t>
            </a:r>
            <a:endParaRPr kumimoji="0" lang="en-VN" sz="800" b="0" i="1" u="none" strike="noStrike" cap="none" spc="0" normalizeH="0" baseline="0" dirty="0">
              <a:ln>
                <a:noFill/>
              </a:ln>
              <a:solidFill>
                <a:srgbClr val="000000"/>
              </a:solidFill>
              <a:effectLst/>
              <a:uFillTx/>
              <a:latin typeface="+mn-lt"/>
              <a:ea typeface="+mn-ea"/>
              <a:sym typeface="Onest"/>
            </a:endParaRPr>
          </a:p>
        </p:txBody>
      </p:sp>
    </p:spTree>
    <p:extLst>
      <p:ext uri="{BB962C8B-B14F-4D97-AF65-F5344CB8AC3E}">
        <p14:creationId xmlns:p14="http://schemas.microsoft.com/office/powerpoint/2010/main" val="171474281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1862DF5D-CABF-E919-CA46-EA274958E675}"/>
            </a:ext>
          </a:extLst>
        </p:cNvPr>
        <p:cNvGrpSpPr/>
        <p:nvPr/>
      </p:nvGrpSpPr>
      <p:grpSpPr>
        <a:xfrm>
          <a:off x="0" y="0"/>
          <a:ext cx="0" cy="0"/>
          <a:chOff x="0" y="0"/>
          <a:chExt cx="0" cy="0"/>
        </a:xfrm>
      </p:grpSpPr>
      <p:sp>
        <p:nvSpPr>
          <p:cNvPr id="21" name="Rectangle: Rounded Corners 9">
            <a:extLst>
              <a:ext uri="{FF2B5EF4-FFF2-40B4-BE49-F238E27FC236}">
                <a16:creationId xmlns:a16="http://schemas.microsoft.com/office/drawing/2014/main" id="{27BA5651-C6FE-B997-96C6-43BC26E61B91}"/>
              </a:ext>
            </a:extLst>
          </p:cNvPr>
          <p:cNvSpPr/>
          <p:nvPr/>
        </p:nvSpPr>
        <p:spPr>
          <a:xfrm>
            <a:off x="615140" y="1817616"/>
            <a:ext cx="10544883" cy="3222768"/>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defRPr>
                <a:solidFill>
                  <a:srgbClr val="FFFFFF"/>
                </a:solidFill>
              </a:defRPr>
            </a:pPr>
            <a:r>
              <a:rPr lang="vi-VN" sz="1400" dirty="0">
                <a:solidFill>
                  <a:srgbClr val="623DB6"/>
                </a:solidFill>
              </a:rPr>
              <a:t>1. Ưu tiên giải quyết tỷ lệ đơn hàng bị hủy (25.94%):</a:t>
            </a:r>
          </a:p>
          <a:p>
            <a:pPr>
              <a:defRPr>
                <a:solidFill>
                  <a:srgbClr val="FFFFFF"/>
                </a:solidFill>
              </a:defRPr>
            </a:pPr>
            <a:r>
              <a:rPr lang="vi-VN" sz="1400" dirty="0">
                <a:solidFill>
                  <a:srgbClr val="623DB6"/>
                </a:solidFill>
              </a:rPr>
              <a:t>Điều tra nguyên nhân: Tìm hiểu lý do khách hàng hủy đơn (hết hàng, thời gian giao hàng lâu, tìm được lựa chọn tốt hơn, vấn đề thanh toán, thay đổi ý định,...). Thực hiện khảo sát khách hàng hủy đơn.</a:t>
            </a:r>
          </a:p>
          <a:p>
            <a:pPr>
              <a:defRPr>
                <a:solidFill>
                  <a:srgbClr val="FFFFFF"/>
                </a:solidFill>
              </a:defRPr>
            </a:pPr>
            <a:endParaRPr lang="vi-VN" sz="1400" dirty="0">
              <a:solidFill>
                <a:srgbClr val="623DB6"/>
              </a:solidFill>
            </a:endParaRPr>
          </a:p>
          <a:p>
            <a:pPr>
              <a:defRPr>
                <a:solidFill>
                  <a:srgbClr val="FFFFFF"/>
                </a:solidFill>
              </a:defRPr>
            </a:pPr>
            <a:r>
              <a:rPr lang="vi-VN" sz="1400" dirty="0">
                <a:solidFill>
                  <a:srgbClr val="623DB6"/>
                </a:solidFill>
              </a:rPr>
              <a:t>2. Tối ưu quy trình: Cải thiện quản lý tồn kho, thông tin sản phẩm rõ ràng, quy trình thanh toán, ước tính thời gian giao hàng chính xác.</a:t>
            </a:r>
          </a:p>
          <a:p>
            <a:pPr>
              <a:defRPr>
                <a:solidFill>
                  <a:srgbClr val="FFFFFF"/>
                </a:solidFill>
              </a:defRPr>
            </a:pPr>
            <a:endParaRPr lang="vi-VN" sz="1400" dirty="0">
              <a:solidFill>
                <a:srgbClr val="623DB6"/>
              </a:solidFill>
            </a:endParaRPr>
          </a:p>
          <a:p>
            <a:pPr>
              <a:defRPr>
                <a:solidFill>
                  <a:srgbClr val="FFFFFF"/>
                </a:solidFill>
              </a:defRPr>
            </a:pPr>
            <a:r>
              <a:rPr lang="vi-VN" sz="1400" dirty="0">
                <a:solidFill>
                  <a:srgbClr val="623DB6"/>
                </a:solidFill>
              </a:rPr>
              <a:t>2. Cải thiện Giá trị Đơn hàng Trung bình (AOV): Ngưỡng Freeship/Ưu đãi: Đặt ngưỡng freeship hoặc ưu đãi khi đạt giá trị đơn hàng nhất định để khuyến khích khách mua thêm.</a:t>
            </a:r>
          </a:p>
          <a:p>
            <a:pPr>
              <a:defRPr>
                <a:solidFill>
                  <a:srgbClr val="FFFFFF"/>
                </a:solidFill>
              </a:defRPr>
            </a:pPr>
            <a:endParaRPr lang="vi-VN" sz="1400" dirty="0">
              <a:solidFill>
                <a:srgbClr val="623DB6"/>
              </a:solidFill>
            </a:endParaRPr>
          </a:p>
          <a:p>
            <a:pPr>
              <a:defRPr>
                <a:solidFill>
                  <a:srgbClr val="FFFFFF"/>
                </a:solidFill>
              </a:defRPr>
            </a:pPr>
            <a:r>
              <a:rPr lang="vi-VN" sz="1400" dirty="0">
                <a:solidFill>
                  <a:srgbClr val="623DB6"/>
                </a:solidFill>
              </a:rPr>
              <a:t>3. Đánh giá hiệu quả kênh Fulfilment: So sánh chi phí, tốc độ giao hàng, tỷ lệ hủy đơn giữa Merchant tự xử lý và Lazada để đưa ra quyết định tối ưu. Nếu Merchant tự xử lý có tỷ lệ hủy cao, cần xem xét lại quy trình.</a:t>
            </a:r>
          </a:p>
          <a:p>
            <a:pPr>
              <a:defRPr>
                <a:solidFill>
                  <a:srgbClr val="FFFFFF"/>
                </a:solidFill>
              </a:defRPr>
            </a:pPr>
            <a:endParaRPr lang="vi-VN" sz="1400" dirty="0">
              <a:solidFill>
                <a:srgbClr val="623DB6"/>
              </a:solidFill>
            </a:endParaRPr>
          </a:p>
          <a:p>
            <a:pPr>
              <a:defRPr>
                <a:solidFill>
                  <a:srgbClr val="FFFFFF"/>
                </a:solidFill>
              </a:defRPr>
            </a:pPr>
            <a:r>
              <a:rPr lang="vi-VN" sz="1400" dirty="0">
                <a:solidFill>
                  <a:srgbClr val="623DB6"/>
                </a:solidFill>
              </a:rPr>
              <a:t>4. Tiềm năng B2B: Mặc dù tỷ trọng nhỏ, cần đánh giá xem có cơ hội phát triển mảng B2B không, nếu phù hợp với mô hình kinh doanh.</a:t>
            </a:r>
          </a:p>
          <a:p>
            <a:pPr>
              <a:defRPr>
                <a:solidFill>
                  <a:srgbClr val="FFFFFF"/>
                </a:solidFill>
              </a:defRPr>
            </a:pPr>
            <a:endParaRPr sz="1400" dirty="0">
              <a:solidFill>
                <a:srgbClr val="623DB6"/>
              </a:solidFill>
            </a:endParaRPr>
          </a:p>
        </p:txBody>
      </p:sp>
      <p:sp>
        <p:nvSpPr>
          <p:cNvPr id="31" name="Slide Number Placeholder 5">
            <a:extLst>
              <a:ext uri="{FF2B5EF4-FFF2-40B4-BE49-F238E27FC236}">
                <a16:creationId xmlns:a16="http://schemas.microsoft.com/office/drawing/2014/main" id="{D24D892D-22E1-83FD-BE81-D502C54AC6AE}"/>
              </a:ext>
            </a:extLst>
          </p:cNvPr>
          <p:cNvSpPr txBox="1">
            <a:spLocks noGrp="1"/>
          </p:cNvSpPr>
          <p:nvPr>
            <p:ph type="sldNum" sz="quarter" idx="2"/>
          </p:nvPr>
        </p:nvSpPr>
        <p:spPr>
          <a:xfrm>
            <a:off x="11450023" y="5997575"/>
            <a:ext cx="330161" cy="5740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a:p>
        </p:txBody>
      </p:sp>
      <p:sp>
        <p:nvSpPr>
          <p:cNvPr id="58" name="TextBox 43">
            <a:extLst>
              <a:ext uri="{FF2B5EF4-FFF2-40B4-BE49-F238E27FC236}">
                <a16:creationId xmlns:a16="http://schemas.microsoft.com/office/drawing/2014/main" id="{D941A8B2-EB83-888D-DF4D-AB93F2C15DED}"/>
              </a:ext>
            </a:extLst>
          </p:cNvPr>
          <p:cNvSpPr txBox="1"/>
          <p:nvPr/>
        </p:nvSpPr>
        <p:spPr>
          <a:xfrm>
            <a:off x="7314039" y="816641"/>
            <a:ext cx="2793674" cy="30777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400" b="1">
                <a:solidFill>
                  <a:srgbClr val="404040"/>
                </a:solidFill>
                <a:latin typeface="+mj-lt"/>
                <a:ea typeface="+mj-ea"/>
                <a:cs typeface="+mj-cs"/>
                <a:sym typeface="Helvetica"/>
              </a:defRPr>
            </a:lvl1pPr>
          </a:lstStyle>
          <a:p>
            <a:endParaRPr dirty="0"/>
          </a:p>
        </p:txBody>
      </p:sp>
      <p:grpSp>
        <p:nvGrpSpPr>
          <p:cNvPr id="6" name="Group 5">
            <a:extLst>
              <a:ext uri="{FF2B5EF4-FFF2-40B4-BE49-F238E27FC236}">
                <a16:creationId xmlns:a16="http://schemas.microsoft.com/office/drawing/2014/main" id="{C3683B1B-1C43-30A1-68A6-D619DEA850D7}"/>
              </a:ext>
            </a:extLst>
          </p:cNvPr>
          <p:cNvGrpSpPr/>
          <p:nvPr/>
        </p:nvGrpSpPr>
        <p:grpSpPr>
          <a:xfrm>
            <a:off x="684034" y="323479"/>
            <a:ext cx="2229948" cy="463140"/>
            <a:chOff x="5241013" y="1573798"/>
            <a:chExt cx="2295272" cy="463140"/>
          </a:xfrm>
        </p:grpSpPr>
        <p:sp>
          <p:nvSpPr>
            <p:cNvPr id="7" name="Rectangle: Rounded Corners 1">
              <a:extLst>
                <a:ext uri="{FF2B5EF4-FFF2-40B4-BE49-F238E27FC236}">
                  <a16:creationId xmlns:a16="http://schemas.microsoft.com/office/drawing/2014/main" id="{D13178A6-B425-E82E-F098-73EFBD2F856D}"/>
                </a:ext>
              </a:extLst>
            </p:cNvPr>
            <p:cNvSpPr/>
            <p:nvPr/>
          </p:nvSpPr>
          <p:spPr>
            <a:xfrm rot="16200000">
              <a:off x="6157080" y="657733"/>
              <a:ext cx="463140" cy="2295270"/>
            </a:xfrm>
            <a:prstGeom prst="rect">
              <a:avLst/>
            </a:prstGeom>
            <a:solidFill>
              <a:schemeClr val="accent1">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8" name="TextBox 7">
              <a:extLst>
                <a:ext uri="{FF2B5EF4-FFF2-40B4-BE49-F238E27FC236}">
                  <a16:creationId xmlns:a16="http://schemas.microsoft.com/office/drawing/2014/main" id="{FAA85E8C-59B1-84FD-7BAE-31FA8C4D10DE}"/>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dirty="0">
                  <a:solidFill>
                    <a:schemeClr val="bg1">
                      <a:lumMod val="10000"/>
                      <a:lumOff val="90000"/>
                    </a:schemeClr>
                  </a:solidFill>
                </a:rPr>
                <a:t>1. </a:t>
              </a:r>
              <a:r>
                <a:rPr lang="en-US" sz="1000" dirty="0" err="1">
                  <a:solidFill>
                    <a:schemeClr val="bg1">
                      <a:lumMod val="10000"/>
                      <a:lumOff val="90000"/>
                    </a:schemeClr>
                  </a:solidFill>
                </a:rPr>
                <a:t>Phân</a:t>
              </a:r>
              <a:r>
                <a:rPr lang="en-US" sz="1000" dirty="0">
                  <a:solidFill>
                    <a:schemeClr val="bg1">
                      <a:lumMod val="10000"/>
                      <a:lumOff val="90000"/>
                    </a:schemeClr>
                  </a:solidFill>
                </a:rPr>
                <a:t> </a:t>
              </a:r>
              <a:r>
                <a:rPr lang="en-US" sz="1000" dirty="0" err="1">
                  <a:solidFill>
                    <a:schemeClr val="bg1">
                      <a:lumMod val="10000"/>
                      <a:lumOff val="90000"/>
                    </a:schemeClr>
                  </a:solidFill>
                </a:rPr>
                <a:t>tích</a:t>
              </a:r>
              <a:r>
                <a:rPr lang="en-US" sz="1000" dirty="0">
                  <a:solidFill>
                    <a:schemeClr val="bg1">
                      <a:lumMod val="10000"/>
                      <a:lumOff val="90000"/>
                    </a:schemeClr>
                  </a:solidFill>
                </a:rPr>
                <a:t> </a:t>
              </a:r>
              <a:r>
                <a:rPr lang="en-US" sz="1000" dirty="0" err="1">
                  <a:solidFill>
                    <a:schemeClr val="bg1">
                      <a:lumMod val="10000"/>
                      <a:lumOff val="90000"/>
                    </a:schemeClr>
                  </a:solidFill>
                </a:rPr>
                <a:t>tổng</a:t>
              </a:r>
              <a:r>
                <a:rPr lang="en-US" sz="1000" dirty="0">
                  <a:solidFill>
                    <a:schemeClr val="bg1">
                      <a:lumMod val="10000"/>
                      <a:lumOff val="90000"/>
                    </a:schemeClr>
                  </a:solidFill>
                </a:rPr>
                <a:t> </a:t>
              </a:r>
              <a:r>
                <a:rPr lang="en-US" sz="1000" dirty="0" err="1">
                  <a:solidFill>
                    <a:schemeClr val="bg1">
                      <a:lumMod val="10000"/>
                      <a:lumOff val="90000"/>
                    </a:schemeClr>
                  </a:solidFill>
                </a:rPr>
                <a:t>quan</a:t>
              </a:r>
              <a:r>
                <a:rPr lang="en-US" sz="1000" dirty="0">
                  <a:solidFill>
                    <a:schemeClr val="bg1">
                      <a:lumMod val="10000"/>
                      <a:lumOff val="90000"/>
                    </a:schemeClr>
                  </a:solidFill>
                </a:rPr>
                <a:t> </a:t>
              </a:r>
              <a:r>
                <a:rPr lang="en-US" sz="1000" dirty="0" err="1">
                  <a:solidFill>
                    <a:schemeClr val="bg1">
                      <a:lumMod val="10000"/>
                      <a:lumOff val="90000"/>
                    </a:schemeClr>
                  </a:solidFill>
                </a:rPr>
                <a:t>thị</a:t>
              </a:r>
              <a:r>
                <a:rPr lang="en-US" sz="1000" dirty="0">
                  <a:solidFill>
                    <a:schemeClr val="bg1">
                      <a:lumMod val="10000"/>
                      <a:lumOff val="90000"/>
                    </a:schemeClr>
                  </a:solidFill>
                </a:rPr>
                <a:t> </a:t>
              </a:r>
              <a:r>
                <a:rPr lang="en-US" sz="1000" dirty="0" err="1">
                  <a:solidFill>
                    <a:schemeClr val="bg1">
                      <a:lumMod val="10000"/>
                      <a:lumOff val="90000"/>
                    </a:schemeClr>
                  </a:solidFill>
                </a:rPr>
                <a:t>trường</a:t>
              </a:r>
              <a:endParaRPr lang="en-US" sz="1000" dirty="0">
                <a:solidFill>
                  <a:schemeClr val="bg1">
                    <a:lumMod val="10000"/>
                    <a:lumOff val="90000"/>
                  </a:schemeClr>
                </a:solidFill>
              </a:endParaRPr>
            </a:p>
          </p:txBody>
        </p:sp>
      </p:grpSp>
      <p:grpSp>
        <p:nvGrpSpPr>
          <p:cNvPr id="11" name="Group 10">
            <a:extLst>
              <a:ext uri="{FF2B5EF4-FFF2-40B4-BE49-F238E27FC236}">
                <a16:creationId xmlns:a16="http://schemas.microsoft.com/office/drawing/2014/main" id="{1ECF2779-A4BC-43CE-2F34-CF219F37D819}"/>
              </a:ext>
            </a:extLst>
          </p:cNvPr>
          <p:cNvGrpSpPr/>
          <p:nvPr/>
        </p:nvGrpSpPr>
        <p:grpSpPr>
          <a:xfrm>
            <a:off x="3441856" y="331710"/>
            <a:ext cx="2229948" cy="463140"/>
            <a:chOff x="5241013" y="1573798"/>
            <a:chExt cx="2295272" cy="463140"/>
          </a:xfrm>
        </p:grpSpPr>
        <p:sp>
          <p:nvSpPr>
            <p:cNvPr id="12" name="Rectangle: Rounded Corners 1">
              <a:extLst>
                <a:ext uri="{FF2B5EF4-FFF2-40B4-BE49-F238E27FC236}">
                  <a16:creationId xmlns:a16="http://schemas.microsoft.com/office/drawing/2014/main" id="{294E9D8B-FCEE-C604-F534-6E4BAE60CB46}"/>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highlight>
                  <a:srgbClr val="808080"/>
                </a:highlight>
              </a:endParaRPr>
            </a:p>
          </p:txBody>
        </p:sp>
        <p:sp>
          <p:nvSpPr>
            <p:cNvPr id="13" name="TextBox 12">
              <a:extLst>
                <a:ext uri="{FF2B5EF4-FFF2-40B4-BE49-F238E27FC236}">
                  <a16:creationId xmlns:a16="http://schemas.microsoft.com/office/drawing/2014/main" id="{F61CED2E-E315-AACE-BDD7-945FF96860A2}"/>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2.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khách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hàng</a:t>
              </a:r>
              <a:endParaRPr lang="en-US" sz="1000" b="1" dirty="0">
                <a:solidFill>
                  <a:schemeClr val="bg1">
                    <a:lumMod val="10000"/>
                    <a:lumOff val="90000"/>
                  </a:schemeClr>
                </a:solidFill>
                <a:sym typeface="Helvetica"/>
              </a:endParaRPr>
            </a:p>
          </p:txBody>
        </p:sp>
      </p:grpSp>
      <p:grpSp>
        <p:nvGrpSpPr>
          <p:cNvPr id="14" name="Group 13">
            <a:extLst>
              <a:ext uri="{FF2B5EF4-FFF2-40B4-BE49-F238E27FC236}">
                <a16:creationId xmlns:a16="http://schemas.microsoft.com/office/drawing/2014/main" id="{EF2A2F08-37B2-F0F5-A2F9-028E03A89042}"/>
              </a:ext>
            </a:extLst>
          </p:cNvPr>
          <p:cNvGrpSpPr/>
          <p:nvPr/>
        </p:nvGrpSpPr>
        <p:grpSpPr>
          <a:xfrm>
            <a:off x="6199676" y="331710"/>
            <a:ext cx="2229948" cy="463140"/>
            <a:chOff x="5241013" y="1573798"/>
            <a:chExt cx="2295272" cy="463140"/>
          </a:xfrm>
        </p:grpSpPr>
        <p:sp>
          <p:nvSpPr>
            <p:cNvPr id="15" name="Rectangle: Rounded Corners 1">
              <a:extLst>
                <a:ext uri="{FF2B5EF4-FFF2-40B4-BE49-F238E27FC236}">
                  <a16:creationId xmlns:a16="http://schemas.microsoft.com/office/drawing/2014/main" id="{71740139-8852-B783-12D9-AF54D5F7C1F6}"/>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6" name="TextBox 15">
              <a:extLst>
                <a:ext uri="{FF2B5EF4-FFF2-40B4-BE49-F238E27FC236}">
                  <a16:creationId xmlns:a16="http://schemas.microsoft.com/office/drawing/2014/main" id="{60BC49BB-80FC-23B4-2395-8ED24A7EFBB3}"/>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3.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sản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phẩm</a:t>
              </a:r>
              <a:endParaRPr lang="en-US" sz="1000" b="1" dirty="0">
                <a:solidFill>
                  <a:schemeClr val="bg1">
                    <a:lumMod val="10000"/>
                    <a:lumOff val="90000"/>
                  </a:schemeClr>
                </a:solidFill>
                <a:sym typeface="Helvetica"/>
              </a:endParaRPr>
            </a:p>
          </p:txBody>
        </p:sp>
      </p:grpSp>
      <p:grpSp>
        <p:nvGrpSpPr>
          <p:cNvPr id="17" name="Group 16">
            <a:extLst>
              <a:ext uri="{FF2B5EF4-FFF2-40B4-BE49-F238E27FC236}">
                <a16:creationId xmlns:a16="http://schemas.microsoft.com/office/drawing/2014/main" id="{D97BD8BB-BEC7-ADD7-978F-31174AE082E6}"/>
              </a:ext>
            </a:extLst>
          </p:cNvPr>
          <p:cNvGrpSpPr/>
          <p:nvPr/>
        </p:nvGrpSpPr>
        <p:grpSpPr>
          <a:xfrm>
            <a:off x="8998971" y="331710"/>
            <a:ext cx="2229948" cy="463140"/>
            <a:chOff x="5241013" y="1573798"/>
            <a:chExt cx="2295272" cy="463140"/>
          </a:xfrm>
        </p:grpSpPr>
        <p:sp>
          <p:nvSpPr>
            <p:cNvPr id="18" name="Rectangle: Rounded Corners 1">
              <a:extLst>
                <a:ext uri="{FF2B5EF4-FFF2-40B4-BE49-F238E27FC236}">
                  <a16:creationId xmlns:a16="http://schemas.microsoft.com/office/drawing/2014/main" id="{6227F901-1572-001E-96AC-A66ED54749B2}"/>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9" name="TextBox 18">
              <a:extLst>
                <a:ext uri="{FF2B5EF4-FFF2-40B4-BE49-F238E27FC236}">
                  <a16:creationId xmlns:a16="http://schemas.microsoft.com/office/drawing/2014/main" id="{6CFA47A6-8D27-A6FD-2C89-2CB2B0EF0C10}"/>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4.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tồn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kho</a:t>
              </a:r>
              <a:endParaRPr lang="en-US" sz="1000" b="1" dirty="0">
                <a:solidFill>
                  <a:schemeClr val="bg1">
                    <a:lumMod val="10000"/>
                    <a:lumOff val="90000"/>
                  </a:schemeClr>
                </a:solidFill>
                <a:sym typeface="Helvetica"/>
              </a:endParaRPr>
            </a:p>
          </p:txBody>
        </p:sp>
      </p:grpSp>
      <p:sp>
        <p:nvSpPr>
          <p:cNvPr id="9" name="TextBox 8">
            <a:extLst>
              <a:ext uri="{FF2B5EF4-FFF2-40B4-BE49-F238E27FC236}">
                <a16:creationId xmlns:a16="http://schemas.microsoft.com/office/drawing/2014/main" id="{B94CB637-FE1D-AA84-DCC2-B06AD8765FF7}"/>
              </a:ext>
            </a:extLst>
          </p:cNvPr>
          <p:cNvSpPr txBox="1"/>
          <p:nvPr/>
        </p:nvSpPr>
        <p:spPr>
          <a:xfrm>
            <a:off x="548567" y="1342489"/>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1" i="0" dirty="0">
                <a:solidFill>
                  <a:schemeClr val="bg2"/>
                </a:solidFill>
                <a:effectLst/>
                <a:latin typeface="Google Sans Text"/>
              </a:rPr>
              <a:t>Recommendations </a:t>
            </a:r>
            <a:r>
              <a:rPr lang="en-US" b="1" i="0" dirty="0" err="1">
                <a:solidFill>
                  <a:schemeClr val="bg2"/>
                </a:solidFill>
                <a:effectLst/>
                <a:latin typeface="Google Sans Text"/>
              </a:rPr>
              <a:t>cho</a:t>
            </a:r>
            <a:r>
              <a:rPr lang="en-US" b="1" i="0" dirty="0">
                <a:solidFill>
                  <a:schemeClr val="bg2"/>
                </a:solidFill>
                <a:effectLst/>
                <a:latin typeface="Google Sans Text"/>
              </a:rPr>
              <a:t> Doanh </a:t>
            </a:r>
            <a:r>
              <a:rPr lang="en-US" b="1" i="0" dirty="0" err="1">
                <a:solidFill>
                  <a:schemeClr val="bg2"/>
                </a:solidFill>
                <a:effectLst/>
                <a:latin typeface="Google Sans Text"/>
              </a:rPr>
              <a:t>nghiệp</a:t>
            </a:r>
            <a:endParaRPr lang="en-VN" dirty="0">
              <a:solidFill>
                <a:schemeClr val="bg2"/>
              </a:solidFill>
            </a:endParaRPr>
          </a:p>
        </p:txBody>
      </p:sp>
      <p:sp>
        <p:nvSpPr>
          <p:cNvPr id="2" name="TextBox 1">
            <a:extLst>
              <a:ext uri="{FF2B5EF4-FFF2-40B4-BE49-F238E27FC236}">
                <a16:creationId xmlns:a16="http://schemas.microsoft.com/office/drawing/2014/main" id="{F033DB64-22FA-CA5E-3DBF-190F8D230BC1}"/>
              </a:ext>
            </a:extLst>
          </p:cNvPr>
          <p:cNvSpPr txBox="1"/>
          <p:nvPr/>
        </p:nvSpPr>
        <p:spPr>
          <a:xfrm>
            <a:off x="684034" y="6473420"/>
            <a:ext cx="1905000"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VN" sz="800" b="0" i="1" u="none" strike="noStrike" cap="none" spc="0" normalizeH="0" baseline="0" dirty="0">
                <a:ln>
                  <a:noFill/>
                </a:ln>
                <a:solidFill>
                  <a:srgbClr val="000000"/>
                </a:solidFill>
                <a:effectLst/>
                <a:uFillTx/>
                <a:latin typeface="+mn-lt"/>
                <a:ea typeface="+mn-ea"/>
                <a:sym typeface="Onest"/>
                <a:hlinkClick r:id="rId2"/>
              </a:rPr>
              <a:t>| Link Dashboard</a:t>
            </a:r>
            <a:endParaRPr kumimoji="0" lang="en-VN" sz="800" b="0" i="1" u="none" strike="noStrike" cap="none" spc="0" normalizeH="0" baseline="0" dirty="0">
              <a:ln>
                <a:noFill/>
              </a:ln>
              <a:solidFill>
                <a:srgbClr val="000000"/>
              </a:solidFill>
              <a:effectLst/>
              <a:uFillTx/>
              <a:latin typeface="+mn-lt"/>
              <a:ea typeface="+mn-ea"/>
              <a:sym typeface="Onest"/>
            </a:endParaRPr>
          </a:p>
        </p:txBody>
      </p:sp>
    </p:spTree>
    <p:extLst>
      <p:ext uri="{BB962C8B-B14F-4D97-AF65-F5344CB8AC3E}">
        <p14:creationId xmlns:p14="http://schemas.microsoft.com/office/powerpoint/2010/main" val="276616054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4648A458-9124-1703-7BCE-8A0E55D08F26}"/>
            </a:ext>
          </a:extLst>
        </p:cNvPr>
        <p:cNvGrpSpPr/>
        <p:nvPr/>
      </p:nvGrpSpPr>
      <p:grpSpPr>
        <a:xfrm>
          <a:off x="0" y="0"/>
          <a:ext cx="0" cy="0"/>
          <a:chOff x="0" y="0"/>
          <a:chExt cx="0" cy="0"/>
        </a:xfrm>
      </p:grpSpPr>
      <p:sp>
        <p:nvSpPr>
          <p:cNvPr id="24" name="Rectangle: Rounded Corners 9">
            <a:extLst>
              <a:ext uri="{FF2B5EF4-FFF2-40B4-BE49-F238E27FC236}">
                <a16:creationId xmlns:a16="http://schemas.microsoft.com/office/drawing/2014/main" id="{E5705CB0-3849-6ADD-C976-3D04C07C003D}"/>
              </a:ext>
            </a:extLst>
          </p:cNvPr>
          <p:cNvSpPr/>
          <p:nvPr/>
        </p:nvSpPr>
        <p:spPr>
          <a:xfrm>
            <a:off x="5374247" y="914205"/>
            <a:ext cx="5854670" cy="5612085"/>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endParaRPr lang="vi-VN" sz="1200" dirty="0"/>
          </a:p>
          <a:p>
            <a:br>
              <a:rPr lang="vi-VN" sz="1200" dirty="0"/>
            </a:br>
            <a:endParaRPr lang="vi-VN" sz="1200" dirty="0"/>
          </a:p>
          <a:p>
            <a:pPr marL="171450" indent="-171450">
              <a:buFontTx/>
              <a:buChar char="-"/>
            </a:pPr>
            <a:endParaRPr lang="vi-VN" sz="1200" dirty="0"/>
          </a:p>
          <a:p>
            <a:pPr marL="171450" indent="-171450">
              <a:buFontTx/>
              <a:buChar char="-"/>
            </a:pPr>
            <a:endParaRPr lang="vi-VN" sz="1200" dirty="0"/>
          </a:p>
        </p:txBody>
      </p:sp>
      <p:sp>
        <p:nvSpPr>
          <p:cNvPr id="22" name="Rectangle: Rounded Corners 9">
            <a:extLst>
              <a:ext uri="{FF2B5EF4-FFF2-40B4-BE49-F238E27FC236}">
                <a16:creationId xmlns:a16="http://schemas.microsoft.com/office/drawing/2014/main" id="{B5A3B0FA-605E-50EA-3279-614EE6A7A79C}"/>
              </a:ext>
            </a:extLst>
          </p:cNvPr>
          <p:cNvSpPr/>
          <p:nvPr/>
        </p:nvSpPr>
        <p:spPr>
          <a:xfrm>
            <a:off x="596491" y="4402849"/>
            <a:ext cx="4641553" cy="1874018"/>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dirty="0"/>
          </a:p>
        </p:txBody>
      </p:sp>
      <p:sp>
        <p:nvSpPr>
          <p:cNvPr id="21" name="Rectangle: Rounded Corners 9">
            <a:extLst>
              <a:ext uri="{FF2B5EF4-FFF2-40B4-BE49-F238E27FC236}">
                <a16:creationId xmlns:a16="http://schemas.microsoft.com/office/drawing/2014/main" id="{AE932E76-810C-5CAB-E94A-C61D498B2EB7}"/>
              </a:ext>
            </a:extLst>
          </p:cNvPr>
          <p:cNvSpPr/>
          <p:nvPr/>
        </p:nvSpPr>
        <p:spPr>
          <a:xfrm>
            <a:off x="610439" y="905974"/>
            <a:ext cx="4627605" cy="3349938"/>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a:p>
        </p:txBody>
      </p:sp>
      <p:sp>
        <p:nvSpPr>
          <p:cNvPr id="31" name="Slide Number Placeholder 5">
            <a:extLst>
              <a:ext uri="{FF2B5EF4-FFF2-40B4-BE49-F238E27FC236}">
                <a16:creationId xmlns:a16="http://schemas.microsoft.com/office/drawing/2014/main" id="{3457FBA7-4060-2137-05BB-7EF46F71162F}"/>
              </a:ext>
            </a:extLst>
          </p:cNvPr>
          <p:cNvSpPr txBox="1">
            <a:spLocks noGrp="1"/>
          </p:cNvSpPr>
          <p:nvPr>
            <p:ph type="sldNum" sz="quarter" idx="2"/>
          </p:nvPr>
        </p:nvSpPr>
        <p:spPr>
          <a:xfrm>
            <a:off x="11450023" y="5997575"/>
            <a:ext cx="330161" cy="5740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58" name="TextBox 43">
            <a:extLst>
              <a:ext uri="{FF2B5EF4-FFF2-40B4-BE49-F238E27FC236}">
                <a16:creationId xmlns:a16="http://schemas.microsoft.com/office/drawing/2014/main" id="{A51B7BD6-8634-6746-9389-19CF5C102319}"/>
              </a:ext>
            </a:extLst>
          </p:cNvPr>
          <p:cNvSpPr txBox="1"/>
          <p:nvPr/>
        </p:nvSpPr>
        <p:spPr>
          <a:xfrm>
            <a:off x="7314039" y="816641"/>
            <a:ext cx="2793674" cy="30777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400" b="1">
                <a:solidFill>
                  <a:srgbClr val="404040"/>
                </a:solidFill>
                <a:latin typeface="+mj-lt"/>
                <a:ea typeface="+mj-ea"/>
                <a:cs typeface="+mj-cs"/>
                <a:sym typeface="Helvetica"/>
              </a:defRPr>
            </a:lvl1pPr>
          </a:lstStyle>
          <a:p>
            <a:endParaRPr dirty="0"/>
          </a:p>
        </p:txBody>
      </p:sp>
      <p:grpSp>
        <p:nvGrpSpPr>
          <p:cNvPr id="6" name="Group 5">
            <a:extLst>
              <a:ext uri="{FF2B5EF4-FFF2-40B4-BE49-F238E27FC236}">
                <a16:creationId xmlns:a16="http://schemas.microsoft.com/office/drawing/2014/main" id="{3EF3F001-F2D1-2CCF-011B-CABA7C414D97}"/>
              </a:ext>
            </a:extLst>
          </p:cNvPr>
          <p:cNvGrpSpPr/>
          <p:nvPr/>
        </p:nvGrpSpPr>
        <p:grpSpPr>
          <a:xfrm>
            <a:off x="684034" y="323479"/>
            <a:ext cx="2229948" cy="463140"/>
            <a:chOff x="5241013" y="1573798"/>
            <a:chExt cx="2295272" cy="463140"/>
          </a:xfrm>
        </p:grpSpPr>
        <p:sp>
          <p:nvSpPr>
            <p:cNvPr id="7" name="Rectangle: Rounded Corners 1">
              <a:extLst>
                <a:ext uri="{FF2B5EF4-FFF2-40B4-BE49-F238E27FC236}">
                  <a16:creationId xmlns:a16="http://schemas.microsoft.com/office/drawing/2014/main" id="{DCC2EF31-1448-4B1F-834D-D929AFD06BBB}"/>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8" name="TextBox 7">
              <a:extLst>
                <a:ext uri="{FF2B5EF4-FFF2-40B4-BE49-F238E27FC236}">
                  <a16:creationId xmlns:a16="http://schemas.microsoft.com/office/drawing/2014/main" id="{D4728801-9025-3556-C508-10396A1A088D}"/>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dirty="0">
                  <a:solidFill>
                    <a:schemeClr val="bg1">
                      <a:lumMod val="10000"/>
                      <a:lumOff val="90000"/>
                    </a:schemeClr>
                  </a:solidFill>
                </a:rPr>
                <a:t>1. </a:t>
              </a:r>
              <a:r>
                <a:rPr lang="en-US" sz="1000" dirty="0" err="1">
                  <a:solidFill>
                    <a:schemeClr val="bg1">
                      <a:lumMod val="10000"/>
                      <a:lumOff val="90000"/>
                    </a:schemeClr>
                  </a:solidFill>
                </a:rPr>
                <a:t>Phân</a:t>
              </a:r>
              <a:r>
                <a:rPr lang="en-US" sz="1000" dirty="0">
                  <a:solidFill>
                    <a:schemeClr val="bg1">
                      <a:lumMod val="10000"/>
                      <a:lumOff val="90000"/>
                    </a:schemeClr>
                  </a:solidFill>
                </a:rPr>
                <a:t> </a:t>
              </a:r>
              <a:r>
                <a:rPr lang="en-US" sz="1000" dirty="0" err="1">
                  <a:solidFill>
                    <a:schemeClr val="bg1">
                      <a:lumMod val="10000"/>
                      <a:lumOff val="90000"/>
                    </a:schemeClr>
                  </a:solidFill>
                </a:rPr>
                <a:t>tích</a:t>
              </a:r>
              <a:r>
                <a:rPr lang="en-US" sz="1000" dirty="0">
                  <a:solidFill>
                    <a:schemeClr val="bg1">
                      <a:lumMod val="10000"/>
                      <a:lumOff val="90000"/>
                    </a:schemeClr>
                  </a:solidFill>
                </a:rPr>
                <a:t> </a:t>
              </a:r>
              <a:r>
                <a:rPr lang="en-US" sz="1000" dirty="0" err="1">
                  <a:solidFill>
                    <a:schemeClr val="bg1">
                      <a:lumMod val="10000"/>
                      <a:lumOff val="90000"/>
                    </a:schemeClr>
                  </a:solidFill>
                </a:rPr>
                <a:t>tổng</a:t>
              </a:r>
              <a:r>
                <a:rPr lang="en-US" sz="1000" dirty="0">
                  <a:solidFill>
                    <a:schemeClr val="bg1">
                      <a:lumMod val="10000"/>
                      <a:lumOff val="90000"/>
                    </a:schemeClr>
                  </a:solidFill>
                </a:rPr>
                <a:t> </a:t>
              </a:r>
              <a:r>
                <a:rPr lang="en-US" sz="1000" dirty="0" err="1">
                  <a:solidFill>
                    <a:schemeClr val="bg1">
                      <a:lumMod val="10000"/>
                      <a:lumOff val="90000"/>
                    </a:schemeClr>
                  </a:solidFill>
                </a:rPr>
                <a:t>quan</a:t>
              </a:r>
              <a:r>
                <a:rPr lang="en-US" sz="1000" dirty="0">
                  <a:solidFill>
                    <a:schemeClr val="bg1">
                      <a:lumMod val="10000"/>
                      <a:lumOff val="90000"/>
                    </a:schemeClr>
                  </a:solidFill>
                </a:rPr>
                <a:t> </a:t>
              </a:r>
              <a:r>
                <a:rPr lang="en-US" sz="1000" dirty="0" err="1">
                  <a:solidFill>
                    <a:schemeClr val="bg1">
                      <a:lumMod val="10000"/>
                      <a:lumOff val="90000"/>
                    </a:schemeClr>
                  </a:solidFill>
                </a:rPr>
                <a:t>thị</a:t>
              </a:r>
              <a:r>
                <a:rPr lang="en-US" sz="1000" dirty="0">
                  <a:solidFill>
                    <a:schemeClr val="bg1">
                      <a:lumMod val="10000"/>
                      <a:lumOff val="90000"/>
                    </a:schemeClr>
                  </a:solidFill>
                </a:rPr>
                <a:t> </a:t>
              </a:r>
              <a:r>
                <a:rPr lang="en-US" sz="1000" dirty="0" err="1">
                  <a:solidFill>
                    <a:schemeClr val="bg1">
                      <a:lumMod val="10000"/>
                      <a:lumOff val="90000"/>
                    </a:schemeClr>
                  </a:solidFill>
                </a:rPr>
                <a:t>trường</a:t>
              </a:r>
              <a:endParaRPr lang="en-US" sz="1000" dirty="0">
                <a:solidFill>
                  <a:schemeClr val="bg1">
                    <a:lumMod val="10000"/>
                    <a:lumOff val="90000"/>
                  </a:schemeClr>
                </a:solidFill>
              </a:endParaRPr>
            </a:p>
          </p:txBody>
        </p:sp>
      </p:grpSp>
      <p:grpSp>
        <p:nvGrpSpPr>
          <p:cNvPr id="11" name="Group 10">
            <a:extLst>
              <a:ext uri="{FF2B5EF4-FFF2-40B4-BE49-F238E27FC236}">
                <a16:creationId xmlns:a16="http://schemas.microsoft.com/office/drawing/2014/main" id="{69082AC7-C1E4-9ECB-F230-5EC19EAF23C7}"/>
              </a:ext>
            </a:extLst>
          </p:cNvPr>
          <p:cNvGrpSpPr/>
          <p:nvPr/>
        </p:nvGrpSpPr>
        <p:grpSpPr>
          <a:xfrm>
            <a:off x="3441856" y="331710"/>
            <a:ext cx="2229948" cy="463140"/>
            <a:chOff x="5241013" y="1573798"/>
            <a:chExt cx="2295272" cy="463140"/>
          </a:xfrm>
        </p:grpSpPr>
        <p:sp>
          <p:nvSpPr>
            <p:cNvPr id="12" name="Rectangle: Rounded Corners 1">
              <a:extLst>
                <a:ext uri="{FF2B5EF4-FFF2-40B4-BE49-F238E27FC236}">
                  <a16:creationId xmlns:a16="http://schemas.microsoft.com/office/drawing/2014/main" id="{82127A4C-5A0E-2614-F5F5-3C8890C011D4}"/>
                </a:ext>
              </a:extLst>
            </p:cNvPr>
            <p:cNvSpPr/>
            <p:nvPr/>
          </p:nvSpPr>
          <p:spPr>
            <a:xfrm rot="16200000">
              <a:off x="6157080" y="657733"/>
              <a:ext cx="463140" cy="2295270"/>
            </a:xfrm>
            <a:prstGeom prst="rect">
              <a:avLst/>
            </a:prstGeom>
            <a:solidFill>
              <a:srgbClr val="623DB6">
                <a:alpha val="85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highlight>
                  <a:srgbClr val="808080"/>
                </a:highlight>
              </a:endParaRPr>
            </a:p>
          </p:txBody>
        </p:sp>
        <p:sp>
          <p:nvSpPr>
            <p:cNvPr id="13" name="TextBox 12">
              <a:extLst>
                <a:ext uri="{FF2B5EF4-FFF2-40B4-BE49-F238E27FC236}">
                  <a16:creationId xmlns:a16="http://schemas.microsoft.com/office/drawing/2014/main" id="{63C86309-0FEE-2334-D7F2-EF019A57469A}"/>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2.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khách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hàng</a:t>
              </a:r>
              <a:endParaRPr lang="en-US" sz="1000" b="1" dirty="0">
                <a:solidFill>
                  <a:schemeClr val="bg1">
                    <a:lumMod val="10000"/>
                    <a:lumOff val="90000"/>
                  </a:schemeClr>
                </a:solidFill>
                <a:sym typeface="Helvetica"/>
              </a:endParaRPr>
            </a:p>
          </p:txBody>
        </p:sp>
      </p:grpSp>
      <p:grpSp>
        <p:nvGrpSpPr>
          <p:cNvPr id="14" name="Group 13">
            <a:extLst>
              <a:ext uri="{FF2B5EF4-FFF2-40B4-BE49-F238E27FC236}">
                <a16:creationId xmlns:a16="http://schemas.microsoft.com/office/drawing/2014/main" id="{6CE9E16B-45B9-F7C1-391D-C40F3576ACC4}"/>
              </a:ext>
            </a:extLst>
          </p:cNvPr>
          <p:cNvGrpSpPr/>
          <p:nvPr/>
        </p:nvGrpSpPr>
        <p:grpSpPr>
          <a:xfrm>
            <a:off x="6199676" y="331710"/>
            <a:ext cx="2229948" cy="463140"/>
            <a:chOff x="5241013" y="1573798"/>
            <a:chExt cx="2295272" cy="463140"/>
          </a:xfrm>
        </p:grpSpPr>
        <p:sp>
          <p:nvSpPr>
            <p:cNvPr id="15" name="Rectangle: Rounded Corners 1">
              <a:extLst>
                <a:ext uri="{FF2B5EF4-FFF2-40B4-BE49-F238E27FC236}">
                  <a16:creationId xmlns:a16="http://schemas.microsoft.com/office/drawing/2014/main" id="{1F020D27-471F-7BD1-B574-5AB7D8783C1D}"/>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6" name="TextBox 15">
              <a:extLst>
                <a:ext uri="{FF2B5EF4-FFF2-40B4-BE49-F238E27FC236}">
                  <a16:creationId xmlns:a16="http://schemas.microsoft.com/office/drawing/2014/main" id="{A63F5638-E155-A691-7B6A-2517DABED3D3}"/>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3.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sản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phẩm</a:t>
              </a:r>
              <a:endParaRPr lang="en-US" sz="1000" b="1" dirty="0">
                <a:solidFill>
                  <a:schemeClr val="bg1">
                    <a:lumMod val="10000"/>
                    <a:lumOff val="90000"/>
                  </a:schemeClr>
                </a:solidFill>
                <a:sym typeface="Helvetica"/>
              </a:endParaRPr>
            </a:p>
          </p:txBody>
        </p:sp>
      </p:grpSp>
      <p:grpSp>
        <p:nvGrpSpPr>
          <p:cNvPr id="17" name="Group 16">
            <a:extLst>
              <a:ext uri="{FF2B5EF4-FFF2-40B4-BE49-F238E27FC236}">
                <a16:creationId xmlns:a16="http://schemas.microsoft.com/office/drawing/2014/main" id="{EAACD375-50E0-0E35-FFF5-1AB8397EBBDF}"/>
              </a:ext>
            </a:extLst>
          </p:cNvPr>
          <p:cNvGrpSpPr/>
          <p:nvPr/>
        </p:nvGrpSpPr>
        <p:grpSpPr>
          <a:xfrm>
            <a:off x="8998971" y="331710"/>
            <a:ext cx="2229948" cy="463140"/>
            <a:chOff x="5241013" y="1573798"/>
            <a:chExt cx="2295272" cy="463140"/>
          </a:xfrm>
        </p:grpSpPr>
        <p:sp>
          <p:nvSpPr>
            <p:cNvPr id="18" name="Rectangle: Rounded Corners 1">
              <a:extLst>
                <a:ext uri="{FF2B5EF4-FFF2-40B4-BE49-F238E27FC236}">
                  <a16:creationId xmlns:a16="http://schemas.microsoft.com/office/drawing/2014/main" id="{BB271B20-E562-AEA6-784B-B03036F90C5A}"/>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9" name="TextBox 18">
              <a:extLst>
                <a:ext uri="{FF2B5EF4-FFF2-40B4-BE49-F238E27FC236}">
                  <a16:creationId xmlns:a16="http://schemas.microsoft.com/office/drawing/2014/main" id="{2680E012-D09A-55FC-5A49-4F2673D41495}"/>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4.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tồn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kho</a:t>
              </a:r>
              <a:endParaRPr lang="en-US" sz="1000" b="1" dirty="0">
                <a:solidFill>
                  <a:schemeClr val="bg1">
                    <a:lumMod val="10000"/>
                    <a:lumOff val="90000"/>
                  </a:schemeClr>
                </a:solidFill>
                <a:sym typeface="Helvetica"/>
              </a:endParaRPr>
            </a:p>
          </p:txBody>
        </p:sp>
      </p:grpSp>
      <p:pic>
        <p:nvPicPr>
          <p:cNvPr id="9" name="Picture 8">
            <a:extLst>
              <a:ext uri="{FF2B5EF4-FFF2-40B4-BE49-F238E27FC236}">
                <a16:creationId xmlns:a16="http://schemas.microsoft.com/office/drawing/2014/main" id="{2C078DDA-B8AE-C5DC-D108-788DCA992A4C}"/>
              </a:ext>
            </a:extLst>
          </p:cNvPr>
          <p:cNvPicPr>
            <a:picLocks noChangeAspect="1"/>
          </p:cNvPicPr>
          <p:nvPr/>
        </p:nvPicPr>
        <p:blipFill>
          <a:blip r:embed="rId2"/>
          <a:stretch>
            <a:fillRect/>
          </a:stretch>
        </p:blipFill>
        <p:spPr>
          <a:xfrm>
            <a:off x="746641" y="1011768"/>
            <a:ext cx="4389804" cy="3123094"/>
          </a:xfrm>
          <a:prstGeom prst="rect">
            <a:avLst/>
          </a:prstGeom>
        </p:spPr>
      </p:pic>
      <p:sp>
        <p:nvSpPr>
          <p:cNvPr id="25" name="TextBox 24">
            <a:extLst>
              <a:ext uri="{FF2B5EF4-FFF2-40B4-BE49-F238E27FC236}">
                <a16:creationId xmlns:a16="http://schemas.microsoft.com/office/drawing/2014/main" id="{1639DD20-1CE3-DCDF-37EC-A07205013EBB}"/>
              </a:ext>
            </a:extLst>
          </p:cNvPr>
          <p:cNvSpPr txBox="1"/>
          <p:nvPr/>
        </p:nvSpPr>
        <p:spPr>
          <a:xfrm>
            <a:off x="678540" y="4708703"/>
            <a:ext cx="4526006" cy="1384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vi-VN" sz="1200" dirty="0">
                <a:solidFill>
                  <a:schemeClr val="tx1"/>
                </a:solidFill>
              </a:rPr>
              <a:t>Phương pháp phân cụm điểm RFM: </a:t>
            </a:r>
            <a:r>
              <a:rPr lang="vi-VN" sz="1200" dirty="0">
                <a:solidFill>
                  <a:schemeClr val="tx1"/>
                </a:solidFill>
                <a:sym typeface="Helvetica"/>
              </a:rPr>
              <a:t>Gán điểm cho từng khách hàng dựa trên Lần mua cuối (R), Tần suất mua (F), và Tổng giá trị chi tiêu (M). Sau đó, dùng mô hình HDBSCAN để tự động phân cụm những khách hàng có điểm RFM (đã chuẩn hóa) tương đồng. Kết quả là các phân khúc khách hàng được đặt tên (VD: "VIP", "Khách hàng tiềm năng", "Nguy cơ rời bỏ").</a:t>
            </a:r>
            <a:endParaRPr lang="vi-VN" sz="1200" dirty="0">
              <a:solidFill>
                <a:schemeClr val="tx1"/>
              </a:solidFill>
            </a:endParaRPr>
          </a:p>
          <a:p>
            <a:endParaRPr lang="vi-VN" sz="1200" dirty="0">
              <a:solidFill>
                <a:schemeClr val="tx1"/>
              </a:solidFill>
            </a:endParaRPr>
          </a:p>
        </p:txBody>
      </p:sp>
      <p:sp>
        <p:nvSpPr>
          <p:cNvPr id="2" name="TextBox 1">
            <a:extLst>
              <a:ext uri="{FF2B5EF4-FFF2-40B4-BE49-F238E27FC236}">
                <a16:creationId xmlns:a16="http://schemas.microsoft.com/office/drawing/2014/main" id="{26048354-0F41-CA01-C15D-9D9E0BDD9E4C}"/>
              </a:ext>
            </a:extLst>
          </p:cNvPr>
          <p:cNvSpPr txBox="1"/>
          <p:nvPr/>
        </p:nvSpPr>
        <p:spPr>
          <a:xfrm>
            <a:off x="5563278" y="3582430"/>
            <a:ext cx="5745103" cy="37856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vi-VN" sz="1200" dirty="0">
                <a:solidFill>
                  <a:srgbClr val="623DB6"/>
                </a:solidFill>
              </a:rPr>
              <a:t>Dựa vào đó ta có nhận định như sau:</a:t>
            </a:r>
          </a:p>
          <a:p>
            <a:r>
              <a:rPr lang="vi-VN" sz="1200" b="1" dirty="0">
                <a:solidFill>
                  <a:srgbClr val="623DB6"/>
                </a:solidFill>
              </a:rPr>
              <a:t>- "Lost Customers" chiếm tỷ trọng lớn nhất: </a:t>
            </a:r>
            <a:r>
              <a:rPr lang="vi-VN" sz="1200" dirty="0">
                <a:solidFill>
                  <a:srgbClr val="623DB6"/>
                </a:solidFill>
              </a:rPr>
              <a:t>Đây là một tín hiệu đáng báo động. Doanh nghiệp đang có một số lượng rất lớn khách hàng. Cần tìm hiểu sâu nguyên nhân tại sao khách hàng rời bỏ (chất lượng sản phẩm/dịch vụ, giá cả, đối thủ cạnh tranh, trải nghiệm không tốt,...). Xây dựng chiến lược giữ chân khách hàng (customer retention) và cố gắng "tái kích hoạt" một phần nhóm khách hàng đã mất này nếu có thể.</a:t>
            </a:r>
          </a:p>
          <a:p>
            <a:r>
              <a:rPr lang="vi-VN" sz="1200" b="1" dirty="0">
                <a:solidFill>
                  <a:srgbClr val="623DB6"/>
                </a:solidFill>
              </a:rPr>
              <a:t>- "VIP / Champions" là nhóm lớn thứ hai: </a:t>
            </a:r>
            <a:r>
              <a:rPr lang="vi-VN" sz="1200" dirty="0">
                <a:solidFill>
                  <a:srgbClr val="623DB6"/>
                </a:solidFill>
              </a:rPr>
              <a:t>Đây là nhóm khách hàng giá trị nhất, mang lại doanh thu và lợi nhuận ổn định. Cần duy trì sự hài lòng và lòng trung thành của nhóm này. Có thể triển khai các chương trình ưu đãi độc quyền, cá nhân hóa trải nghiệm để giữ chân và khuyến khích họ tiếp tục mua sắm, thậm chí giới thiệu khách hàng mới.</a:t>
            </a:r>
          </a:p>
          <a:p>
            <a:r>
              <a:rPr lang="vi-VN" sz="1200" b="1" dirty="0">
                <a:solidFill>
                  <a:srgbClr val="623DB6"/>
                </a:solidFill>
              </a:rPr>
              <a:t>- "New Customers” có tỷ trọng nhỏ: </a:t>
            </a:r>
            <a:r>
              <a:rPr lang="vi-VN" sz="1200" dirty="0">
                <a:solidFill>
                  <a:srgbClr val="623DB6"/>
                </a:solidFill>
              </a:rPr>
              <a:t>Số lượng khách hàng mới thu hút được đang ở mức thấp so với các nhóm khác. Xem xét lại các chiến dịch marketing và thu hút khách hàng mới. Đồng thời, cần có chiến lược chuyển đổi hiệu quả khách hàng mới thành khách hàng trung thành, tránh để họ nhanh chóng rơi vào nhóm "Lost Customers".</a:t>
            </a:r>
          </a:p>
          <a:p>
            <a:endParaRPr lang="vi-VN" sz="1200" dirty="0"/>
          </a:p>
          <a:p>
            <a:br>
              <a:rPr lang="vi-VN" sz="1200" dirty="0"/>
            </a:br>
            <a:endParaRPr lang="vi-VN" sz="1200" dirty="0"/>
          </a:p>
          <a:p>
            <a:pPr marL="171450" indent="-171450">
              <a:buFontTx/>
              <a:buChar char="-"/>
            </a:pPr>
            <a:endParaRPr lang="vi-VN" sz="1200" dirty="0"/>
          </a:p>
          <a:p>
            <a:pPr marL="171450" indent="-171450">
              <a:buFontTx/>
              <a:buChar char="-"/>
            </a:pPr>
            <a:endParaRPr lang="vi-VN" sz="1200" dirty="0"/>
          </a:p>
          <a:p>
            <a:endParaRPr lang="vi-VN" sz="1200" dirty="0"/>
          </a:p>
        </p:txBody>
      </p:sp>
      <p:graphicFrame>
        <p:nvGraphicFramePr>
          <p:cNvPr id="3" name="Table 2">
            <a:extLst>
              <a:ext uri="{FF2B5EF4-FFF2-40B4-BE49-F238E27FC236}">
                <a16:creationId xmlns:a16="http://schemas.microsoft.com/office/drawing/2014/main" id="{6E18719D-42B6-D19B-CC54-D9764430D6A5}"/>
              </a:ext>
            </a:extLst>
          </p:cNvPr>
          <p:cNvGraphicFramePr>
            <a:graphicFrameLocks noGrp="1"/>
          </p:cNvGraphicFramePr>
          <p:nvPr>
            <p:extLst>
              <p:ext uri="{D42A27DB-BD31-4B8C-83A1-F6EECF244321}">
                <p14:modId xmlns:p14="http://schemas.microsoft.com/office/powerpoint/2010/main" val="1613581811"/>
              </p:ext>
            </p:extLst>
          </p:nvPr>
        </p:nvGraphicFramePr>
        <p:xfrm>
          <a:off x="5563278" y="997298"/>
          <a:ext cx="5476608" cy="2487568"/>
        </p:xfrm>
        <a:graphic>
          <a:graphicData uri="http://schemas.openxmlformats.org/drawingml/2006/table">
            <a:tbl>
              <a:tblPr firstRow="1" bandRow="1">
                <a:tableStyleId>{5940675A-B579-460E-94D1-54222C63F5DA}</a:tableStyleId>
              </a:tblPr>
              <a:tblGrid>
                <a:gridCol w="885147">
                  <a:extLst>
                    <a:ext uri="{9D8B030D-6E8A-4147-A177-3AD203B41FA5}">
                      <a16:colId xmlns:a16="http://schemas.microsoft.com/office/drawing/2014/main" val="3074162851"/>
                    </a:ext>
                  </a:extLst>
                </a:gridCol>
                <a:gridCol w="2765925">
                  <a:extLst>
                    <a:ext uri="{9D8B030D-6E8A-4147-A177-3AD203B41FA5}">
                      <a16:colId xmlns:a16="http://schemas.microsoft.com/office/drawing/2014/main" val="1649027783"/>
                    </a:ext>
                  </a:extLst>
                </a:gridCol>
                <a:gridCol w="1825536">
                  <a:extLst>
                    <a:ext uri="{9D8B030D-6E8A-4147-A177-3AD203B41FA5}">
                      <a16:colId xmlns:a16="http://schemas.microsoft.com/office/drawing/2014/main" val="2038209176"/>
                    </a:ext>
                  </a:extLst>
                </a:gridCol>
              </a:tblGrid>
              <a:tr h="296588">
                <a:tc>
                  <a:txBody>
                    <a:bodyPr/>
                    <a:lstStyle/>
                    <a:p>
                      <a:pPr algn="ctr" fontAlgn="b"/>
                      <a:r>
                        <a:rPr lang="en-US" sz="900" b="0" i="0" u="none" strike="noStrike" dirty="0">
                          <a:solidFill>
                            <a:srgbClr val="FFFFFF"/>
                          </a:solidFill>
                          <a:effectLst/>
                          <a:latin typeface="Arial" panose="020B0604020202020204" pitchFamily="34" charset="0"/>
                          <a:cs typeface="+mn-cs"/>
                        </a:rPr>
                        <a:t>Segmentation</a:t>
                      </a:r>
                    </a:p>
                  </a:txBody>
                  <a:tcPr marL="9525" marR="9525" marT="9525" marB="0" anchor="b">
                    <a:solidFill>
                      <a:schemeClr val="accent2"/>
                    </a:solidFill>
                  </a:tcPr>
                </a:tc>
                <a:tc>
                  <a:txBody>
                    <a:bodyPr/>
                    <a:lstStyle/>
                    <a:p>
                      <a:pPr algn="ctr" fontAlgn="b"/>
                      <a:r>
                        <a:rPr lang="en-US" sz="900" b="0" i="0" u="none" strike="noStrike" dirty="0">
                          <a:solidFill>
                            <a:srgbClr val="FFFFFF"/>
                          </a:solidFill>
                          <a:effectLst/>
                          <a:latin typeface="Arial" panose="020B0604020202020204" pitchFamily="34" charset="0"/>
                          <a:cs typeface="+mn-cs"/>
                        </a:rPr>
                        <a:t>Description</a:t>
                      </a:r>
                    </a:p>
                  </a:txBody>
                  <a:tcPr marL="9525" marR="9525" marT="9525" marB="0" anchor="b">
                    <a:solidFill>
                      <a:schemeClr val="accent2"/>
                    </a:solidFill>
                  </a:tcPr>
                </a:tc>
                <a:tc>
                  <a:txBody>
                    <a:bodyPr/>
                    <a:lstStyle/>
                    <a:p>
                      <a:pPr algn="ctr" fontAlgn="b"/>
                      <a:r>
                        <a:rPr lang="en-US" sz="900" b="0" i="0" u="none" strike="noStrike" dirty="0">
                          <a:solidFill>
                            <a:srgbClr val="FFFFFF"/>
                          </a:solidFill>
                          <a:effectLst/>
                          <a:latin typeface="Arial" panose="020B0604020202020204" pitchFamily="34" charset="0"/>
                          <a:cs typeface="+mn-cs"/>
                        </a:rPr>
                        <a:t>Action</a:t>
                      </a:r>
                    </a:p>
                  </a:txBody>
                  <a:tcPr marL="9525" marR="9525" marT="9525" marB="0" anchor="b">
                    <a:solidFill>
                      <a:schemeClr val="accent2"/>
                    </a:solidFill>
                  </a:tcPr>
                </a:tc>
                <a:extLst>
                  <a:ext uri="{0D108BD9-81ED-4DB2-BD59-A6C34878D82A}">
                    <a16:rowId xmlns:a16="http://schemas.microsoft.com/office/drawing/2014/main" val="3409210163"/>
                  </a:ext>
                </a:extLst>
              </a:tr>
              <a:tr h="563215">
                <a:tc>
                  <a:txBody>
                    <a:bodyPr/>
                    <a:lstStyle/>
                    <a:p>
                      <a:pPr algn="ctr" fontAlgn="b"/>
                      <a:r>
                        <a:rPr lang="en-US" sz="900" b="0" i="0" u="none" strike="noStrike" dirty="0">
                          <a:solidFill>
                            <a:srgbClr val="000000"/>
                          </a:solidFill>
                          <a:effectLst/>
                          <a:latin typeface="Arial" panose="020B0604020202020204" pitchFamily="34" charset="0"/>
                          <a:cs typeface="+mn-cs"/>
                        </a:rPr>
                        <a:t>VIP / Champions</a:t>
                      </a:r>
                    </a:p>
                  </a:txBody>
                  <a:tcPr marL="9525" marR="9525" marT="9525" marB="0" anchor="b"/>
                </a:tc>
                <a:tc>
                  <a:txBody>
                    <a:bodyPr/>
                    <a:lstStyle/>
                    <a:p>
                      <a:pPr algn="ctr" fontAlgn="b"/>
                      <a:r>
                        <a:rPr lang="vi-VN" sz="900" b="0" i="0" u="none" strike="noStrike" dirty="0">
                          <a:solidFill>
                            <a:srgbClr val="000000"/>
                          </a:solidFill>
                          <a:effectLst/>
                          <a:latin typeface="Arial" panose="020B0604020202020204" pitchFamily="34" charset="0"/>
                          <a:cs typeface="+mn-cs"/>
                        </a:rPr>
                        <a:t>Khách hàng mua thường xuyên nhất và chi tiêu nhiều nhất. Họ là những người ủng hộ trung thành và có giá trị cao cho doanh nghiệp.</a:t>
                      </a:r>
                    </a:p>
                  </a:txBody>
                  <a:tcPr marL="9525" marR="9525" marT="9525" marB="0" anchor="b"/>
                </a:tc>
                <a:tc>
                  <a:txBody>
                    <a:bodyPr/>
                    <a:lstStyle/>
                    <a:p>
                      <a:pPr algn="ctr" fontAlgn="b"/>
                      <a:r>
                        <a:rPr lang="vi-VN" sz="900" b="0" i="0" u="none" strike="noStrike" dirty="0">
                          <a:solidFill>
                            <a:srgbClr val="000000"/>
                          </a:solidFill>
                          <a:effectLst/>
                          <a:latin typeface="Arial" panose="020B0604020202020204" pitchFamily="34" charset="0"/>
                          <a:cs typeface="+mn-cs"/>
                        </a:rPr>
                        <a:t>Tặng thưởng, ưu đãi độc quyền, chương trình khách hàng thân thiết đặc biệt, xin đánh giá/giới thiệu.</a:t>
                      </a:r>
                    </a:p>
                  </a:txBody>
                  <a:tcPr marL="9525" marR="9525" marT="9525" marB="0" anchor="b"/>
                </a:tc>
                <a:extLst>
                  <a:ext uri="{0D108BD9-81ED-4DB2-BD59-A6C34878D82A}">
                    <a16:rowId xmlns:a16="http://schemas.microsoft.com/office/drawing/2014/main" val="752324057"/>
                  </a:ext>
                </a:extLst>
              </a:tr>
              <a:tr h="451963">
                <a:tc>
                  <a:txBody>
                    <a:bodyPr/>
                    <a:lstStyle/>
                    <a:p>
                      <a:pPr algn="ctr" fontAlgn="b"/>
                      <a:r>
                        <a:rPr lang="en-US" sz="900" b="0" i="0" u="none" strike="noStrike">
                          <a:solidFill>
                            <a:srgbClr val="000000"/>
                          </a:solidFill>
                          <a:effectLst/>
                          <a:latin typeface="Arial" panose="020B0604020202020204" pitchFamily="34" charset="0"/>
                          <a:cs typeface="+mn-cs"/>
                        </a:rPr>
                        <a:t>Lost Customers</a:t>
                      </a:r>
                    </a:p>
                  </a:txBody>
                  <a:tcPr marL="9525" marR="9525" marT="9525" marB="0" anchor="b"/>
                </a:tc>
                <a:tc>
                  <a:txBody>
                    <a:bodyPr/>
                    <a:lstStyle/>
                    <a:p>
                      <a:pPr algn="ctr" fontAlgn="b"/>
                      <a:r>
                        <a:rPr lang="vi-VN" sz="900" b="0" i="0" u="none" strike="noStrike" dirty="0">
                          <a:solidFill>
                            <a:srgbClr val="000000"/>
                          </a:solidFill>
                          <a:effectLst/>
                          <a:latin typeface="Arial" panose="020B0604020202020204" pitchFamily="34" charset="0"/>
                          <a:cs typeface="+mn-cs"/>
                        </a:rPr>
                        <a:t>Khách hàng đã từng mua sắm nhưng đã không còn tương tác hoặc mua hàng trong một khoảng thời gian dài.</a:t>
                      </a:r>
                    </a:p>
                  </a:txBody>
                  <a:tcPr marL="9525" marR="9525" marT="9525" marB="0" anchor="b"/>
                </a:tc>
                <a:tc>
                  <a:txBody>
                    <a:bodyPr/>
                    <a:lstStyle/>
                    <a:p>
                      <a:pPr algn="ctr" fontAlgn="b"/>
                      <a:r>
                        <a:rPr lang="vi-VN" sz="900" b="0" i="0" u="none" strike="noStrike">
                          <a:solidFill>
                            <a:srgbClr val="000000"/>
                          </a:solidFill>
                          <a:effectLst/>
                          <a:latin typeface="Arial" panose="020B0604020202020204" pitchFamily="34" charset="0"/>
                          <a:cs typeface="+mn-cs"/>
                        </a:rPr>
                        <a:t>Khảo sát lý do rời đi, gửi ưu đãi mời tiếp mục mua hàng</a:t>
                      </a:r>
                    </a:p>
                  </a:txBody>
                  <a:tcPr marL="9525" marR="9525" marT="9525" marB="0" anchor="b"/>
                </a:tc>
                <a:extLst>
                  <a:ext uri="{0D108BD9-81ED-4DB2-BD59-A6C34878D82A}">
                    <a16:rowId xmlns:a16="http://schemas.microsoft.com/office/drawing/2014/main" val="3903198079"/>
                  </a:ext>
                </a:extLst>
              </a:tr>
              <a:tr h="451963">
                <a:tc>
                  <a:txBody>
                    <a:bodyPr/>
                    <a:lstStyle/>
                    <a:p>
                      <a:pPr algn="ctr" fontAlgn="b"/>
                      <a:r>
                        <a:rPr lang="en-US" sz="900" b="0" i="0" u="none" strike="noStrike">
                          <a:solidFill>
                            <a:srgbClr val="000000"/>
                          </a:solidFill>
                          <a:effectLst/>
                          <a:latin typeface="Arial" panose="020B0604020202020204" pitchFamily="34" charset="0"/>
                          <a:cs typeface="+mn-cs"/>
                        </a:rPr>
                        <a:t>New Customers</a:t>
                      </a:r>
                    </a:p>
                  </a:txBody>
                  <a:tcPr marL="9525" marR="9525" marT="9525" marB="0" anchor="b"/>
                </a:tc>
                <a:tc>
                  <a:txBody>
                    <a:bodyPr/>
                    <a:lstStyle/>
                    <a:p>
                      <a:pPr algn="ctr" fontAlgn="b"/>
                      <a:r>
                        <a:rPr lang="en-US" sz="900" b="0" i="0" u="none" strike="noStrike" dirty="0" err="1">
                          <a:solidFill>
                            <a:srgbClr val="000000"/>
                          </a:solidFill>
                          <a:effectLst/>
                          <a:latin typeface="Arial" panose="020B0604020202020204" pitchFamily="34" charset="0"/>
                          <a:cs typeface="+mn-cs"/>
                        </a:rPr>
                        <a:t>Khách</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hàng</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vừa</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thực</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hiện</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giao</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dịch</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mua</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hàng</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đầu</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tiên</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hoặc</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trong</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khoảng</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thời</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gian</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gần</a:t>
                      </a:r>
                      <a:r>
                        <a:rPr lang="en-US" sz="900" b="0" i="0" u="none" strike="noStrike" dirty="0">
                          <a:solidFill>
                            <a:srgbClr val="000000"/>
                          </a:solidFill>
                          <a:effectLst/>
                          <a:latin typeface="Arial" panose="020B0604020202020204" pitchFamily="34" charset="0"/>
                          <a:cs typeface="+mn-cs"/>
                        </a:rPr>
                        <a:t> </a:t>
                      </a:r>
                      <a:r>
                        <a:rPr lang="en-US" sz="900" b="0" i="0" u="none" strike="noStrike" dirty="0" err="1">
                          <a:solidFill>
                            <a:srgbClr val="000000"/>
                          </a:solidFill>
                          <a:effectLst/>
                          <a:latin typeface="Arial" panose="020B0604020202020204" pitchFamily="34" charset="0"/>
                          <a:cs typeface="+mn-cs"/>
                        </a:rPr>
                        <a:t>đây</a:t>
                      </a:r>
                      <a:r>
                        <a:rPr lang="en-US" sz="900" b="0" i="0" u="none" strike="noStrike" dirty="0">
                          <a:solidFill>
                            <a:srgbClr val="000000"/>
                          </a:solidFill>
                          <a:effectLst/>
                          <a:latin typeface="Arial" panose="020B0604020202020204" pitchFamily="34" charset="0"/>
                          <a:cs typeface="+mn-cs"/>
                        </a:rPr>
                        <a:t>.</a:t>
                      </a:r>
                    </a:p>
                  </a:txBody>
                  <a:tcPr marL="9525" marR="9525" marT="9525" marB="0" anchor="b"/>
                </a:tc>
                <a:tc>
                  <a:txBody>
                    <a:bodyPr/>
                    <a:lstStyle/>
                    <a:p>
                      <a:pPr algn="ctr" fontAlgn="b"/>
                      <a:r>
                        <a:rPr lang="vi-VN" sz="900" b="0" i="0" u="none" strike="noStrike" dirty="0">
                          <a:solidFill>
                            <a:srgbClr val="000000"/>
                          </a:solidFill>
                          <a:effectLst/>
                          <a:latin typeface="Arial" panose="020B0604020202020204" pitchFamily="34" charset="0"/>
                          <a:cs typeface="+mn-cs"/>
                        </a:rPr>
                        <a:t>Khuyến khích mua hàng lần hai bằng ưu đãi nhỏ, thu thập phản hồi ban đầu.</a:t>
                      </a:r>
                    </a:p>
                  </a:txBody>
                  <a:tcPr marL="9525" marR="9525" marT="9525" marB="0" anchor="b"/>
                </a:tc>
                <a:extLst>
                  <a:ext uri="{0D108BD9-81ED-4DB2-BD59-A6C34878D82A}">
                    <a16:rowId xmlns:a16="http://schemas.microsoft.com/office/drawing/2014/main" val="2779061809"/>
                  </a:ext>
                </a:extLst>
              </a:tr>
              <a:tr h="723839">
                <a:tc>
                  <a:txBody>
                    <a:bodyPr/>
                    <a:lstStyle/>
                    <a:p>
                      <a:pPr algn="ctr" fontAlgn="b"/>
                      <a:r>
                        <a:rPr lang="en-US" sz="900" b="0" i="0" u="none" strike="noStrike">
                          <a:solidFill>
                            <a:srgbClr val="000000"/>
                          </a:solidFill>
                          <a:effectLst/>
                          <a:latin typeface="Arial" panose="020B0604020202020204" pitchFamily="34" charset="0"/>
                          <a:cs typeface="+mn-cs"/>
                        </a:rPr>
                        <a:t>Loyal - Low Value</a:t>
                      </a:r>
                    </a:p>
                  </a:txBody>
                  <a:tcPr marL="9525" marR="9525" marT="9525" marB="0" anchor="b"/>
                </a:tc>
                <a:tc>
                  <a:txBody>
                    <a:bodyPr/>
                    <a:lstStyle/>
                    <a:p>
                      <a:pPr algn="ctr" fontAlgn="b"/>
                      <a:r>
                        <a:rPr lang="vi-VN" sz="900" b="0" i="0" u="none" strike="noStrike" dirty="0">
                          <a:solidFill>
                            <a:srgbClr val="000000"/>
                          </a:solidFill>
                          <a:effectLst/>
                          <a:latin typeface="Arial" panose="020B0604020202020204" pitchFamily="34" charset="0"/>
                          <a:cs typeface="+mn-cs"/>
                        </a:rPr>
                        <a:t>Khách hàng mua hàng thường xuyên nhưng giá trị mỗi đơn hàng hoặc tổng chi tiêu không cao. Họ trung thành nhưng đóng góp ít vào doanh thu.</a:t>
                      </a:r>
                    </a:p>
                  </a:txBody>
                  <a:tcPr marL="9525" marR="9525" marT="9525" marB="0" anchor="b"/>
                </a:tc>
                <a:tc>
                  <a:txBody>
                    <a:bodyPr/>
                    <a:lstStyle/>
                    <a:p>
                      <a:pPr algn="ctr" fontAlgn="b"/>
                      <a:r>
                        <a:rPr lang="vi-VN" sz="900" b="0" i="0" u="none" strike="noStrike" dirty="0">
                          <a:solidFill>
                            <a:srgbClr val="000000"/>
                          </a:solidFill>
                          <a:effectLst/>
                          <a:latin typeface="Arial" panose="020B0604020202020204" pitchFamily="34" charset="0"/>
                          <a:cs typeface="+mn-cs"/>
                        </a:rPr>
                        <a:t>Khuyến khích tăng giá trị đơn hàng (cross-sell, up-sell sản phẩm phù hợp), chương trình tích điểm đổi quà, duy trì mối quan hệ với chi phí thấp.</a:t>
                      </a:r>
                    </a:p>
                  </a:txBody>
                  <a:tcPr marL="9525" marR="9525" marT="9525" marB="0" anchor="b"/>
                </a:tc>
                <a:extLst>
                  <a:ext uri="{0D108BD9-81ED-4DB2-BD59-A6C34878D82A}">
                    <a16:rowId xmlns:a16="http://schemas.microsoft.com/office/drawing/2014/main" val="1839491010"/>
                  </a:ext>
                </a:extLst>
              </a:tr>
            </a:tbl>
          </a:graphicData>
        </a:graphic>
      </p:graphicFrame>
      <p:sp>
        <p:nvSpPr>
          <p:cNvPr id="4" name="TextBox 3">
            <a:extLst>
              <a:ext uri="{FF2B5EF4-FFF2-40B4-BE49-F238E27FC236}">
                <a16:creationId xmlns:a16="http://schemas.microsoft.com/office/drawing/2014/main" id="{64AC39CC-46D8-D2DE-276F-5BBE2D1FB962}"/>
              </a:ext>
            </a:extLst>
          </p:cNvPr>
          <p:cNvSpPr txBox="1"/>
          <p:nvPr/>
        </p:nvSpPr>
        <p:spPr>
          <a:xfrm>
            <a:off x="684034" y="6473420"/>
            <a:ext cx="1905000"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VN" sz="800" b="0" i="1" u="none" strike="noStrike" cap="none" spc="0" normalizeH="0" baseline="0" dirty="0">
                <a:ln>
                  <a:noFill/>
                </a:ln>
                <a:solidFill>
                  <a:srgbClr val="000000"/>
                </a:solidFill>
                <a:effectLst/>
                <a:uFillTx/>
                <a:latin typeface="+mn-lt"/>
                <a:ea typeface="+mn-ea"/>
                <a:sym typeface="Onest"/>
                <a:hlinkClick r:id="rId3"/>
              </a:rPr>
              <a:t>| Link Dashboard</a:t>
            </a:r>
            <a:endParaRPr kumimoji="0" lang="en-VN" sz="800" b="0" i="1" u="none" strike="noStrike" cap="none" spc="0" normalizeH="0" baseline="0" dirty="0">
              <a:ln>
                <a:noFill/>
              </a:ln>
              <a:solidFill>
                <a:srgbClr val="000000"/>
              </a:solidFill>
              <a:effectLst/>
              <a:uFillTx/>
              <a:latin typeface="+mn-lt"/>
              <a:ea typeface="+mn-ea"/>
              <a:sym typeface="Onest"/>
            </a:endParaRPr>
          </a:p>
        </p:txBody>
      </p:sp>
    </p:spTree>
    <p:extLst>
      <p:ext uri="{BB962C8B-B14F-4D97-AF65-F5344CB8AC3E}">
        <p14:creationId xmlns:p14="http://schemas.microsoft.com/office/powerpoint/2010/main" val="161105134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C76C0751-94A1-A80B-A912-1B42244F1432}"/>
            </a:ext>
          </a:extLst>
        </p:cNvPr>
        <p:cNvGrpSpPr/>
        <p:nvPr/>
      </p:nvGrpSpPr>
      <p:grpSpPr>
        <a:xfrm>
          <a:off x="0" y="0"/>
          <a:ext cx="0" cy="0"/>
          <a:chOff x="0" y="0"/>
          <a:chExt cx="0" cy="0"/>
        </a:xfrm>
      </p:grpSpPr>
      <p:sp>
        <p:nvSpPr>
          <p:cNvPr id="24" name="Rectangle: Rounded Corners 9">
            <a:extLst>
              <a:ext uri="{FF2B5EF4-FFF2-40B4-BE49-F238E27FC236}">
                <a16:creationId xmlns:a16="http://schemas.microsoft.com/office/drawing/2014/main" id="{53636B80-045F-2010-2A0E-55E1ABCC7551}"/>
              </a:ext>
            </a:extLst>
          </p:cNvPr>
          <p:cNvSpPr/>
          <p:nvPr/>
        </p:nvSpPr>
        <p:spPr>
          <a:xfrm>
            <a:off x="5893534" y="4472831"/>
            <a:ext cx="5283094" cy="2053459"/>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marL="171450" lvl="1" indent="-171450">
              <a:buFont typeface="Arial" panose="020B0604020202020204" pitchFamily="34" charset="0"/>
              <a:buChar char="•"/>
            </a:pPr>
            <a:r>
              <a:rPr lang="vi-VN" sz="1200" b="1" dirty="0">
                <a:solidFill>
                  <a:srgbClr val="623DB6"/>
                </a:solidFill>
              </a:rPr>
              <a:t>Chiến lược tăng trưởng ARPU hàng tháng: </a:t>
            </a:r>
            <a:r>
              <a:rPr lang="vi-VN" sz="1200" dirty="0">
                <a:solidFill>
                  <a:srgbClr val="623DB6"/>
                </a:solidFill>
              </a:rPr>
              <a:t>Mặc dù ARPU ổn định, nhưng mục tiêu nên là tăng trưởng. Các biện pháp Up-sell, Cross-sell, Combo sẽ trực tiếp tác động tích cực đến ARPU.</a:t>
            </a:r>
          </a:p>
          <a:p>
            <a:pPr marL="171450" lvl="2" indent="-171450">
              <a:buFont typeface="Arial" panose="020B0604020202020204" pitchFamily="34" charset="0"/>
              <a:buChar char="•"/>
            </a:pPr>
            <a:r>
              <a:rPr lang="vi-VN" sz="1200" dirty="0">
                <a:solidFill>
                  <a:srgbClr val="623DB6"/>
                </a:solidFill>
              </a:rPr>
              <a:t>Cá nhân hóa ưu đãi cho từng khách hàng dựa trên lịch sử mua hàng và ARPU hiện tại của họ.</a:t>
            </a:r>
          </a:p>
          <a:p>
            <a:pPr marL="171450" lvl="1" indent="-171450">
              <a:buFont typeface="Arial" panose="020B0604020202020204" pitchFamily="34" charset="0"/>
              <a:buChar char="•"/>
            </a:pPr>
            <a:r>
              <a:rPr lang="vi-VN" sz="1200" b="1" dirty="0">
                <a:solidFill>
                  <a:srgbClr val="623DB6"/>
                </a:solidFill>
              </a:rPr>
              <a:t>Tối ưu hóa theo địa lý:</a:t>
            </a:r>
            <a:endParaRPr lang="vi-VN" sz="1200" dirty="0">
              <a:solidFill>
                <a:srgbClr val="623DB6"/>
              </a:solidFill>
            </a:endParaRPr>
          </a:p>
          <a:p>
            <a:pPr marL="171450" lvl="2" indent="-171450">
              <a:buFont typeface="Arial" panose="020B0604020202020204" pitchFamily="34" charset="0"/>
              <a:buChar char="•"/>
            </a:pPr>
            <a:r>
              <a:rPr lang="vi-VN" sz="1200" dirty="0">
                <a:solidFill>
                  <a:srgbClr val="623DB6"/>
                </a:solidFill>
              </a:rPr>
              <a:t>Tiếp tục tập trung vào thị trường Bắc Mỹ.</a:t>
            </a:r>
          </a:p>
          <a:p>
            <a:pPr marL="171450" lvl="2" indent="-171450">
              <a:buFont typeface="Arial" panose="020B0604020202020204" pitchFamily="34" charset="0"/>
              <a:buChar char="•"/>
            </a:pPr>
            <a:r>
              <a:rPr lang="vi-VN" sz="1200" dirty="0">
                <a:solidFill>
                  <a:srgbClr val="623DB6"/>
                </a:solidFill>
              </a:rPr>
              <a:t>Nếu có kế hoạch mở rộng, cần nghiên cứu kỹ các thị trường tiềm năng khác dựa trên dữ liệu.</a:t>
            </a:r>
          </a:p>
          <a:p>
            <a:pPr marL="171450" indent="-171450">
              <a:buFontTx/>
              <a:buChar char="-"/>
            </a:pPr>
            <a:endParaRPr lang="vi-VN" sz="1200" dirty="0">
              <a:solidFill>
                <a:srgbClr val="623DB6"/>
              </a:solidFill>
            </a:endParaRPr>
          </a:p>
        </p:txBody>
      </p:sp>
      <p:sp>
        <p:nvSpPr>
          <p:cNvPr id="21" name="Rectangle: Rounded Corners 9">
            <a:extLst>
              <a:ext uri="{FF2B5EF4-FFF2-40B4-BE49-F238E27FC236}">
                <a16:creationId xmlns:a16="http://schemas.microsoft.com/office/drawing/2014/main" id="{7653EA92-8F0D-B600-A547-CE8B3F2EDA4B}"/>
              </a:ext>
            </a:extLst>
          </p:cNvPr>
          <p:cNvSpPr/>
          <p:nvPr/>
        </p:nvSpPr>
        <p:spPr>
          <a:xfrm>
            <a:off x="610439" y="905974"/>
            <a:ext cx="5158183" cy="2808070"/>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a:p>
        </p:txBody>
      </p:sp>
      <p:sp>
        <p:nvSpPr>
          <p:cNvPr id="31" name="Slide Number Placeholder 5">
            <a:extLst>
              <a:ext uri="{FF2B5EF4-FFF2-40B4-BE49-F238E27FC236}">
                <a16:creationId xmlns:a16="http://schemas.microsoft.com/office/drawing/2014/main" id="{5AB08670-099A-7FF0-DE81-BB695F2D8226}"/>
              </a:ext>
            </a:extLst>
          </p:cNvPr>
          <p:cNvSpPr txBox="1">
            <a:spLocks noGrp="1"/>
          </p:cNvSpPr>
          <p:nvPr>
            <p:ph type="sldNum" sz="quarter" idx="2"/>
          </p:nvPr>
        </p:nvSpPr>
        <p:spPr>
          <a:xfrm>
            <a:off x="11450023" y="5997575"/>
            <a:ext cx="330161" cy="57404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a:p>
        </p:txBody>
      </p:sp>
      <p:sp>
        <p:nvSpPr>
          <p:cNvPr id="58" name="TextBox 43">
            <a:extLst>
              <a:ext uri="{FF2B5EF4-FFF2-40B4-BE49-F238E27FC236}">
                <a16:creationId xmlns:a16="http://schemas.microsoft.com/office/drawing/2014/main" id="{B7095CCF-7606-4DF1-0AF8-DB8896AA8CF4}"/>
              </a:ext>
            </a:extLst>
          </p:cNvPr>
          <p:cNvSpPr txBox="1"/>
          <p:nvPr/>
        </p:nvSpPr>
        <p:spPr>
          <a:xfrm>
            <a:off x="7314039" y="816641"/>
            <a:ext cx="2793674" cy="30777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sz="1400" b="1">
                <a:solidFill>
                  <a:srgbClr val="404040"/>
                </a:solidFill>
                <a:latin typeface="+mj-lt"/>
                <a:ea typeface="+mj-ea"/>
                <a:cs typeface="+mj-cs"/>
                <a:sym typeface="Helvetica"/>
              </a:defRPr>
            </a:lvl1pPr>
          </a:lstStyle>
          <a:p>
            <a:endParaRPr dirty="0"/>
          </a:p>
        </p:txBody>
      </p:sp>
      <p:grpSp>
        <p:nvGrpSpPr>
          <p:cNvPr id="6" name="Group 5">
            <a:extLst>
              <a:ext uri="{FF2B5EF4-FFF2-40B4-BE49-F238E27FC236}">
                <a16:creationId xmlns:a16="http://schemas.microsoft.com/office/drawing/2014/main" id="{3CB45370-8776-B521-7A1E-115FF8DD9E38}"/>
              </a:ext>
            </a:extLst>
          </p:cNvPr>
          <p:cNvGrpSpPr/>
          <p:nvPr/>
        </p:nvGrpSpPr>
        <p:grpSpPr>
          <a:xfrm>
            <a:off x="684034" y="323479"/>
            <a:ext cx="2229948" cy="463140"/>
            <a:chOff x="5241013" y="1573798"/>
            <a:chExt cx="2295272" cy="463140"/>
          </a:xfrm>
        </p:grpSpPr>
        <p:sp>
          <p:nvSpPr>
            <p:cNvPr id="7" name="Rectangle: Rounded Corners 1">
              <a:extLst>
                <a:ext uri="{FF2B5EF4-FFF2-40B4-BE49-F238E27FC236}">
                  <a16:creationId xmlns:a16="http://schemas.microsoft.com/office/drawing/2014/main" id="{8936CA60-9A05-C0AC-18F6-7D9AF2D602B2}"/>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8" name="TextBox 7">
              <a:extLst>
                <a:ext uri="{FF2B5EF4-FFF2-40B4-BE49-F238E27FC236}">
                  <a16:creationId xmlns:a16="http://schemas.microsoft.com/office/drawing/2014/main" id="{B7B426A1-EBBB-B9B6-503F-CC4EEF4C59F2}"/>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dirty="0">
                  <a:solidFill>
                    <a:schemeClr val="bg1">
                      <a:lumMod val="10000"/>
                      <a:lumOff val="90000"/>
                    </a:schemeClr>
                  </a:solidFill>
                </a:rPr>
                <a:t>1. </a:t>
              </a:r>
              <a:r>
                <a:rPr lang="en-US" sz="1000" dirty="0" err="1">
                  <a:solidFill>
                    <a:schemeClr val="bg1">
                      <a:lumMod val="10000"/>
                      <a:lumOff val="90000"/>
                    </a:schemeClr>
                  </a:solidFill>
                </a:rPr>
                <a:t>Phân</a:t>
              </a:r>
              <a:r>
                <a:rPr lang="en-US" sz="1000" dirty="0">
                  <a:solidFill>
                    <a:schemeClr val="bg1">
                      <a:lumMod val="10000"/>
                      <a:lumOff val="90000"/>
                    </a:schemeClr>
                  </a:solidFill>
                </a:rPr>
                <a:t> </a:t>
              </a:r>
              <a:r>
                <a:rPr lang="en-US" sz="1000" dirty="0" err="1">
                  <a:solidFill>
                    <a:schemeClr val="bg1">
                      <a:lumMod val="10000"/>
                      <a:lumOff val="90000"/>
                    </a:schemeClr>
                  </a:solidFill>
                </a:rPr>
                <a:t>tích</a:t>
              </a:r>
              <a:r>
                <a:rPr lang="en-US" sz="1000" dirty="0">
                  <a:solidFill>
                    <a:schemeClr val="bg1">
                      <a:lumMod val="10000"/>
                      <a:lumOff val="90000"/>
                    </a:schemeClr>
                  </a:solidFill>
                </a:rPr>
                <a:t> </a:t>
              </a:r>
              <a:r>
                <a:rPr lang="en-US" sz="1000" dirty="0" err="1">
                  <a:solidFill>
                    <a:schemeClr val="bg1">
                      <a:lumMod val="10000"/>
                      <a:lumOff val="90000"/>
                    </a:schemeClr>
                  </a:solidFill>
                </a:rPr>
                <a:t>tổng</a:t>
              </a:r>
              <a:r>
                <a:rPr lang="en-US" sz="1000" dirty="0">
                  <a:solidFill>
                    <a:schemeClr val="bg1">
                      <a:lumMod val="10000"/>
                      <a:lumOff val="90000"/>
                    </a:schemeClr>
                  </a:solidFill>
                </a:rPr>
                <a:t> </a:t>
              </a:r>
              <a:r>
                <a:rPr lang="en-US" sz="1000" dirty="0" err="1">
                  <a:solidFill>
                    <a:schemeClr val="bg1">
                      <a:lumMod val="10000"/>
                      <a:lumOff val="90000"/>
                    </a:schemeClr>
                  </a:solidFill>
                </a:rPr>
                <a:t>quan</a:t>
              </a:r>
              <a:r>
                <a:rPr lang="en-US" sz="1000" dirty="0">
                  <a:solidFill>
                    <a:schemeClr val="bg1">
                      <a:lumMod val="10000"/>
                      <a:lumOff val="90000"/>
                    </a:schemeClr>
                  </a:solidFill>
                </a:rPr>
                <a:t> </a:t>
              </a:r>
              <a:r>
                <a:rPr lang="en-US" sz="1000" dirty="0" err="1">
                  <a:solidFill>
                    <a:schemeClr val="bg1">
                      <a:lumMod val="10000"/>
                      <a:lumOff val="90000"/>
                    </a:schemeClr>
                  </a:solidFill>
                </a:rPr>
                <a:t>thị</a:t>
              </a:r>
              <a:r>
                <a:rPr lang="en-US" sz="1000" dirty="0">
                  <a:solidFill>
                    <a:schemeClr val="bg1">
                      <a:lumMod val="10000"/>
                      <a:lumOff val="90000"/>
                    </a:schemeClr>
                  </a:solidFill>
                </a:rPr>
                <a:t> </a:t>
              </a:r>
              <a:r>
                <a:rPr lang="en-US" sz="1000" dirty="0" err="1">
                  <a:solidFill>
                    <a:schemeClr val="bg1">
                      <a:lumMod val="10000"/>
                      <a:lumOff val="90000"/>
                    </a:schemeClr>
                  </a:solidFill>
                </a:rPr>
                <a:t>trường</a:t>
              </a:r>
              <a:endParaRPr lang="en-US" sz="1000" dirty="0">
                <a:solidFill>
                  <a:schemeClr val="bg1">
                    <a:lumMod val="10000"/>
                    <a:lumOff val="90000"/>
                  </a:schemeClr>
                </a:solidFill>
              </a:endParaRPr>
            </a:p>
          </p:txBody>
        </p:sp>
      </p:grpSp>
      <p:grpSp>
        <p:nvGrpSpPr>
          <p:cNvPr id="11" name="Group 10">
            <a:extLst>
              <a:ext uri="{FF2B5EF4-FFF2-40B4-BE49-F238E27FC236}">
                <a16:creationId xmlns:a16="http://schemas.microsoft.com/office/drawing/2014/main" id="{7A2667CC-C5FF-FFB9-6BC4-9FD094EE972A}"/>
              </a:ext>
            </a:extLst>
          </p:cNvPr>
          <p:cNvGrpSpPr/>
          <p:nvPr/>
        </p:nvGrpSpPr>
        <p:grpSpPr>
          <a:xfrm>
            <a:off x="3441856" y="331710"/>
            <a:ext cx="2229948" cy="463140"/>
            <a:chOff x="5241013" y="1573798"/>
            <a:chExt cx="2295272" cy="463140"/>
          </a:xfrm>
        </p:grpSpPr>
        <p:sp>
          <p:nvSpPr>
            <p:cNvPr id="12" name="Rectangle: Rounded Corners 1">
              <a:extLst>
                <a:ext uri="{FF2B5EF4-FFF2-40B4-BE49-F238E27FC236}">
                  <a16:creationId xmlns:a16="http://schemas.microsoft.com/office/drawing/2014/main" id="{D9818858-6183-4419-B1EF-68309ED40206}"/>
                </a:ext>
              </a:extLst>
            </p:cNvPr>
            <p:cNvSpPr/>
            <p:nvPr/>
          </p:nvSpPr>
          <p:spPr>
            <a:xfrm rot="16200000">
              <a:off x="6157080" y="657733"/>
              <a:ext cx="463140" cy="2295270"/>
            </a:xfrm>
            <a:prstGeom prst="rect">
              <a:avLst/>
            </a:prstGeom>
            <a:solidFill>
              <a:srgbClr val="623DB6">
                <a:alpha val="85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highlight>
                  <a:srgbClr val="808080"/>
                </a:highlight>
              </a:endParaRPr>
            </a:p>
          </p:txBody>
        </p:sp>
        <p:sp>
          <p:nvSpPr>
            <p:cNvPr id="13" name="TextBox 12">
              <a:extLst>
                <a:ext uri="{FF2B5EF4-FFF2-40B4-BE49-F238E27FC236}">
                  <a16:creationId xmlns:a16="http://schemas.microsoft.com/office/drawing/2014/main" id="{A3B57723-91FF-241B-D3CA-185851EFE972}"/>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2.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khách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hàng</a:t>
              </a:r>
              <a:endParaRPr lang="en-US" sz="1000" b="1" dirty="0">
                <a:solidFill>
                  <a:schemeClr val="bg1">
                    <a:lumMod val="10000"/>
                    <a:lumOff val="90000"/>
                  </a:schemeClr>
                </a:solidFill>
                <a:sym typeface="Helvetica"/>
              </a:endParaRPr>
            </a:p>
          </p:txBody>
        </p:sp>
      </p:grpSp>
      <p:grpSp>
        <p:nvGrpSpPr>
          <p:cNvPr id="14" name="Group 13">
            <a:extLst>
              <a:ext uri="{FF2B5EF4-FFF2-40B4-BE49-F238E27FC236}">
                <a16:creationId xmlns:a16="http://schemas.microsoft.com/office/drawing/2014/main" id="{8A4FCCFD-D08E-C439-FC06-5073D449E765}"/>
              </a:ext>
            </a:extLst>
          </p:cNvPr>
          <p:cNvGrpSpPr/>
          <p:nvPr/>
        </p:nvGrpSpPr>
        <p:grpSpPr>
          <a:xfrm>
            <a:off x="6199676" y="331710"/>
            <a:ext cx="2229948" cy="463140"/>
            <a:chOff x="5241013" y="1573798"/>
            <a:chExt cx="2295272" cy="463140"/>
          </a:xfrm>
        </p:grpSpPr>
        <p:sp>
          <p:nvSpPr>
            <p:cNvPr id="15" name="Rectangle: Rounded Corners 1">
              <a:extLst>
                <a:ext uri="{FF2B5EF4-FFF2-40B4-BE49-F238E27FC236}">
                  <a16:creationId xmlns:a16="http://schemas.microsoft.com/office/drawing/2014/main" id="{688ACFDF-B509-C19B-D2C1-807007BBEB9B}"/>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6" name="TextBox 15">
              <a:extLst>
                <a:ext uri="{FF2B5EF4-FFF2-40B4-BE49-F238E27FC236}">
                  <a16:creationId xmlns:a16="http://schemas.microsoft.com/office/drawing/2014/main" id="{4CC44FCC-B48B-FAE8-9C5D-6DA925746600}"/>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3.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sản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phẩm</a:t>
              </a:r>
              <a:endParaRPr lang="en-US" sz="1000" b="1" dirty="0">
                <a:solidFill>
                  <a:schemeClr val="bg1">
                    <a:lumMod val="10000"/>
                    <a:lumOff val="90000"/>
                  </a:schemeClr>
                </a:solidFill>
                <a:sym typeface="Helvetica"/>
              </a:endParaRPr>
            </a:p>
          </p:txBody>
        </p:sp>
      </p:grpSp>
      <p:grpSp>
        <p:nvGrpSpPr>
          <p:cNvPr id="17" name="Group 16">
            <a:extLst>
              <a:ext uri="{FF2B5EF4-FFF2-40B4-BE49-F238E27FC236}">
                <a16:creationId xmlns:a16="http://schemas.microsoft.com/office/drawing/2014/main" id="{83BF9BBF-E720-69BD-A1F2-155711212A07}"/>
              </a:ext>
            </a:extLst>
          </p:cNvPr>
          <p:cNvGrpSpPr/>
          <p:nvPr/>
        </p:nvGrpSpPr>
        <p:grpSpPr>
          <a:xfrm>
            <a:off x="8998971" y="331710"/>
            <a:ext cx="2229948" cy="463140"/>
            <a:chOff x="5241013" y="1573798"/>
            <a:chExt cx="2295272" cy="463140"/>
          </a:xfrm>
        </p:grpSpPr>
        <p:sp>
          <p:nvSpPr>
            <p:cNvPr id="18" name="Rectangle: Rounded Corners 1">
              <a:extLst>
                <a:ext uri="{FF2B5EF4-FFF2-40B4-BE49-F238E27FC236}">
                  <a16:creationId xmlns:a16="http://schemas.microsoft.com/office/drawing/2014/main" id="{419136A2-5F92-F24B-870C-234F0844864E}"/>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9" name="TextBox 18">
              <a:extLst>
                <a:ext uri="{FF2B5EF4-FFF2-40B4-BE49-F238E27FC236}">
                  <a16:creationId xmlns:a16="http://schemas.microsoft.com/office/drawing/2014/main" id="{BE5A76AC-99B5-1DCF-284D-4D5B78661B04}"/>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4.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tồn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kho</a:t>
              </a:r>
              <a:endParaRPr lang="en-US" sz="1000" b="1" dirty="0">
                <a:solidFill>
                  <a:schemeClr val="bg1">
                    <a:lumMod val="10000"/>
                    <a:lumOff val="90000"/>
                  </a:schemeClr>
                </a:solidFill>
                <a:sym typeface="Helvetica"/>
              </a:endParaRPr>
            </a:p>
          </p:txBody>
        </p:sp>
      </p:grpSp>
      <p:sp>
        <p:nvSpPr>
          <p:cNvPr id="2" name="Rectangle: Rounded Corners 9">
            <a:extLst>
              <a:ext uri="{FF2B5EF4-FFF2-40B4-BE49-F238E27FC236}">
                <a16:creationId xmlns:a16="http://schemas.microsoft.com/office/drawing/2014/main" id="{F9E7DE04-AA80-3FEF-3B87-EA1E4A99E8F7}"/>
              </a:ext>
            </a:extLst>
          </p:cNvPr>
          <p:cNvSpPr/>
          <p:nvPr/>
        </p:nvSpPr>
        <p:spPr>
          <a:xfrm>
            <a:off x="5893534" y="905974"/>
            <a:ext cx="5158183" cy="3461062"/>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a:p>
        </p:txBody>
      </p:sp>
      <p:pic>
        <p:nvPicPr>
          <p:cNvPr id="3" name="Picture 2">
            <a:extLst>
              <a:ext uri="{FF2B5EF4-FFF2-40B4-BE49-F238E27FC236}">
                <a16:creationId xmlns:a16="http://schemas.microsoft.com/office/drawing/2014/main" id="{888F7DD9-4AA4-F7B5-6D46-87F474EE105C}"/>
              </a:ext>
            </a:extLst>
          </p:cNvPr>
          <p:cNvPicPr>
            <a:picLocks noChangeAspect="1"/>
          </p:cNvPicPr>
          <p:nvPr/>
        </p:nvPicPr>
        <p:blipFill>
          <a:blip r:embed="rId2"/>
          <a:stretch>
            <a:fillRect/>
          </a:stretch>
        </p:blipFill>
        <p:spPr>
          <a:xfrm>
            <a:off x="1012728" y="1011769"/>
            <a:ext cx="4570839" cy="2702275"/>
          </a:xfrm>
          <a:prstGeom prst="rect">
            <a:avLst/>
          </a:prstGeom>
        </p:spPr>
      </p:pic>
      <p:pic>
        <p:nvPicPr>
          <p:cNvPr id="4" name="Picture 3">
            <a:extLst>
              <a:ext uri="{FF2B5EF4-FFF2-40B4-BE49-F238E27FC236}">
                <a16:creationId xmlns:a16="http://schemas.microsoft.com/office/drawing/2014/main" id="{A924C194-0C14-A52C-0269-CD470BF84C41}"/>
              </a:ext>
            </a:extLst>
          </p:cNvPr>
          <p:cNvPicPr>
            <a:picLocks noChangeAspect="1"/>
          </p:cNvPicPr>
          <p:nvPr/>
        </p:nvPicPr>
        <p:blipFill>
          <a:blip r:embed="rId3"/>
          <a:stretch>
            <a:fillRect/>
          </a:stretch>
        </p:blipFill>
        <p:spPr>
          <a:xfrm>
            <a:off x="5985856" y="970528"/>
            <a:ext cx="4930500" cy="3252825"/>
          </a:xfrm>
          <a:prstGeom prst="rect">
            <a:avLst/>
          </a:prstGeom>
        </p:spPr>
      </p:pic>
      <p:sp>
        <p:nvSpPr>
          <p:cNvPr id="10" name="Rectangle: Rounded Corners 9">
            <a:extLst>
              <a:ext uri="{FF2B5EF4-FFF2-40B4-BE49-F238E27FC236}">
                <a16:creationId xmlns:a16="http://schemas.microsoft.com/office/drawing/2014/main" id="{BC597E56-1ACB-8890-36CA-84D417E31530}"/>
              </a:ext>
            </a:extLst>
          </p:cNvPr>
          <p:cNvSpPr/>
          <p:nvPr/>
        </p:nvSpPr>
        <p:spPr>
          <a:xfrm>
            <a:off x="684034" y="3833399"/>
            <a:ext cx="5074139" cy="2704351"/>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a:p>
        </p:txBody>
      </p:sp>
      <p:pic>
        <p:nvPicPr>
          <p:cNvPr id="20" name="Picture 19">
            <a:extLst>
              <a:ext uri="{FF2B5EF4-FFF2-40B4-BE49-F238E27FC236}">
                <a16:creationId xmlns:a16="http://schemas.microsoft.com/office/drawing/2014/main" id="{754BBC07-1139-1DEB-34B7-4DB957F1C378}"/>
              </a:ext>
            </a:extLst>
          </p:cNvPr>
          <p:cNvPicPr>
            <a:picLocks noChangeAspect="1"/>
          </p:cNvPicPr>
          <p:nvPr/>
        </p:nvPicPr>
        <p:blipFill>
          <a:blip r:embed="rId4"/>
          <a:stretch>
            <a:fillRect/>
          </a:stretch>
        </p:blipFill>
        <p:spPr>
          <a:xfrm>
            <a:off x="878152" y="4327907"/>
            <a:ext cx="2476980" cy="2070733"/>
          </a:xfrm>
          <a:prstGeom prst="rect">
            <a:avLst/>
          </a:prstGeom>
        </p:spPr>
      </p:pic>
      <p:sp>
        <p:nvSpPr>
          <p:cNvPr id="23" name="TextBox 44">
            <a:extLst>
              <a:ext uri="{FF2B5EF4-FFF2-40B4-BE49-F238E27FC236}">
                <a16:creationId xmlns:a16="http://schemas.microsoft.com/office/drawing/2014/main" id="{0D9F0913-D3A5-A41F-57D7-B477A6816C63}"/>
              </a:ext>
            </a:extLst>
          </p:cNvPr>
          <p:cNvSpPr txBox="1"/>
          <p:nvPr/>
        </p:nvSpPr>
        <p:spPr>
          <a:xfrm>
            <a:off x="3623234" y="4881829"/>
            <a:ext cx="1960333" cy="61773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nSpc>
                <a:spcPct val="150000"/>
              </a:lnSpc>
              <a:defRPr sz="1200">
                <a:solidFill>
                  <a:srgbClr val="404040"/>
                </a:solidFill>
              </a:defRPr>
            </a:lvl1pPr>
          </a:lstStyle>
          <a:p>
            <a:r>
              <a:rPr lang="vi-VN" dirty="0"/>
              <a:t>Doanh số đến chủ yếu từ khách hàng B2C</a:t>
            </a:r>
          </a:p>
        </p:txBody>
      </p:sp>
      <p:sp>
        <p:nvSpPr>
          <p:cNvPr id="5" name="TextBox 4">
            <a:extLst>
              <a:ext uri="{FF2B5EF4-FFF2-40B4-BE49-F238E27FC236}">
                <a16:creationId xmlns:a16="http://schemas.microsoft.com/office/drawing/2014/main" id="{06F9B5E2-ED8D-83DC-0546-A290A7F7EE0E}"/>
              </a:ext>
            </a:extLst>
          </p:cNvPr>
          <p:cNvSpPr txBox="1"/>
          <p:nvPr/>
        </p:nvSpPr>
        <p:spPr>
          <a:xfrm>
            <a:off x="684034" y="6473420"/>
            <a:ext cx="1905000"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VN" sz="800" b="0" i="1" u="none" strike="noStrike" cap="none" spc="0" normalizeH="0" baseline="0" dirty="0">
                <a:ln>
                  <a:noFill/>
                </a:ln>
                <a:solidFill>
                  <a:srgbClr val="000000"/>
                </a:solidFill>
                <a:effectLst/>
                <a:uFillTx/>
                <a:latin typeface="+mn-lt"/>
                <a:ea typeface="+mn-ea"/>
                <a:sym typeface="Onest"/>
                <a:hlinkClick r:id="rId5"/>
              </a:rPr>
              <a:t>| Link Dashboard</a:t>
            </a:r>
            <a:endParaRPr kumimoji="0" lang="en-VN" sz="800" b="0" i="1" u="none" strike="noStrike" cap="none" spc="0" normalizeH="0" baseline="0" dirty="0">
              <a:ln>
                <a:noFill/>
              </a:ln>
              <a:solidFill>
                <a:srgbClr val="000000"/>
              </a:solidFill>
              <a:effectLst/>
              <a:uFillTx/>
              <a:latin typeface="+mn-lt"/>
              <a:ea typeface="+mn-ea"/>
              <a:sym typeface="Onest"/>
            </a:endParaRPr>
          </a:p>
        </p:txBody>
      </p:sp>
    </p:spTree>
    <p:extLst>
      <p:ext uri="{BB962C8B-B14F-4D97-AF65-F5344CB8AC3E}">
        <p14:creationId xmlns:p14="http://schemas.microsoft.com/office/powerpoint/2010/main" val="128659343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3E1215EB-A2EA-26DB-54BA-A1A76FB852F7}"/>
            </a:ext>
          </a:extLst>
        </p:cNvPr>
        <p:cNvGrpSpPr/>
        <p:nvPr/>
      </p:nvGrpSpPr>
      <p:grpSpPr>
        <a:xfrm>
          <a:off x="0" y="0"/>
          <a:ext cx="0" cy="0"/>
          <a:chOff x="0" y="0"/>
          <a:chExt cx="0" cy="0"/>
        </a:xfrm>
      </p:grpSpPr>
      <p:sp>
        <p:nvSpPr>
          <p:cNvPr id="24" name="Rectangle: Rounded Corners 9">
            <a:extLst>
              <a:ext uri="{FF2B5EF4-FFF2-40B4-BE49-F238E27FC236}">
                <a16:creationId xmlns:a16="http://schemas.microsoft.com/office/drawing/2014/main" id="{929D726D-B595-468A-68A4-927DA49F274C}"/>
              </a:ext>
            </a:extLst>
          </p:cNvPr>
          <p:cNvSpPr/>
          <p:nvPr/>
        </p:nvSpPr>
        <p:spPr>
          <a:xfrm>
            <a:off x="5659281" y="3728691"/>
            <a:ext cx="5508415" cy="2393701"/>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r>
              <a:rPr lang="vi-VN" sz="1000" b="1" dirty="0">
                <a:solidFill>
                  <a:srgbClr val="623DB6"/>
                </a:solidFill>
              </a:rPr>
              <a:t>Recommendations cho Doanh nghiệp:</a:t>
            </a:r>
            <a:endParaRPr lang="vi-VN" sz="1000" dirty="0">
              <a:solidFill>
                <a:srgbClr val="623DB6"/>
              </a:solidFill>
            </a:endParaRPr>
          </a:p>
          <a:p>
            <a:pPr marL="171450" lvl="1" indent="-171450">
              <a:buFont typeface="Arial" panose="020B0604020202020204" pitchFamily="34" charset="0"/>
              <a:buChar char="•"/>
            </a:pPr>
            <a:r>
              <a:rPr lang="vi-VN" sz="1000" b="1" dirty="0">
                <a:solidFill>
                  <a:srgbClr val="623DB6"/>
                </a:solidFill>
              </a:rPr>
              <a:t>Tập trung tăng Avg Product Per Order (APPO):</a:t>
            </a:r>
            <a:endParaRPr lang="vi-VN" sz="1000" dirty="0">
              <a:solidFill>
                <a:srgbClr val="623DB6"/>
              </a:solidFill>
            </a:endParaRPr>
          </a:p>
          <a:p>
            <a:pPr marL="171450" lvl="2" indent="-171450">
              <a:buFont typeface="Arial" panose="020B0604020202020204" pitchFamily="34" charset="0"/>
              <a:buChar char="•"/>
            </a:pPr>
            <a:r>
              <a:rPr lang="vi-VN" sz="1000" b="1" dirty="0">
                <a:solidFill>
                  <a:srgbClr val="623DB6"/>
                </a:solidFill>
              </a:rPr>
              <a:t>Tạo Combo/Bundle hấp dẫn:</a:t>
            </a:r>
            <a:r>
              <a:rPr lang="vi-VN" sz="1000" dirty="0">
                <a:solidFill>
                  <a:srgbClr val="623DB6"/>
                </a:solidFill>
              </a:rPr>
              <a:t> Đặc biệt với các sản phẩm "SET" hoặc các sản phẩm thường được mua kèm nhau.</a:t>
            </a:r>
          </a:p>
          <a:p>
            <a:pPr marL="171450" lvl="1" indent="-171450">
              <a:buFont typeface="Arial" panose="020B0604020202020204" pitchFamily="34" charset="0"/>
              <a:buChar char="•"/>
            </a:pPr>
            <a:r>
              <a:rPr lang="vi-VN" sz="1000" b="1" dirty="0">
                <a:solidFill>
                  <a:srgbClr val="623DB6"/>
                </a:solidFill>
              </a:rPr>
              <a:t>Tối ưu hóa danh mục sản phẩm dựa trên Pareto:</a:t>
            </a:r>
            <a:endParaRPr lang="vi-VN" sz="1000" dirty="0">
              <a:solidFill>
                <a:srgbClr val="623DB6"/>
              </a:solidFill>
            </a:endParaRPr>
          </a:p>
          <a:p>
            <a:pPr marL="171450" lvl="2" indent="-171450">
              <a:buFont typeface="Arial" panose="020B0604020202020204" pitchFamily="34" charset="0"/>
              <a:buChar char="•"/>
            </a:pPr>
            <a:r>
              <a:rPr lang="vi-VN" sz="1000" b="1" dirty="0">
                <a:solidFill>
                  <a:srgbClr val="623DB6"/>
                </a:solidFill>
              </a:rPr>
              <a:t>Đầu tư vào các sản phẩm chủ lực (KURTA SET, KURTA, SET, DRESS và các Design No. bán chạy):</a:t>
            </a:r>
            <a:r>
              <a:rPr lang="vi-VN" sz="1000" dirty="0">
                <a:solidFill>
                  <a:srgbClr val="623DB6"/>
                </a:solidFill>
              </a:rPr>
              <a:t> Đảm bảo luôn có sẵn hàng, chất lượng tốt, marketing hiệu quả.</a:t>
            </a:r>
          </a:p>
          <a:p>
            <a:pPr marL="171450" lvl="2" indent="-171450">
              <a:buFont typeface="Arial" panose="020B0604020202020204" pitchFamily="34" charset="0"/>
              <a:buChar char="•"/>
            </a:pPr>
            <a:r>
              <a:rPr lang="vi-VN" sz="1000" b="1" dirty="0">
                <a:solidFill>
                  <a:srgbClr val="623DB6"/>
                </a:solidFill>
              </a:rPr>
              <a:t>Phân tích các sản phẩm/danh mục ở bán thấp:</a:t>
            </a:r>
            <a:r>
              <a:rPr lang="vi-VN" sz="1000" dirty="0">
                <a:solidFill>
                  <a:srgbClr val="623DB6"/>
                </a:solidFill>
              </a:rPr>
              <a:t> Xem xét lý do doanh thu thấp (chất lượng, giá, marketing, không phù hợp thị hiếu?). Có thể cần cải thiện hoặc xem xét loại bỏ để tối ưu nguồn lực.</a:t>
            </a:r>
            <a:br>
              <a:rPr lang="vi-VN" sz="1000" dirty="0">
                <a:solidFill>
                  <a:srgbClr val="623DB6"/>
                </a:solidFill>
              </a:rPr>
            </a:br>
            <a:endParaRPr lang="vi-VN" sz="1000" dirty="0">
              <a:solidFill>
                <a:srgbClr val="623DB6"/>
              </a:solidFill>
            </a:endParaRPr>
          </a:p>
        </p:txBody>
      </p:sp>
      <p:sp>
        <p:nvSpPr>
          <p:cNvPr id="22" name="Rectangle: Rounded Corners 9">
            <a:extLst>
              <a:ext uri="{FF2B5EF4-FFF2-40B4-BE49-F238E27FC236}">
                <a16:creationId xmlns:a16="http://schemas.microsoft.com/office/drawing/2014/main" id="{CB728735-F82E-FBC5-F087-78E9620E9E4A}"/>
              </a:ext>
            </a:extLst>
          </p:cNvPr>
          <p:cNvSpPr/>
          <p:nvPr/>
        </p:nvSpPr>
        <p:spPr>
          <a:xfrm>
            <a:off x="5662158" y="905974"/>
            <a:ext cx="5508415" cy="2733384"/>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a:p>
        </p:txBody>
      </p:sp>
      <p:sp>
        <p:nvSpPr>
          <p:cNvPr id="21" name="Rectangle: Rounded Corners 9">
            <a:extLst>
              <a:ext uri="{FF2B5EF4-FFF2-40B4-BE49-F238E27FC236}">
                <a16:creationId xmlns:a16="http://schemas.microsoft.com/office/drawing/2014/main" id="{73C7DFCE-91C3-55C4-5F5E-A7083E87527B}"/>
              </a:ext>
            </a:extLst>
          </p:cNvPr>
          <p:cNvSpPr/>
          <p:nvPr/>
        </p:nvSpPr>
        <p:spPr>
          <a:xfrm>
            <a:off x="610439" y="905973"/>
            <a:ext cx="4952106" cy="5216419"/>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a:p>
        </p:txBody>
      </p:sp>
      <p:sp>
        <p:nvSpPr>
          <p:cNvPr id="31" name="Slide Number Placeholder 5">
            <a:extLst>
              <a:ext uri="{FF2B5EF4-FFF2-40B4-BE49-F238E27FC236}">
                <a16:creationId xmlns:a16="http://schemas.microsoft.com/office/drawing/2014/main" id="{18C04CCB-FD98-B011-D0BF-A79ABB7BA76C}"/>
              </a:ext>
            </a:extLst>
          </p:cNvPr>
          <p:cNvSpPr txBox="1">
            <a:spLocks noGrp="1"/>
          </p:cNvSpPr>
          <p:nvPr>
            <p:ph type="sldNum" sz="quarter" idx="2"/>
          </p:nvPr>
        </p:nvSpPr>
        <p:spPr>
          <a:xfrm>
            <a:off x="11450023" y="5997575"/>
            <a:ext cx="330161" cy="57404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a:t>
            </a:fld>
            <a:endParaRPr/>
          </a:p>
        </p:txBody>
      </p:sp>
      <p:sp>
        <p:nvSpPr>
          <p:cNvPr id="58" name="TextBox 43">
            <a:extLst>
              <a:ext uri="{FF2B5EF4-FFF2-40B4-BE49-F238E27FC236}">
                <a16:creationId xmlns:a16="http://schemas.microsoft.com/office/drawing/2014/main" id="{EF794AFE-72F1-EDB7-D3E1-BCEE22B88E9B}"/>
              </a:ext>
            </a:extLst>
          </p:cNvPr>
          <p:cNvSpPr txBox="1"/>
          <p:nvPr/>
        </p:nvSpPr>
        <p:spPr>
          <a:xfrm>
            <a:off x="7314039" y="816641"/>
            <a:ext cx="2793674" cy="30777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sz="1400" b="1">
                <a:solidFill>
                  <a:srgbClr val="404040"/>
                </a:solidFill>
                <a:latin typeface="+mj-lt"/>
                <a:ea typeface="+mj-ea"/>
                <a:cs typeface="+mj-cs"/>
                <a:sym typeface="Helvetica"/>
              </a:defRPr>
            </a:lvl1pPr>
          </a:lstStyle>
          <a:p>
            <a:endParaRPr dirty="0"/>
          </a:p>
        </p:txBody>
      </p:sp>
      <p:sp>
        <p:nvSpPr>
          <p:cNvPr id="59" name="TextBox 44">
            <a:extLst>
              <a:ext uri="{FF2B5EF4-FFF2-40B4-BE49-F238E27FC236}">
                <a16:creationId xmlns:a16="http://schemas.microsoft.com/office/drawing/2014/main" id="{D6AE7019-6123-1533-2227-5DF793EDDA1C}"/>
              </a:ext>
            </a:extLst>
          </p:cNvPr>
          <p:cNvSpPr txBox="1"/>
          <p:nvPr/>
        </p:nvSpPr>
        <p:spPr>
          <a:xfrm>
            <a:off x="707175" y="4075444"/>
            <a:ext cx="4952106" cy="144872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nSpc>
                <a:spcPct val="150000"/>
              </a:lnSpc>
              <a:defRPr sz="1200">
                <a:solidFill>
                  <a:srgbClr val="404040"/>
                </a:solidFill>
              </a:defRPr>
            </a:lvl1pPr>
          </a:lstStyle>
          <a:p>
            <a:r>
              <a:rPr lang="vi-VN" dirty="0"/>
              <a:t>Trung bình mỗi đơn hàng chỉ có 1.0 sản phẩm. </a:t>
            </a:r>
            <a:r>
              <a:rPr lang="vi-VN" b="1" dirty="0"/>
              <a:t>Đây là một điểm yếu lớn</a:t>
            </a:r>
            <a:r>
              <a:rPr lang="vi-VN" dirty="0"/>
              <a:t>, cho thấy doanh nghiệp chưa khai thác được việc bán nhiều sản phẩm trong một đơn hàng. Tuy nhiên, các danh mục dẫn đầu về doanh thu là </a:t>
            </a:r>
            <a:r>
              <a:rPr lang="en-US" dirty="0"/>
              <a:t>"KURTA SET", "KURTA", "SET", "DRESS” </a:t>
            </a:r>
          </a:p>
          <a:p>
            <a:r>
              <a:rPr lang="en-US" dirty="0"/>
              <a:t>=&gt; </a:t>
            </a:r>
            <a:r>
              <a:rPr lang="en-US" dirty="0" err="1"/>
              <a:t>Cần</a:t>
            </a:r>
            <a:r>
              <a:rPr lang="en-US" dirty="0"/>
              <a:t> </a:t>
            </a:r>
            <a:r>
              <a:rPr lang="en-US" dirty="0" err="1"/>
              <a:t>xem</a:t>
            </a:r>
            <a:r>
              <a:rPr lang="en-US" dirty="0"/>
              <a:t> </a:t>
            </a:r>
            <a:r>
              <a:rPr lang="en-US" dirty="0" err="1"/>
              <a:t>thực</a:t>
            </a:r>
            <a:r>
              <a:rPr lang="en-US" dirty="0"/>
              <a:t> </a:t>
            </a:r>
            <a:r>
              <a:rPr lang="en-US" dirty="0" err="1"/>
              <a:t>sự</a:t>
            </a:r>
            <a:r>
              <a:rPr lang="en-US" dirty="0"/>
              <a:t> </a:t>
            </a:r>
            <a:r>
              <a:rPr lang="en-US" dirty="0" err="1"/>
              <a:t>đây</a:t>
            </a:r>
            <a:r>
              <a:rPr lang="en-US" dirty="0"/>
              <a:t> </a:t>
            </a:r>
            <a:r>
              <a:rPr lang="en-US" dirty="0" err="1"/>
              <a:t>là</a:t>
            </a:r>
            <a:r>
              <a:rPr lang="en-US" dirty="0"/>
              <a:t> </a:t>
            </a:r>
            <a:r>
              <a:rPr lang="en-US" dirty="0" err="1"/>
              <a:t>các</a:t>
            </a:r>
            <a:r>
              <a:rPr lang="en-US" dirty="0"/>
              <a:t> </a:t>
            </a:r>
            <a:r>
              <a:rPr lang="en-US" dirty="0" err="1"/>
              <a:t>sản</a:t>
            </a:r>
            <a:r>
              <a:rPr lang="en-US" dirty="0"/>
              <a:t> </a:t>
            </a:r>
            <a:r>
              <a:rPr lang="en-US" dirty="0" err="1"/>
              <a:t>phẩm</a:t>
            </a:r>
            <a:r>
              <a:rPr lang="en-US" dirty="0"/>
              <a:t> </a:t>
            </a:r>
            <a:r>
              <a:rPr lang="en-US" dirty="0" err="1"/>
              <a:t>bán</a:t>
            </a:r>
            <a:r>
              <a:rPr lang="en-US" dirty="0"/>
              <a:t> </a:t>
            </a:r>
            <a:r>
              <a:rPr lang="en-US" dirty="0" err="1"/>
              <a:t>ở</a:t>
            </a:r>
            <a:r>
              <a:rPr lang="en-US" dirty="0"/>
              <a:t> </a:t>
            </a:r>
            <a:r>
              <a:rPr lang="en-US" dirty="0" err="1"/>
              <a:t>dạng</a:t>
            </a:r>
            <a:r>
              <a:rPr lang="en-US" dirty="0"/>
              <a:t> </a:t>
            </a:r>
            <a:r>
              <a:rPr lang="en-US" dirty="0" err="1"/>
              <a:t>gì</a:t>
            </a:r>
            <a:r>
              <a:rPr lang="en-US" dirty="0"/>
              <a:t> (set hay single)</a:t>
            </a:r>
            <a:endParaRPr lang="vi-VN" dirty="0"/>
          </a:p>
        </p:txBody>
      </p:sp>
      <p:grpSp>
        <p:nvGrpSpPr>
          <p:cNvPr id="6" name="Group 5">
            <a:extLst>
              <a:ext uri="{FF2B5EF4-FFF2-40B4-BE49-F238E27FC236}">
                <a16:creationId xmlns:a16="http://schemas.microsoft.com/office/drawing/2014/main" id="{06C0125F-2C62-3AD5-21B3-1D7E234374A8}"/>
              </a:ext>
            </a:extLst>
          </p:cNvPr>
          <p:cNvGrpSpPr/>
          <p:nvPr/>
        </p:nvGrpSpPr>
        <p:grpSpPr>
          <a:xfrm>
            <a:off x="684034" y="323479"/>
            <a:ext cx="2229948" cy="463140"/>
            <a:chOff x="5241013" y="1573798"/>
            <a:chExt cx="2295272" cy="463140"/>
          </a:xfrm>
        </p:grpSpPr>
        <p:sp>
          <p:nvSpPr>
            <p:cNvPr id="7" name="Rectangle: Rounded Corners 1">
              <a:extLst>
                <a:ext uri="{FF2B5EF4-FFF2-40B4-BE49-F238E27FC236}">
                  <a16:creationId xmlns:a16="http://schemas.microsoft.com/office/drawing/2014/main" id="{590454ED-CFD7-1D41-04F8-2C75E096AF6E}"/>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8" name="TextBox 7">
              <a:extLst>
                <a:ext uri="{FF2B5EF4-FFF2-40B4-BE49-F238E27FC236}">
                  <a16:creationId xmlns:a16="http://schemas.microsoft.com/office/drawing/2014/main" id="{A41B254A-439D-131A-6139-E964901EEADF}"/>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dirty="0">
                  <a:solidFill>
                    <a:schemeClr val="bg1">
                      <a:lumMod val="10000"/>
                      <a:lumOff val="90000"/>
                    </a:schemeClr>
                  </a:solidFill>
                </a:rPr>
                <a:t>1. </a:t>
              </a:r>
              <a:r>
                <a:rPr lang="en-US" sz="1000" dirty="0" err="1">
                  <a:solidFill>
                    <a:schemeClr val="bg1">
                      <a:lumMod val="10000"/>
                      <a:lumOff val="90000"/>
                    </a:schemeClr>
                  </a:solidFill>
                </a:rPr>
                <a:t>Phân</a:t>
              </a:r>
              <a:r>
                <a:rPr lang="en-US" sz="1000" dirty="0">
                  <a:solidFill>
                    <a:schemeClr val="bg1">
                      <a:lumMod val="10000"/>
                      <a:lumOff val="90000"/>
                    </a:schemeClr>
                  </a:solidFill>
                </a:rPr>
                <a:t> </a:t>
              </a:r>
              <a:r>
                <a:rPr lang="en-US" sz="1000" dirty="0" err="1">
                  <a:solidFill>
                    <a:schemeClr val="bg1">
                      <a:lumMod val="10000"/>
                      <a:lumOff val="90000"/>
                    </a:schemeClr>
                  </a:solidFill>
                </a:rPr>
                <a:t>tích</a:t>
              </a:r>
              <a:r>
                <a:rPr lang="en-US" sz="1000" dirty="0">
                  <a:solidFill>
                    <a:schemeClr val="bg1">
                      <a:lumMod val="10000"/>
                      <a:lumOff val="90000"/>
                    </a:schemeClr>
                  </a:solidFill>
                </a:rPr>
                <a:t> </a:t>
              </a:r>
              <a:r>
                <a:rPr lang="en-US" sz="1000" dirty="0" err="1">
                  <a:solidFill>
                    <a:schemeClr val="bg1">
                      <a:lumMod val="10000"/>
                      <a:lumOff val="90000"/>
                    </a:schemeClr>
                  </a:solidFill>
                </a:rPr>
                <a:t>tổng</a:t>
              </a:r>
              <a:r>
                <a:rPr lang="en-US" sz="1000" dirty="0">
                  <a:solidFill>
                    <a:schemeClr val="bg1">
                      <a:lumMod val="10000"/>
                      <a:lumOff val="90000"/>
                    </a:schemeClr>
                  </a:solidFill>
                </a:rPr>
                <a:t> </a:t>
              </a:r>
              <a:r>
                <a:rPr lang="en-US" sz="1000" dirty="0" err="1">
                  <a:solidFill>
                    <a:schemeClr val="bg1">
                      <a:lumMod val="10000"/>
                      <a:lumOff val="90000"/>
                    </a:schemeClr>
                  </a:solidFill>
                </a:rPr>
                <a:t>quan</a:t>
              </a:r>
              <a:r>
                <a:rPr lang="en-US" sz="1000" dirty="0">
                  <a:solidFill>
                    <a:schemeClr val="bg1">
                      <a:lumMod val="10000"/>
                      <a:lumOff val="90000"/>
                    </a:schemeClr>
                  </a:solidFill>
                </a:rPr>
                <a:t> </a:t>
              </a:r>
              <a:r>
                <a:rPr lang="en-US" sz="1000" dirty="0" err="1">
                  <a:solidFill>
                    <a:schemeClr val="bg1">
                      <a:lumMod val="10000"/>
                      <a:lumOff val="90000"/>
                    </a:schemeClr>
                  </a:solidFill>
                </a:rPr>
                <a:t>thị</a:t>
              </a:r>
              <a:r>
                <a:rPr lang="en-US" sz="1000" dirty="0">
                  <a:solidFill>
                    <a:schemeClr val="bg1">
                      <a:lumMod val="10000"/>
                      <a:lumOff val="90000"/>
                    </a:schemeClr>
                  </a:solidFill>
                </a:rPr>
                <a:t> </a:t>
              </a:r>
              <a:r>
                <a:rPr lang="en-US" sz="1000" dirty="0" err="1">
                  <a:solidFill>
                    <a:schemeClr val="bg1">
                      <a:lumMod val="10000"/>
                      <a:lumOff val="90000"/>
                    </a:schemeClr>
                  </a:solidFill>
                </a:rPr>
                <a:t>trường</a:t>
              </a:r>
              <a:endParaRPr lang="en-US" sz="1000" dirty="0">
                <a:solidFill>
                  <a:schemeClr val="bg1">
                    <a:lumMod val="10000"/>
                    <a:lumOff val="90000"/>
                  </a:schemeClr>
                </a:solidFill>
              </a:endParaRPr>
            </a:p>
          </p:txBody>
        </p:sp>
      </p:grpSp>
      <p:grpSp>
        <p:nvGrpSpPr>
          <p:cNvPr id="11" name="Group 10">
            <a:extLst>
              <a:ext uri="{FF2B5EF4-FFF2-40B4-BE49-F238E27FC236}">
                <a16:creationId xmlns:a16="http://schemas.microsoft.com/office/drawing/2014/main" id="{40937BBB-800C-ABE5-59D8-A8E484E7B6FF}"/>
              </a:ext>
            </a:extLst>
          </p:cNvPr>
          <p:cNvGrpSpPr/>
          <p:nvPr/>
        </p:nvGrpSpPr>
        <p:grpSpPr>
          <a:xfrm>
            <a:off x="3441856" y="331710"/>
            <a:ext cx="2229948" cy="463140"/>
            <a:chOff x="5241013" y="1573798"/>
            <a:chExt cx="2295272" cy="463140"/>
          </a:xfrm>
        </p:grpSpPr>
        <p:sp>
          <p:nvSpPr>
            <p:cNvPr id="12" name="Rectangle: Rounded Corners 1">
              <a:extLst>
                <a:ext uri="{FF2B5EF4-FFF2-40B4-BE49-F238E27FC236}">
                  <a16:creationId xmlns:a16="http://schemas.microsoft.com/office/drawing/2014/main" id="{7EBDD7F7-10E1-972D-6A09-CB689E560C91}"/>
                </a:ext>
              </a:extLst>
            </p:cNvPr>
            <p:cNvSpPr/>
            <p:nvPr/>
          </p:nvSpPr>
          <p:spPr>
            <a:xfrm rot="16200000">
              <a:off x="6157080" y="657733"/>
              <a:ext cx="463140" cy="2295270"/>
            </a:xfrm>
            <a:prstGeom prst="rect">
              <a:avLst/>
            </a:prstGeom>
            <a:solidFill>
              <a:schemeClr val="tx2">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highlight>
                  <a:srgbClr val="808080"/>
                </a:highlight>
              </a:endParaRPr>
            </a:p>
          </p:txBody>
        </p:sp>
        <p:sp>
          <p:nvSpPr>
            <p:cNvPr id="13" name="TextBox 12">
              <a:extLst>
                <a:ext uri="{FF2B5EF4-FFF2-40B4-BE49-F238E27FC236}">
                  <a16:creationId xmlns:a16="http://schemas.microsoft.com/office/drawing/2014/main" id="{CC10A3AC-0A2E-AA0A-075A-ACC50D0564B2}"/>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2.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khách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hàng</a:t>
              </a:r>
              <a:endParaRPr lang="en-US" sz="1000" b="1" dirty="0">
                <a:solidFill>
                  <a:schemeClr val="bg1">
                    <a:lumMod val="10000"/>
                    <a:lumOff val="90000"/>
                  </a:schemeClr>
                </a:solidFill>
                <a:sym typeface="Helvetica"/>
              </a:endParaRPr>
            </a:p>
          </p:txBody>
        </p:sp>
      </p:grpSp>
      <p:grpSp>
        <p:nvGrpSpPr>
          <p:cNvPr id="14" name="Group 13">
            <a:extLst>
              <a:ext uri="{FF2B5EF4-FFF2-40B4-BE49-F238E27FC236}">
                <a16:creationId xmlns:a16="http://schemas.microsoft.com/office/drawing/2014/main" id="{6E8B8779-B220-4061-F145-E98354448432}"/>
              </a:ext>
            </a:extLst>
          </p:cNvPr>
          <p:cNvGrpSpPr/>
          <p:nvPr/>
        </p:nvGrpSpPr>
        <p:grpSpPr>
          <a:xfrm>
            <a:off x="6199676" y="331710"/>
            <a:ext cx="2229948" cy="463140"/>
            <a:chOff x="5241013" y="1573798"/>
            <a:chExt cx="2295272" cy="463140"/>
          </a:xfrm>
        </p:grpSpPr>
        <p:sp>
          <p:nvSpPr>
            <p:cNvPr id="15" name="Rectangle: Rounded Corners 1">
              <a:extLst>
                <a:ext uri="{FF2B5EF4-FFF2-40B4-BE49-F238E27FC236}">
                  <a16:creationId xmlns:a16="http://schemas.microsoft.com/office/drawing/2014/main" id="{2F0F0DD0-09ED-2D61-4B12-8BE1CC4C2243}"/>
                </a:ext>
              </a:extLst>
            </p:cNvPr>
            <p:cNvSpPr/>
            <p:nvPr/>
          </p:nvSpPr>
          <p:spPr>
            <a:xfrm rot="16200000">
              <a:off x="6157080" y="657733"/>
              <a:ext cx="463140" cy="2295270"/>
            </a:xfrm>
            <a:prstGeom prst="rect">
              <a:avLst/>
            </a:prstGeom>
            <a:solidFill>
              <a:srgbClr val="623DB6">
                <a:alpha val="85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6" name="TextBox 15">
              <a:extLst>
                <a:ext uri="{FF2B5EF4-FFF2-40B4-BE49-F238E27FC236}">
                  <a16:creationId xmlns:a16="http://schemas.microsoft.com/office/drawing/2014/main" id="{1B1BE318-DE11-107E-476A-891EACB30446}"/>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3.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sản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phẩm</a:t>
              </a:r>
              <a:endParaRPr lang="en-US" sz="1000" b="1" dirty="0">
                <a:solidFill>
                  <a:schemeClr val="bg1">
                    <a:lumMod val="10000"/>
                    <a:lumOff val="90000"/>
                  </a:schemeClr>
                </a:solidFill>
                <a:sym typeface="Helvetica"/>
              </a:endParaRPr>
            </a:p>
          </p:txBody>
        </p:sp>
      </p:grpSp>
      <p:grpSp>
        <p:nvGrpSpPr>
          <p:cNvPr id="17" name="Group 16">
            <a:extLst>
              <a:ext uri="{FF2B5EF4-FFF2-40B4-BE49-F238E27FC236}">
                <a16:creationId xmlns:a16="http://schemas.microsoft.com/office/drawing/2014/main" id="{088039DC-554D-19F5-75CC-126A145F7591}"/>
              </a:ext>
            </a:extLst>
          </p:cNvPr>
          <p:cNvGrpSpPr/>
          <p:nvPr/>
        </p:nvGrpSpPr>
        <p:grpSpPr>
          <a:xfrm>
            <a:off x="8998971" y="331710"/>
            <a:ext cx="2229948" cy="463140"/>
            <a:chOff x="5241013" y="1573798"/>
            <a:chExt cx="2295272" cy="463140"/>
          </a:xfrm>
        </p:grpSpPr>
        <p:sp>
          <p:nvSpPr>
            <p:cNvPr id="18" name="Rectangle: Rounded Corners 1">
              <a:extLst>
                <a:ext uri="{FF2B5EF4-FFF2-40B4-BE49-F238E27FC236}">
                  <a16:creationId xmlns:a16="http://schemas.microsoft.com/office/drawing/2014/main" id="{933EA5DB-9A7C-4688-3736-6C399FB0B4DF}"/>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9" name="TextBox 18">
              <a:extLst>
                <a:ext uri="{FF2B5EF4-FFF2-40B4-BE49-F238E27FC236}">
                  <a16:creationId xmlns:a16="http://schemas.microsoft.com/office/drawing/2014/main" id="{3647815E-BDC7-CAFD-E228-4B5ABB3AD507}"/>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4.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tồn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kho</a:t>
              </a:r>
              <a:endParaRPr lang="en-US" sz="1000" b="1" dirty="0">
                <a:solidFill>
                  <a:schemeClr val="bg1">
                    <a:lumMod val="10000"/>
                    <a:lumOff val="90000"/>
                  </a:schemeClr>
                </a:solidFill>
                <a:sym typeface="Helvetica"/>
              </a:endParaRPr>
            </a:p>
          </p:txBody>
        </p:sp>
      </p:grpSp>
      <p:sp>
        <p:nvSpPr>
          <p:cNvPr id="23" name="TextBox 44">
            <a:extLst>
              <a:ext uri="{FF2B5EF4-FFF2-40B4-BE49-F238E27FC236}">
                <a16:creationId xmlns:a16="http://schemas.microsoft.com/office/drawing/2014/main" id="{D91EFDA0-3432-41C7-3049-D3F3EFEE44AD}"/>
              </a:ext>
            </a:extLst>
          </p:cNvPr>
          <p:cNvSpPr txBox="1"/>
          <p:nvPr/>
        </p:nvSpPr>
        <p:spPr>
          <a:xfrm>
            <a:off x="9332778" y="1650724"/>
            <a:ext cx="1744351" cy="89473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nSpc>
                <a:spcPct val="150000"/>
              </a:lnSpc>
              <a:defRPr sz="1200">
                <a:solidFill>
                  <a:srgbClr val="404040"/>
                </a:solidFill>
              </a:defRPr>
            </a:lvl1pPr>
          </a:lstStyle>
          <a:p>
            <a:r>
              <a:rPr lang="vi-VN" dirty="0"/>
              <a:t>Các danh mục đứng đầu về doanh thu cũng đứng đầu về tỷ lệ bị huỷ đơn</a:t>
            </a:r>
          </a:p>
        </p:txBody>
      </p:sp>
      <p:pic>
        <p:nvPicPr>
          <p:cNvPr id="2" name="Picture 1">
            <a:extLst>
              <a:ext uri="{FF2B5EF4-FFF2-40B4-BE49-F238E27FC236}">
                <a16:creationId xmlns:a16="http://schemas.microsoft.com/office/drawing/2014/main" id="{15DFFBE8-C3ED-6CE7-2A59-A3D458D3286F}"/>
              </a:ext>
            </a:extLst>
          </p:cNvPr>
          <p:cNvPicPr>
            <a:picLocks noChangeAspect="1"/>
          </p:cNvPicPr>
          <p:nvPr/>
        </p:nvPicPr>
        <p:blipFill>
          <a:blip r:embed="rId2"/>
          <a:stretch>
            <a:fillRect/>
          </a:stretch>
        </p:blipFill>
        <p:spPr>
          <a:xfrm>
            <a:off x="5728147" y="1072215"/>
            <a:ext cx="3511188" cy="2567143"/>
          </a:xfrm>
          <a:prstGeom prst="rect">
            <a:avLst/>
          </a:prstGeom>
        </p:spPr>
      </p:pic>
      <p:pic>
        <p:nvPicPr>
          <p:cNvPr id="3" name="Picture 2">
            <a:extLst>
              <a:ext uri="{FF2B5EF4-FFF2-40B4-BE49-F238E27FC236}">
                <a16:creationId xmlns:a16="http://schemas.microsoft.com/office/drawing/2014/main" id="{803AF1CA-8CE2-2070-4CE1-8EAF4760DFBF}"/>
              </a:ext>
            </a:extLst>
          </p:cNvPr>
          <p:cNvPicPr>
            <a:picLocks noChangeAspect="1"/>
          </p:cNvPicPr>
          <p:nvPr/>
        </p:nvPicPr>
        <p:blipFill>
          <a:blip r:embed="rId3"/>
          <a:stretch>
            <a:fillRect/>
          </a:stretch>
        </p:blipFill>
        <p:spPr>
          <a:xfrm>
            <a:off x="776041" y="897742"/>
            <a:ext cx="4620901" cy="3074810"/>
          </a:xfrm>
          <a:prstGeom prst="rect">
            <a:avLst/>
          </a:prstGeom>
        </p:spPr>
      </p:pic>
      <p:sp>
        <p:nvSpPr>
          <p:cNvPr id="4" name="TextBox 3">
            <a:extLst>
              <a:ext uri="{FF2B5EF4-FFF2-40B4-BE49-F238E27FC236}">
                <a16:creationId xmlns:a16="http://schemas.microsoft.com/office/drawing/2014/main" id="{6F3B70BA-8914-5D65-06A1-3A1B141A028B}"/>
              </a:ext>
            </a:extLst>
          </p:cNvPr>
          <p:cNvSpPr txBox="1"/>
          <p:nvPr/>
        </p:nvSpPr>
        <p:spPr>
          <a:xfrm>
            <a:off x="684034" y="6473420"/>
            <a:ext cx="1905000"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VN" sz="800" b="0" i="1" u="none" strike="noStrike" cap="none" spc="0" normalizeH="0" baseline="0" dirty="0">
                <a:ln>
                  <a:noFill/>
                </a:ln>
                <a:solidFill>
                  <a:srgbClr val="000000"/>
                </a:solidFill>
                <a:effectLst/>
                <a:uFillTx/>
                <a:latin typeface="+mn-lt"/>
                <a:ea typeface="+mn-ea"/>
                <a:sym typeface="Onest"/>
                <a:hlinkClick r:id="rId4"/>
              </a:rPr>
              <a:t>| Link Dashboard</a:t>
            </a:r>
            <a:endParaRPr kumimoji="0" lang="en-VN" sz="800" b="0" i="1" u="none" strike="noStrike" cap="none" spc="0" normalizeH="0" baseline="0" dirty="0">
              <a:ln>
                <a:noFill/>
              </a:ln>
              <a:solidFill>
                <a:srgbClr val="000000"/>
              </a:solidFill>
              <a:effectLst/>
              <a:uFillTx/>
              <a:latin typeface="+mn-lt"/>
              <a:ea typeface="+mn-ea"/>
              <a:sym typeface="Onest"/>
            </a:endParaRPr>
          </a:p>
        </p:txBody>
      </p:sp>
    </p:spTree>
    <p:extLst>
      <p:ext uri="{BB962C8B-B14F-4D97-AF65-F5344CB8AC3E}">
        <p14:creationId xmlns:p14="http://schemas.microsoft.com/office/powerpoint/2010/main" val="218917962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C1F83E15-D408-17B5-D5F5-E76321CE6257}"/>
            </a:ext>
          </a:extLst>
        </p:cNvPr>
        <p:cNvGrpSpPr/>
        <p:nvPr/>
      </p:nvGrpSpPr>
      <p:grpSpPr>
        <a:xfrm>
          <a:off x="0" y="0"/>
          <a:ext cx="0" cy="0"/>
          <a:chOff x="0" y="0"/>
          <a:chExt cx="0" cy="0"/>
        </a:xfrm>
      </p:grpSpPr>
      <p:sp>
        <p:nvSpPr>
          <p:cNvPr id="9" name="Rectangle: Rounded Corners 9">
            <a:extLst>
              <a:ext uri="{FF2B5EF4-FFF2-40B4-BE49-F238E27FC236}">
                <a16:creationId xmlns:a16="http://schemas.microsoft.com/office/drawing/2014/main" id="{D3D151C1-CB60-970C-358F-BD4FD6B7E17A}"/>
              </a:ext>
            </a:extLst>
          </p:cNvPr>
          <p:cNvSpPr/>
          <p:nvPr/>
        </p:nvSpPr>
        <p:spPr>
          <a:xfrm>
            <a:off x="610440" y="2352944"/>
            <a:ext cx="4952106" cy="4062221"/>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a:p>
        </p:txBody>
      </p:sp>
      <p:sp>
        <p:nvSpPr>
          <p:cNvPr id="22" name="Rectangle: Rounded Corners 9">
            <a:extLst>
              <a:ext uri="{FF2B5EF4-FFF2-40B4-BE49-F238E27FC236}">
                <a16:creationId xmlns:a16="http://schemas.microsoft.com/office/drawing/2014/main" id="{E3777B3B-7A8F-825B-144E-8DE7BB4B9044}"/>
              </a:ext>
            </a:extLst>
          </p:cNvPr>
          <p:cNvSpPr/>
          <p:nvPr/>
        </p:nvSpPr>
        <p:spPr>
          <a:xfrm>
            <a:off x="5662158" y="905974"/>
            <a:ext cx="5508415" cy="5370648"/>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dirty="0"/>
          </a:p>
        </p:txBody>
      </p:sp>
      <p:sp>
        <p:nvSpPr>
          <p:cNvPr id="21" name="Rectangle: Rounded Corners 9">
            <a:extLst>
              <a:ext uri="{FF2B5EF4-FFF2-40B4-BE49-F238E27FC236}">
                <a16:creationId xmlns:a16="http://schemas.microsoft.com/office/drawing/2014/main" id="{C49BE726-A295-3997-5E03-A09401C372FF}"/>
              </a:ext>
            </a:extLst>
          </p:cNvPr>
          <p:cNvSpPr/>
          <p:nvPr/>
        </p:nvSpPr>
        <p:spPr>
          <a:xfrm>
            <a:off x="610439" y="905974"/>
            <a:ext cx="4952106" cy="1340516"/>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a:p>
        </p:txBody>
      </p:sp>
      <p:sp>
        <p:nvSpPr>
          <p:cNvPr id="31" name="Slide Number Placeholder 5">
            <a:extLst>
              <a:ext uri="{FF2B5EF4-FFF2-40B4-BE49-F238E27FC236}">
                <a16:creationId xmlns:a16="http://schemas.microsoft.com/office/drawing/2014/main" id="{9AC34563-9F49-2DD5-514F-405A92418A08}"/>
              </a:ext>
            </a:extLst>
          </p:cNvPr>
          <p:cNvSpPr txBox="1">
            <a:spLocks noGrp="1"/>
          </p:cNvSpPr>
          <p:nvPr>
            <p:ph type="sldNum" sz="quarter" idx="2"/>
          </p:nvPr>
        </p:nvSpPr>
        <p:spPr>
          <a:xfrm>
            <a:off x="11450023" y="5997575"/>
            <a:ext cx="330161" cy="57404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8</a:t>
            </a:fld>
            <a:endParaRPr/>
          </a:p>
        </p:txBody>
      </p:sp>
      <p:sp>
        <p:nvSpPr>
          <p:cNvPr id="58" name="TextBox 43">
            <a:extLst>
              <a:ext uri="{FF2B5EF4-FFF2-40B4-BE49-F238E27FC236}">
                <a16:creationId xmlns:a16="http://schemas.microsoft.com/office/drawing/2014/main" id="{F0A8E64C-2172-28A2-8994-26DB7B4E914B}"/>
              </a:ext>
            </a:extLst>
          </p:cNvPr>
          <p:cNvSpPr txBox="1"/>
          <p:nvPr/>
        </p:nvSpPr>
        <p:spPr>
          <a:xfrm>
            <a:off x="7314039" y="816641"/>
            <a:ext cx="2793674" cy="30777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400" b="1">
                <a:solidFill>
                  <a:srgbClr val="404040"/>
                </a:solidFill>
                <a:latin typeface="+mj-lt"/>
                <a:ea typeface="+mj-ea"/>
                <a:cs typeface="+mj-cs"/>
                <a:sym typeface="Helvetica"/>
              </a:defRPr>
            </a:lvl1pPr>
          </a:lstStyle>
          <a:p>
            <a:endParaRPr dirty="0"/>
          </a:p>
        </p:txBody>
      </p:sp>
      <p:sp>
        <p:nvSpPr>
          <p:cNvPr id="59" name="TextBox 44">
            <a:extLst>
              <a:ext uri="{FF2B5EF4-FFF2-40B4-BE49-F238E27FC236}">
                <a16:creationId xmlns:a16="http://schemas.microsoft.com/office/drawing/2014/main" id="{020FA6AF-503D-17F9-4C11-7ADE3A1C7E72}"/>
              </a:ext>
            </a:extLst>
          </p:cNvPr>
          <p:cNvSpPr txBox="1"/>
          <p:nvPr/>
        </p:nvSpPr>
        <p:spPr>
          <a:xfrm>
            <a:off x="676428" y="914204"/>
            <a:ext cx="4952106" cy="11717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defRPr>
            </a:lvl1pPr>
          </a:lstStyle>
          <a:p>
            <a:r>
              <a:rPr lang="vi-VN" dirty="0">
                <a:solidFill>
                  <a:schemeClr val="tx1"/>
                </a:solidFill>
              </a:rPr>
              <a:t>Phương pháp nghiên cứu hàng tồn kho: </a:t>
            </a:r>
            <a:r>
              <a:rPr lang="vi-VN" dirty="0">
                <a:solidFill>
                  <a:schemeClr val="tx1"/>
                </a:solidFill>
                <a:sym typeface="Helvetica"/>
              </a:rPr>
              <a:t>Vì dữ liệu ghi lại giao dịch năm 2023 nên giả sử thời điểm phân tích tồn kho là 1/1/2024. N</a:t>
            </a:r>
            <a:r>
              <a:rPr lang="vi-VN" dirty="0">
                <a:solidFill>
                  <a:schemeClr val="tx1"/>
                </a:solidFill>
              </a:rPr>
              <a:t>hằm đảm bảo tính thời sự và phản ánh xu hướng nhu cầu hiện tại của thị trường nên chỉ </a:t>
            </a:r>
            <a:r>
              <a:rPr lang="vi-VN" dirty="0">
                <a:solidFill>
                  <a:schemeClr val="tx1"/>
                </a:solidFill>
                <a:sym typeface="Helvetica"/>
              </a:rPr>
              <a:t>phân tích 120 cuối năm 2023. </a:t>
            </a:r>
            <a:endParaRPr lang="vi-VN" dirty="0">
              <a:solidFill>
                <a:schemeClr val="tx1"/>
              </a:solidFill>
            </a:endParaRPr>
          </a:p>
        </p:txBody>
      </p:sp>
      <p:grpSp>
        <p:nvGrpSpPr>
          <p:cNvPr id="6" name="Group 5">
            <a:extLst>
              <a:ext uri="{FF2B5EF4-FFF2-40B4-BE49-F238E27FC236}">
                <a16:creationId xmlns:a16="http://schemas.microsoft.com/office/drawing/2014/main" id="{35CA2638-27EC-B9F8-68B1-EA91744AEB29}"/>
              </a:ext>
            </a:extLst>
          </p:cNvPr>
          <p:cNvGrpSpPr/>
          <p:nvPr/>
        </p:nvGrpSpPr>
        <p:grpSpPr>
          <a:xfrm>
            <a:off x="684034" y="323479"/>
            <a:ext cx="2229948" cy="463140"/>
            <a:chOff x="5241013" y="1573798"/>
            <a:chExt cx="2295272" cy="463140"/>
          </a:xfrm>
        </p:grpSpPr>
        <p:sp>
          <p:nvSpPr>
            <p:cNvPr id="7" name="Rectangle: Rounded Corners 1">
              <a:extLst>
                <a:ext uri="{FF2B5EF4-FFF2-40B4-BE49-F238E27FC236}">
                  <a16:creationId xmlns:a16="http://schemas.microsoft.com/office/drawing/2014/main" id="{A28A1D2B-9C78-623E-E6F7-16E1D103C569}"/>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8" name="TextBox 7">
              <a:extLst>
                <a:ext uri="{FF2B5EF4-FFF2-40B4-BE49-F238E27FC236}">
                  <a16:creationId xmlns:a16="http://schemas.microsoft.com/office/drawing/2014/main" id="{8009D967-9762-68B2-93DB-F3AE85816DBF}"/>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dirty="0">
                  <a:solidFill>
                    <a:schemeClr val="bg1">
                      <a:lumMod val="10000"/>
                      <a:lumOff val="90000"/>
                    </a:schemeClr>
                  </a:solidFill>
                </a:rPr>
                <a:t>1. </a:t>
              </a:r>
              <a:r>
                <a:rPr lang="en-US" sz="1000" dirty="0" err="1">
                  <a:solidFill>
                    <a:schemeClr val="bg1">
                      <a:lumMod val="10000"/>
                      <a:lumOff val="90000"/>
                    </a:schemeClr>
                  </a:solidFill>
                </a:rPr>
                <a:t>Phân</a:t>
              </a:r>
              <a:r>
                <a:rPr lang="en-US" sz="1000" dirty="0">
                  <a:solidFill>
                    <a:schemeClr val="bg1">
                      <a:lumMod val="10000"/>
                      <a:lumOff val="90000"/>
                    </a:schemeClr>
                  </a:solidFill>
                </a:rPr>
                <a:t> </a:t>
              </a:r>
              <a:r>
                <a:rPr lang="en-US" sz="1000" dirty="0" err="1">
                  <a:solidFill>
                    <a:schemeClr val="bg1">
                      <a:lumMod val="10000"/>
                      <a:lumOff val="90000"/>
                    </a:schemeClr>
                  </a:solidFill>
                </a:rPr>
                <a:t>tích</a:t>
              </a:r>
              <a:r>
                <a:rPr lang="en-US" sz="1000" dirty="0">
                  <a:solidFill>
                    <a:schemeClr val="bg1">
                      <a:lumMod val="10000"/>
                      <a:lumOff val="90000"/>
                    </a:schemeClr>
                  </a:solidFill>
                </a:rPr>
                <a:t> </a:t>
              </a:r>
              <a:r>
                <a:rPr lang="en-US" sz="1000" dirty="0" err="1">
                  <a:solidFill>
                    <a:schemeClr val="bg1">
                      <a:lumMod val="10000"/>
                      <a:lumOff val="90000"/>
                    </a:schemeClr>
                  </a:solidFill>
                </a:rPr>
                <a:t>tổng</a:t>
              </a:r>
              <a:r>
                <a:rPr lang="en-US" sz="1000" dirty="0">
                  <a:solidFill>
                    <a:schemeClr val="bg1">
                      <a:lumMod val="10000"/>
                      <a:lumOff val="90000"/>
                    </a:schemeClr>
                  </a:solidFill>
                </a:rPr>
                <a:t> </a:t>
              </a:r>
              <a:r>
                <a:rPr lang="en-US" sz="1000" dirty="0" err="1">
                  <a:solidFill>
                    <a:schemeClr val="bg1">
                      <a:lumMod val="10000"/>
                      <a:lumOff val="90000"/>
                    </a:schemeClr>
                  </a:solidFill>
                </a:rPr>
                <a:t>quan</a:t>
              </a:r>
              <a:r>
                <a:rPr lang="en-US" sz="1000" dirty="0">
                  <a:solidFill>
                    <a:schemeClr val="bg1">
                      <a:lumMod val="10000"/>
                      <a:lumOff val="90000"/>
                    </a:schemeClr>
                  </a:solidFill>
                </a:rPr>
                <a:t> </a:t>
              </a:r>
              <a:r>
                <a:rPr lang="en-US" sz="1000" dirty="0" err="1">
                  <a:solidFill>
                    <a:schemeClr val="bg1">
                      <a:lumMod val="10000"/>
                      <a:lumOff val="90000"/>
                    </a:schemeClr>
                  </a:solidFill>
                </a:rPr>
                <a:t>thị</a:t>
              </a:r>
              <a:r>
                <a:rPr lang="en-US" sz="1000" dirty="0">
                  <a:solidFill>
                    <a:schemeClr val="bg1">
                      <a:lumMod val="10000"/>
                      <a:lumOff val="90000"/>
                    </a:schemeClr>
                  </a:solidFill>
                </a:rPr>
                <a:t> </a:t>
              </a:r>
              <a:r>
                <a:rPr lang="en-US" sz="1000" dirty="0" err="1">
                  <a:solidFill>
                    <a:schemeClr val="bg1">
                      <a:lumMod val="10000"/>
                      <a:lumOff val="90000"/>
                    </a:schemeClr>
                  </a:solidFill>
                </a:rPr>
                <a:t>trường</a:t>
              </a:r>
              <a:endParaRPr lang="en-US" sz="1000" dirty="0">
                <a:solidFill>
                  <a:schemeClr val="bg1">
                    <a:lumMod val="10000"/>
                    <a:lumOff val="90000"/>
                  </a:schemeClr>
                </a:solidFill>
              </a:endParaRPr>
            </a:p>
          </p:txBody>
        </p:sp>
      </p:grpSp>
      <p:grpSp>
        <p:nvGrpSpPr>
          <p:cNvPr id="11" name="Group 10">
            <a:extLst>
              <a:ext uri="{FF2B5EF4-FFF2-40B4-BE49-F238E27FC236}">
                <a16:creationId xmlns:a16="http://schemas.microsoft.com/office/drawing/2014/main" id="{913C1DB1-F18D-6F77-2822-4FE33A120976}"/>
              </a:ext>
            </a:extLst>
          </p:cNvPr>
          <p:cNvGrpSpPr/>
          <p:nvPr/>
        </p:nvGrpSpPr>
        <p:grpSpPr>
          <a:xfrm>
            <a:off x="3441856" y="331710"/>
            <a:ext cx="2229948" cy="463140"/>
            <a:chOff x="5241013" y="1573798"/>
            <a:chExt cx="2295272" cy="463140"/>
          </a:xfrm>
        </p:grpSpPr>
        <p:sp>
          <p:nvSpPr>
            <p:cNvPr id="12" name="Rectangle: Rounded Corners 1">
              <a:extLst>
                <a:ext uri="{FF2B5EF4-FFF2-40B4-BE49-F238E27FC236}">
                  <a16:creationId xmlns:a16="http://schemas.microsoft.com/office/drawing/2014/main" id="{878454E1-4106-2AEC-1E66-C33266D041E4}"/>
                </a:ext>
              </a:extLst>
            </p:cNvPr>
            <p:cNvSpPr/>
            <p:nvPr/>
          </p:nvSpPr>
          <p:spPr>
            <a:xfrm rot="16200000">
              <a:off x="6157080" y="657733"/>
              <a:ext cx="463140" cy="2295270"/>
            </a:xfrm>
            <a:prstGeom prst="rect">
              <a:avLst/>
            </a:prstGeom>
            <a:solidFill>
              <a:schemeClr val="tx2">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highlight>
                  <a:srgbClr val="808080"/>
                </a:highlight>
              </a:endParaRPr>
            </a:p>
          </p:txBody>
        </p:sp>
        <p:sp>
          <p:nvSpPr>
            <p:cNvPr id="13" name="TextBox 12">
              <a:extLst>
                <a:ext uri="{FF2B5EF4-FFF2-40B4-BE49-F238E27FC236}">
                  <a16:creationId xmlns:a16="http://schemas.microsoft.com/office/drawing/2014/main" id="{AFA0E10A-8399-DFE9-604C-35F4A163D489}"/>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2.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khách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hàng</a:t>
              </a:r>
              <a:endParaRPr lang="en-US" sz="1000" b="1" dirty="0">
                <a:solidFill>
                  <a:schemeClr val="bg1">
                    <a:lumMod val="10000"/>
                    <a:lumOff val="90000"/>
                  </a:schemeClr>
                </a:solidFill>
                <a:sym typeface="Helvetica"/>
              </a:endParaRPr>
            </a:p>
          </p:txBody>
        </p:sp>
      </p:grpSp>
      <p:grpSp>
        <p:nvGrpSpPr>
          <p:cNvPr id="14" name="Group 13">
            <a:extLst>
              <a:ext uri="{FF2B5EF4-FFF2-40B4-BE49-F238E27FC236}">
                <a16:creationId xmlns:a16="http://schemas.microsoft.com/office/drawing/2014/main" id="{30347A3F-F78E-86A0-5D3C-B662CD8C3AB8}"/>
              </a:ext>
            </a:extLst>
          </p:cNvPr>
          <p:cNvGrpSpPr/>
          <p:nvPr/>
        </p:nvGrpSpPr>
        <p:grpSpPr>
          <a:xfrm>
            <a:off x="6199676" y="331710"/>
            <a:ext cx="2229948" cy="463140"/>
            <a:chOff x="5241013" y="1573798"/>
            <a:chExt cx="2295272" cy="463140"/>
          </a:xfrm>
        </p:grpSpPr>
        <p:sp>
          <p:nvSpPr>
            <p:cNvPr id="15" name="Rectangle: Rounded Corners 1">
              <a:extLst>
                <a:ext uri="{FF2B5EF4-FFF2-40B4-BE49-F238E27FC236}">
                  <a16:creationId xmlns:a16="http://schemas.microsoft.com/office/drawing/2014/main" id="{8C184773-30FD-D8E0-0038-4E05BA2698C5}"/>
                </a:ext>
              </a:extLst>
            </p:cNvPr>
            <p:cNvSpPr/>
            <p:nvPr/>
          </p:nvSpPr>
          <p:spPr>
            <a:xfrm rot="16200000">
              <a:off x="6157080" y="657733"/>
              <a:ext cx="463140" cy="2295270"/>
            </a:xfrm>
            <a:prstGeom prst="rect">
              <a:avLst/>
            </a:prstGeom>
            <a:solidFill>
              <a:schemeClr val="tx2">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solidFill>
                  <a:schemeClr val="bg1">
                    <a:lumMod val="25000"/>
                    <a:lumOff val="75000"/>
                  </a:schemeClr>
                </a:solidFill>
              </a:endParaRPr>
            </a:p>
          </p:txBody>
        </p:sp>
        <p:sp>
          <p:nvSpPr>
            <p:cNvPr id="16" name="TextBox 15">
              <a:extLst>
                <a:ext uri="{FF2B5EF4-FFF2-40B4-BE49-F238E27FC236}">
                  <a16:creationId xmlns:a16="http://schemas.microsoft.com/office/drawing/2014/main" id="{3F5DBCAB-2105-B9EA-540C-1AF72076FDC8}"/>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3.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sản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phẩm</a:t>
              </a:r>
              <a:endParaRPr lang="en-US" sz="1000" b="1" dirty="0">
                <a:solidFill>
                  <a:schemeClr val="bg1">
                    <a:lumMod val="10000"/>
                    <a:lumOff val="90000"/>
                  </a:schemeClr>
                </a:solidFill>
                <a:sym typeface="Helvetica"/>
              </a:endParaRPr>
            </a:p>
          </p:txBody>
        </p:sp>
      </p:grpSp>
      <p:grpSp>
        <p:nvGrpSpPr>
          <p:cNvPr id="17" name="Group 16">
            <a:extLst>
              <a:ext uri="{FF2B5EF4-FFF2-40B4-BE49-F238E27FC236}">
                <a16:creationId xmlns:a16="http://schemas.microsoft.com/office/drawing/2014/main" id="{08045241-3B41-98E8-E5C5-4C7A45DF3E09}"/>
              </a:ext>
            </a:extLst>
          </p:cNvPr>
          <p:cNvGrpSpPr/>
          <p:nvPr/>
        </p:nvGrpSpPr>
        <p:grpSpPr>
          <a:xfrm>
            <a:off x="8998971" y="331710"/>
            <a:ext cx="2229948" cy="463140"/>
            <a:chOff x="5241013" y="1573798"/>
            <a:chExt cx="2295272" cy="463140"/>
          </a:xfrm>
        </p:grpSpPr>
        <p:sp>
          <p:nvSpPr>
            <p:cNvPr id="18" name="Rectangle: Rounded Corners 1">
              <a:extLst>
                <a:ext uri="{FF2B5EF4-FFF2-40B4-BE49-F238E27FC236}">
                  <a16:creationId xmlns:a16="http://schemas.microsoft.com/office/drawing/2014/main" id="{F5DA1FC6-D8AA-6BB7-9B15-A2C494914433}"/>
                </a:ext>
              </a:extLst>
            </p:cNvPr>
            <p:cNvSpPr/>
            <p:nvPr/>
          </p:nvSpPr>
          <p:spPr>
            <a:xfrm rot="16200000">
              <a:off x="6157080" y="657733"/>
              <a:ext cx="463140" cy="2295270"/>
            </a:xfrm>
            <a:prstGeom prst="rect">
              <a:avLst/>
            </a:prstGeom>
            <a:solidFill>
              <a:srgbClr val="623DB6">
                <a:alpha val="85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9" name="TextBox 18">
              <a:extLst>
                <a:ext uri="{FF2B5EF4-FFF2-40B4-BE49-F238E27FC236}">
                  <a16:creationId xmlns:a16="http://schemas.microsoft.com/office/drawing/2014/main" id="{D0133557-71EB-9B41-066F-91495286A611}"/>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4.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tồn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kho</a:t>
              </a:r>
              <a:endParaRPr lang="en-US" sz="1000" b="1" dirty="0">
                <a:solidFill>
                  <a:schemeClr val="bg1">
                    <a:lumMod val="10000"/>
                    <a:lumOff val="90000"/>
                  </a:schemeClr>
                </a:solidFill>
                <a:sym typeface="Helvetica"/>
              </a:endParaRPr>
            </a:p>
          </p:txBody>
        </p:sp>
      </p:grpSp>
      <p:pic>
        <p:nvPicPr>
          <p:cNvPr id="4" name="Picture 3">
            <a:extLst>
              <a:ext uri="{FF2B5EF4-FFF2-40B4-BE49-F238E27FC236}">
                <a16:creationId xmlns:a16="http://schemas.microsoft.com/office/drawing/2014/main" id="{9E392777-A3D5-DF58-C693-701BE2E9CE41}"/>
              </a:ext>
            </a:extLst>
          </p:cNvPr>
          <p:cNvPicPr>
            <a:picLocks noChangeAspect="1"/>
          </p:cNvPicPr>
          <p:nvPr/>
        </p:nvPicPr>
        <p:blipFill>
          <a:blip r:embed="rId2"/>
          <a:stretch>
            <a:fillRect/>
          </a:stretch>
        </p:blipFill>
        <p:spPr>
          <a:xfrm>
            <a:off x="645274" y="2501310"/>
            <a:ext cx="4865699" cy="3730157"/>
          </a:xfrm>
          <a:prstGeom prst="rect">
            <a:avLst/>
          </a:prstGeom>
        </p:spPr>
      </p:pic>
      <p:pic>
        <p:nvPicPr>
          <p:cNvPr id="5" name="Picture 4">
            <a:extLst>
              <a:ext uri="{FF2B5EF4-FFF2-40B4-BE49-F238E27FC236}">
                <a16:creationId xmlns:a16="http://schemas.microsoft.com/office/drawing/2014/main" id="{BEF324E3-B496-5693-CBEC-60838508C9FB}"/>
              </a:ext>
            </a:extLst>
          </p:cNvPr>
          <p:cNvPicPr>
            <a:picLocks noChangeAspect="1"/>
          </p:cNvPicPr>
          <p:nvPr/>
        </p:nvPicPr>
        <p:blipFill>
          <a:blip r:embed="rId3"/>
          <a:srcRect r="3484" b="53357"/>
          <a:stretch>
            <a:fillRect/>
          </a:stretch>
        </p:blipFill>
        <p:spPr>
          <a:xfrm>
            <a:off x="5827142" y="940903"/>
            <a:ext cx="5285190" cy="2310297"/>
          </a:xfrm>
          <a:prstGeom prst="rect">
            <a:avLst/>
          </a:prstGeom>
        </p:spPr>
      </p:pic>
      <p:sp>
        <p:nvSpPr>
          <p:cNvPr id="10" name="TextBox 44">
            <a:extLst>
              <a:ext uri="{FF2B5EF4-FFF2-40B4-BE49-F238E27FC236}">
                <a16:creationId xmlns:a16="http://schemas.microsoft.com/office/drawing/2014/main" id="{38E9872C-54DD-B104-9783-75A4A02F87AF}"/>
              </a:ext>
            </a:extLst>
          </p:cNvPr>
          <p:cNvSpPr txBox="1"/>
          <p:nvPr/>
        </p:nvSpPr>
        <p:spPr>
          <a:xfrm>
            <a:off x="2352118" y="2942334"/>
            <a:ext cx="2522647" cy="61773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defRPr>
            </a:lvl1pPr>
          </a:lstStyle>
          <a:p>
            <a:r>
              <a:rPr lang="vi-VN" dirty="0"/>
              <a:t>Hàng tồn kho chậm hoặc có nguy cơ thành hàng chết.</a:t>
            </a:r>
          </a:p>
        </p:txBody>
      </p:sp>
      <p:sp>
        <p:nvSpPr>
          <p:cNvPr id="20" name="Rectangle 19">
            <a:extLst>
              <a:ext uri="{FF2B5EF4-FFF2-40B4-BE49-F238E27FC236}">
                <a16:creationId xmlns:a16="http://schemas.microsoft.com/office/drawing/2014/main" id="{84201603-689B-6E13-6F1E-00335E92F358}"/>
              </a:ext>
            </a:extLst>
          </p:cNvPr>
          <p:cNvSpPr/>
          <p:nvPr/>
        </p:nvSpPr>
        <p:spPr>
          <a:xfrm>
            <a:off x="684034" y="3138311"/>
            <a:ext cx="1031877" cy="1275644"/>
          </a:xfrm>
          <a:prstGeom prst="rect">
            <a:avLst/>
          </a:prstGeom>
          <a:noFill/>
          <a:ln w="9525" cap="flat">
            <a:solidFill>
              <a:srgbClr val="FF0000"/>
            </a:solidFill>
            <a:prstDash val="sysDot"/>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VN" sz="1800" b="0" i="0" u="none" strike="noStrike" cap="none" spc="0" normalizeH="0" baseline="0">
              <a:ln>
                <a:noFill/>
              </a:ln>
              <a:solidFill>
                <a:srgbClr val="000000"/>
              </a:solidFill>
              <a:effectLst/>
              <a:uFillTx/>
              <a:latin typeface="+mn-lt"/>
              <a:ea typeface="+mn-ea"/>
              <a:cs typeface="+mn-cs"/>
              <a:sym typeface="Onest"/>
            </a:endParaRPr>
          </a:p>
        </p:txBody>
      </p:sp>
      <p:cxnSp>
        <p:nvCxnSpPr>
          <p:cNvPr id="26" name="Straight Arrow Connector 25">
            <a:extLst>
              <a:ext uri="{FF2B5EF4-FFF2-40B4-BE49-F238E27FC236}">
                <a16:creationId xmlns:a16="http://schemas.microsoft.com/office/drawing/2014/main" id="{32B357F8-EA79-E5EF-4C42-C44E95764726}"/>
              </a:ext>
            </a:extLst>
          </p:cNvPr>
          <p:cNvCxnSpPr/>
          <p:nvPr/>
        </p:nvCxnSpPr>
        <p:spPr>
          <a:xfrm>
            <a:off x="1715911" y="3251200"/>
            <a:ext cx="564445" cy="0"/>
          </a:xfrm>
          <a:prstGeom prst="straightConnector1">
            <a:avLst/>
          </a:prstGeom>
          <a:noFill/>
          <a:ln w="9525" cap="flat">
            <a:solidFill>
              <a:srgbClr val="FF0000"/>
            </a:solidFill>
            <a:prstDash val="sysDot"/>
            <a:miter lim="800000"/>
            <a:tailEnd type="triangle"/>
          </a:ln>
          <a:effectLst/>
          <a:sp3d/>
        </p:spPr>
        <p:style>
          <a:lnRef idx="0">
            <a:scrgbClr r="0" g="0" b="0"/>
          </a:lnRef>
          <a:fillRef idx="0">
            <a:scrgbClr r="0" g="0" b="0"/>
          </a:fillRef>
          <a:effectRef idx="0">
            <a:scrgbClr r="0" g="0" b="0"/>
          </a:effectRef>
          <a:fontRef idx="none"/>
        </p:style>
      </p:cxnSp>
      <p:sp>
        <p:nvSpPr>
          <p:cNvPr id="27" name="Rectangle 26">
            <a:extLst>
              <a:ext uri="{FF2B5EF4-FFF2-40B4-BE49-F238E27FC236}">
                <a16:creationId xmlns:a16="http://schemas.microsoft.com/office/drawing/2014/main" id="{B7386B51-D5CD-6A01-4A5D-CDF3549D28DC}"/>
              </a:ext>
            </a:extLst>
          </p:cNvPr>
          <p:cNvSpPr/>
          <p:nvPr/>
        </p:nvSpPr>
        <p:spPr>
          <a:xfrm>
            <a:off x="2551289" y="5260621"/>
            <a:ext cx="1727200" cy="903111"/>
          </a:xfrm>
          <a:prstGeom prst="rect">
            <a:avLst/>
          </a:prstGeom>
          <a:noFill/>
          <a:ln w="9525" cap="flat">
            <a:solidFill>
              <a:srgbClr val="FF0000"/>
            </a:solidFill>
            <a:prstDash val="sysDot"/>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VN" sz="1800" b="0" i="0" u="none" strike="noStrike" cap="none" spc="0" normalizeH="0" baseline="0">
              <a:ln>
                <a:noFill/>
              </a:ln>
              <a:solidFill>
                <a:srgbClr val="000000"/>
              </a:solidFill>
              <a:effectLst/>
              <a:uFillTx/>
              <a:latin typeface="+mn-lt"/>
              <a:ea typeface="+mn-ea"/>
              <a:cs typeface="+mn-cs"/>
              <a:sym typeface="Onest"/>
            </a:endParaRPr>
          </a:p>
        </p:txBody>
      </p:sp>
      <p:cxnSp>
        <p:nvCxnSpPr>
          <p:cNvPr id="28" name="Straight Arrow Connector 27">
            <a:extLst>
              <a:ext uri="{FF2B5EF4-FFF2-40B4-BE49-F238E27FC236}">
                <a16:creationId xmlns:a16="http://schemas.microsoft.com/office/drawing/2014/main" id="{727DFC3D-5117-A7CA-6EA5-575385432142}"/>
              </a:ext>
            </a:extLst>
          </p:cNvPr>
          <p:cNvCxnSpPr>
            <a:cxnSpLocks/>
          </p:cNvCxnSpPr>
          <p:nvPr/>
        </p:nvCxnSpPr>
        <p:spPr>
          <a:xfrm flipV="1">
            <a:off x="3821289" y="4820356"/>
            <a:ext cx="0" cy="423333"/>
          </a:xfrm>
          <a:prstGeom prst="straightConnector1">
            <a:avLst/>
          </a:prstGeom>
          <a:noFill/>
          <a:ln w="9525" cap="flat">
            <a:solidFill>
              <a:srgbClr val="FF0000"/>
            </a:solidFill>
            <a:prstDash val="sysDot"/>
            <a:miter lim="800000"/>
            <a:tailEnd type="triangle"/>
          </a:ln>
          <a:effectLst/>
          <a:sp3d/>
        </p:spPr>
        <p:style>
          <a:lnRef idx="0">
            <a:scrgbClr r="0" g="0" b="0"/>
          </a:lnRef>
          <a:fillRef idx="0">
            <a:scrgbClr r="0" g="0" b="0"/>
          </a:fillRef>
          <a:effectRef idx="0">
            <a:scrgbClr r="0" g="0" b="0"/>
          </a:effectRef>
          <a:fontRef idx="none"/>
        </p:style>
      </p:cxnSp>
      <p:sp>
        <p:nvSpPr>
          <p:cNvPr id="30" name="TextBox 44">
            <a:extLst>
              <a:ext uri="{FF2B5EF4-FFF2-40B4-BE49-F238E27FC236}">
                <a16:creationId xmlns:a16="http://schemas.microsoft.com/office/drawing/2014/main" id="{C0EC8553-767C-F347-8AF3-88D556581FBB}"/>
              </a:ext>
            </a:extLst>
          </p:cNvPr>
          <p:cNvSpPr txBox="1"/>
          <p:nvPr/>
        </p:nvSpPr>
        <p:spPr>
          <a:xfrm>
            <a:off x="2988326" y="4466292"/>
            <a:ext cx="2522647" cy="34073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defRPr>
            </a:lvl1pPr>
          </a:lstStyle>
          <a:p>
            <a:r>
              <a:rPr lang="en-US" dirty="0" err="1"/>
              <a:t>Đảm</a:t>
            </a:r>
            <a:r>
              <a:rPr lang="en-US" dirty="0"/>
              <a:t> </a:t>
            </a:r>
            <a:r>
              <a:rPr lang="en-US" dirty="0" err="1"/>
              <a:t>bảo</a:t>
            </a:r>
            <a:r>
              <a:rPr lang="en-US" dirty="0"/>
              <a:t> </a:t>
            </a:r>
            <a:r>
              <a:rPr lang="en-US" dirty="0" err="1"/>
              <a:t>không</a:t>
            </a:r>
            <a:r>
              <a:rPr lang="en-US" dirty="0"/>
              <a:t> </a:t>
            </a:r>
            <a:r>
              <a:rPr lang="en-US" dirty="0" err="1"/>
              <a:t>bị</a:t>
            </a:r>
            <a:r>
              <a:rPr lang="en-US" dirty="0"/>
              <a:t> </a:t>
            </a:r>
            <a:r>
              <a:rPr lang="en-US" dirty="0" err="1"/>
              <a:t>hết</a:t>
            </a:r>
            <a:r>
              <a:rPr lang="en-US" dirty="0"/>
              <a:t> </a:t>
            </a:r>
            <a:r>
              <a:rPr lang="en-US" dirty="0" err="1"/>
              <a:t>hàng</a:t>
            </a:r>
            <a:endParaRPr lang="vi-VN" dirty="0"/>
          </a:p>
        </p:txBody>
      </p:sp>
      <p:sp>
        <p:nvSpPr>
          <p:cNvPr id="32" name="TextBox 44">
            <a:extLst>
              <a:ext uri="{FF2B5EF4-FFF2-40B4-BE49-F238E27FC236}">
                <a16:creationId xmlns:a16="http://schemas.microsoft.com/office/drawing/2014/main" id="{0AC12799-BC06-65AD-A6A2-25B73C74E3EA}"/>
              </a:ext>
            </a:extLst>
          </p:cNvPr>
          <p:cNvSpPr txBox="1"/>
          <p:nvPr/>
        </p:nvSpPr>
        <p:spPr>
          <a:xfrm>
            <a:off x="6030231" y="3606801"/>
            <a:ext cx="4952106" cy="200272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defRPr>
            </a:lvl1pPr>
          </a:lstStyle>
          <a:p>
            <a:r>
              <a:rPr lang="vi-VN" dirty="0"/>
              <a:t>Trong khi tổng sản lượng bán ra của cả năm là: </a:t>
            </a:r>
            <a:r>
              <a:rPr lang="vi-VN" b="1" dirty="0"/>
              <a:t>52 nghìn sản phẩm </a:t>
            </a:r>
            <a:r>
              <a:rPr lang="vi-VN" dirty="0"/>
              <a:t>nhưng tồn kho lên đến </a:t>
            </a:r>
            <a:r>
              <a:rPr lang="vi-VN" b="1" dirty="0">
                <a:solidFill>
                  <a:srgbClr val="C00000"/>
                </a:solidFill>
              </a:rPr>
              <a:t>167 nghìn sản phẩm. </a:t>
            </a:r>
            <a:r>
              <a:rPr lang="vi-VN" dirty="0"/>
              <a:t>Trong đó Nhiều SKU có DIO (</a:t>
            </a:r>
            <a:r>
              <a:rPr lang="en-US" dirty="0"/>
              <a:t>Days of Inventory Outstanding)</a:t>
            </a:r>
            <a:r>
              <a:rPr lang="vi-VN" dirty="0"/>
              <a:t> rất cao.</a:t>
            </a:r>
          </a:p>
          <a:p>
            <a:pPr marL="171450" indent="-171450">
              <a:buFont typeface="Symbol" pitchFamily="2" charset="2"/>
              <a:buChar char="Þ"/>
            </a:pPr>
            <a:r>
              <a:rPr lang="vi-VN" dirty="0"/>
              <a:t>DIO quá cao cho thấy vốn bị ứ đọng, hàng tồn kho lâu, rủi ro lỗi thời, và chi phí lưu kho lớn.</a:t>
            </a:r>
          </a:p>
          <a:p>
            <a:pPr marL="171450" indent="-171450">
              <a:buFont typeface="Symbol" pitchFamily="2" charset="2"/>
              <a:buChar char="Þ"/>
            </a:pPr>
            <a:r>
              <a:rPr lang="vi-VN" dirty="0">
                <a:solidFill>
                  <a:srgbClr val="623DB6"/>
                </a:solidFill>
              </a:rPr>
              <a:t> Cần có phương án xả hàng / thanh lý các sản phẩm tồn kho để tránh chi phí kho bãi cũng như hao hụt nguồn vốn</a:t>
            </a:r>
          </a:p>
        </p:txBody>
      </p:sp>
      <p:sp>
        <p:nvSpPr>
          <p:cNvPr id="2" name="TextBox 1">
            <a:extLst>
              <a:ext uri="{FF2B5EF4-FFF2-40B4-BE49-F238E27FC236}">
                <a16:creationId xmlns:a16="http://schemas.microsoft.com/office/drawing/2014/main" id="{AAF79452-23A9-F06C-EE50-3C024C7C111A}"/>
              </a:ext>
            </a:extLst>
          </p:cNvPr>
          <p:cNvSpPr txBox="1"/>
          <p:nvPr/>
        </p:nvSpPr>
        <p:spPr>
          <a:xfrm>
            <a:off x="684034" y="6473420"/>
            <a:ext cx="1905000"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VN" sz="800" b="0" i="1" u="none" strike="noStrike" cap="none" spc="0" normalizeH="0" baseline="0" dirty="0">
                <a:ln>
                  <a:noFill/>
                </a:ln>
                <a:solidFill>
                  <a:srgbClr val="000000"/>
                </a:solidFill>
                <a:effectLst/>
                <a:uFillTx/>
                <a:latin typeface="+mn-lt"/>
                <a:ea typeface="+mn-ea"/>
                <a:sym typeface="Onest"/>
                <a:hlinkClick r:id="rId4"/>
              </a:rPr>
              <a:t>| Link Dashboard</a:t>
            </a:r>
            <a:endParaRPr kumimoji="0" lang="en-VN" sz="800" b="0" i="1" u="none" strike="noStrike" cap="none" spc="0" normalizeH="0" baseline="0" dirty="0">
              <a:ln>
                <a:noFill/>
              </a:ln>
              <a:solidFill>
                <a:srgbClr val="000000"/>
              </a:solidFill>
              <a:effectLst/>
              <a:uFillTx/>
              <a:latin typeface="+mn-lt"/>
              <a:ea typeface="+mn-ea"/>
              <a:sym typeface="Onest"/>
            </a:endParaRPr>
          </a:p>
        </p:txBody>
      </p:sp>
    </p:spTree>
    <p:extLst>
      <p:ext uri="{BB962C8B-B14F-4D97-AF65-F5344CB8AC3E}">
        <p14:creationId xmlns:p14="http://schemas.microsoft.com/office/powerpoint/2010/main" val="185274301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8C1C7955-564C-D5CB-A9E8-1B9EB5E5BFEA}"/>
            </a:ext>
          </a:extLst>
        </p:cNvPr>
        <p:cNvGrpSpPr/>
        <p:nvPr/>
      </p:nvGrpSpPr>
      <p:grpSpPr>
        <a:xfrm>
          <a:off x="0" y="0"/>
          <a:ext cx="0" cy="0"/>
          <a:chOff x="0" y="0"/>
          <a:chExt cx="0" cy="0"/>
        </a:xfrm>
      </p:grpSpPr>
      <p:sp>
        <p:nvSpPr>
          <p:cNvPr id="22" name="Rectangle: Rounded Corners 9">
            <a:extLst>
              <a:ext uri="{FF2B5EF4-FFF2-40B4-BE49-F238E27FC236}">
                <a16:creationId xmlns:a16="http://schemas.microsoft.com/office/drawing/2014/main" id="{F278A6E8-4820-1DE5-C71D-F81EC51746CA}"/>
              </a:ext>
            </a:extLst>
          </p:cNvPr>
          <p:cNvSpPr/>
          <p:nvPr/>
        </p:nvSpPr>
        <p:spPr>
          <a:xfrm>
            <a:off x="4698080" y="2668523"/>
            <a:ext cx="6452296" cy="3903093"/>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dirty="0"/>
          </a:p>
        </p:txBody>
      </p:sp>
      <p:sp>
        <p:nvSpPr>
          <p:cNvPr id="21" name="Rectangle: Rounded Corners 9">
            <a:extLst>
              <a:ext uri="{FF2B5EF4-FFF2-40B4-BE49-F238E27FC236}">
                <a16:creationId xmlns:a16="http://schemas.microsoft.com/office/drawing/2014/main" id="{7BCA5643-A27D-244B-019E-8A6071810B4C}"/>
              </a:ext>
            </a:extLst>
          </p:cNvPr>
          <p:cNvSpPr/>
          <p:nvPr/>
        </p:nvSpPr>
        <p:spPr>
          <a:xfrm>
            <a:off x="610439" y="905973"/>
            <a:ext cx="3988859" cy="2808071"/>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a:p>
        </p:txBody>
      </p:sp>
      <p:sp>
        <p:nvSpPr>
          <p:cNvPr id="31" name="Slide Number Placeholder 5">
            <a:extLst>
              <a:ext uri="{FF2B5EF4-FFF2-40B4-BE49-F238E27FC236}">
                <a16:creationId xmlns:a16="http://schemas.microsoft.com/office/drawing/2014/main" id="{79D61826-352E-6603-2066-8DFF2237559A}"/>
              </a:ext>
            </a:extLst>
          </p:cNvPr>
          <p:cNvSpPr txBox="1">
            <a:spLocks noGrp="1"/>
          </p:cNvSpPr>
          <p:nvPr>
            <p:ph type="sldNum" sz="quarter" idx="2"/>
          </p:nvPr>
        </p:nvSpPr>
        <p:spPr>
          <a:xfrm>
            <a:off x="11450023" y="5997575"/>
            <a:ext cx="330161" cy="57404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sp>
        <p:nvSpPr>
          <p:cNvPr id="58" name="TextBox 43">
            <a:extLst>
              <a:ext uri="{FF2B5EF4-FFF2-40B4-BE49-F238E27FC236}">
                <a16:creationId xmlns:a16="http://schemas.microsoft.com/office/drawing/2014/main" id="{C1BC983C-A99C-2016-E723-28D5AA0BAAC4}"/>
              </a:ext>
            </a:extLst>
          </p:cNvPr>
          <p:cNvSpPr txBox="1"/>
          <p:nvPr/>
        </p:nvSpPr>
        <p:spPr>
          <a:xfrm>
            <a:off x="7314039" y="816641"/>
            <a:ext cx="2793674" cy="30777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sz="1400" b="1">
                <a:solidFill>
                  <a:srgbClr val="404040"/>
                </a:solidFill>
                <a:latin typeface="+mj-lt"/>
                <a:ea typeface="+mj-ea"/>
                <a:cs typeface="+mj-cs"/>
                <a:sym typeface="Helvetica"/>
              </a:defRPr>
            </a:lvl1pPr>
          </a:lstStyle>
          <a:p>
            <a:endParaRPr dirty="0"/>
          </a:p>
        </p:txBody>
      </p:sp>
      <p:sp>
        <p:nvSpPr>
          <p:cNvPr id="59" name="TextBox 44">
            <a:extLst>
              <a:ext uri="{FF2B5EF4-FFF2-40B4-BE49-F238E27FC236}">
                <a16:creationId xmlns:a16="http://schemas.microsoft.com/office/drawing/2014/main" id="{3FE279FC-6385-09A3-C4ED-D795BE6ACF19}"/>
              </a:ext>
            </a:extLst>
          </p:cNvPr>
          <p:cNvSpPr txBox="1"/>
          <p:nvPr/>
        </p:nvSpPr>
        <p:spPr>
          <a:xfrm>
            <a:off x="4898945" y="2841332"/>
            <a:ext cx="6176191" cy="384938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nSpc>
                <a:spcPct val="150000"/>
              </a:lnSpc>
              <a:defRPr sz="1200">
                <a:solidFill>
                  <a:srgbClr val="404040"/>
                </a:solidFill>
              </a:defRPr>
            </a:lvl1pPr>
          </a:lstStyle>
          <a:p>
            <a:r>
              <a:rPr lang="vi-VN" dirty="0">
                <a:solidFill>
                  <a:schemeClr val="tx1"/>
                </a:solidFill>
              </a:rPr>
              <a:t>Áp dụng framework để xác định nhu cầu khách hàng và lịch sử tốc độ bán của sản phẩm để đề xuất những sản phẩm nên nhập kho.</a:t>
            </a:r>
          </a:p>
          <a:p>
            <a:endParaRPr lang="vi-VN" dirty="0">
              <a:solidFill>
                <a:schemeClr val="accent1"/>
              </a:solidFill>
            </a:endParaRPr>
          </a:p>
          <a:p>
            <a:r>
              <a:rPr lang="vi-VN" b="1" dirty="0"/>
              <a:t>SKU Distribution by Demand Classification:</a:t>
            </a:r>
            <a:endParaRPr lang="vi-VN" dirty="0"/>
          </a:p>
          <a:p>
            <a:pPr marL="171450" indent="-171450">
              <a:buFont typeface="Arial" panose="020B0604020202020204" pitchFamily="34" charset="0"/>
              <a:buChar char="•"/>
            </a:pPr>
            <a:r>
              <a:rPr lang="vi-VN" dirty="0"/>
              <a:t>Nhóm Z (nhu cầu thất thường, khó dự đoán) chiếm tỷ trọng lớn nhất. Điều này gây khó khăn lớn cho việc lập kế hoạch và quản lý tồn kho.</a:t>
            </a:r>
          </a:p>
          <a:p>
            <a:pPr marL="171450" indent="-171450">
              <a:buFont typeface="Arial" panose="020B0604020202020204" pitchFamily="34" charset="0"/>
              <a:buChar char="•"/>
            </a:pPr>
            <a:r>
              <a:rPr lang="vi-VN" dirty="0"/>
              <a:t>Nhóm Y (biến động vừa phải) và X (ổn định) chiếm tỷ trọng nhỏ hơn</a:t>
            </a:r>
          </a:p>
          <a:p>
            <a:endParaRPr lang="vi-VN" dirty="0"/>
          </a:p>
          <a:p>
            <a:r>
              <a:rPr lang="vi-VN" b="1" dirty="0"/>
              <a:t>Number of SKUs by FSN Category:</a:t>
            </a:r>
            <a:endParaRPr lang="vi-VN" dirty="0"/>
          </a:p>
          <a:p>
            <a:pPr marL="171450" lvl="1" indent="-171450">
              <a:buFont typeface="Arial" panose="020B0604020202020204" pitchFamily="34" charset="0"/>
              <a:buChar char="•"/>
            </a:pPr>
            <a:r>
              <a:rPr lang="vi-VN" sz="1200" dirty="0"/>
              <a:t>Non-moving (Không bán được): Chiếm số lượng SKU lớn nhất. Đây là một vấn đề nghiêm trọng, cho thấy một lượng lớn vốn và không gian kho đang bị chiếm dụng bởi hàng không tạo ra doanh thu.</a:t>
            </a:r>
          </a:p>
          <a:p>
            <a:pPr marL="171450" lvl="1" indent="-171450">
              <a:buFont typeface="Arial" panose="020B0604020202020204" pitchFamily="34" charset="0"/>
              <a:buChar char="•"/>
            </a:pPr>
            <a:r>
              <a:rPr lang="vi-VN" sz="1200" dirty="0"/>
              <a:t>Fast-moving (Bán nhanh) và Slow-moving (Bán chậm) có số lượng SKU ít hơn.</a:t>
            </a:r>
          </a:p>
          <a:p>
            <a:endParaRPr lang="vi-VN" dirty="0"/>
          </a:p>
          <a:p>
            <a:endParaRPr lang="vi-VN" dirty="0"/>
          </a:p>
        </p:txBody>
      </p:sp>
      <p:grpSp>
        <p:nvGrpSpPr>
          <p:cNvPr id="6" name="Group 5">
            <a:extLst>
              <a:ext uri="{FF2B5EF4-FFF2-40B4-BE49-F238E27FC236}">
                <a16:creationId xmlns:a16="http://schemas.microsoft.com/office/drawing/2014/main" id="{058F93F9-F168-74B0-78AF-D9C4E1E9B63D}"/>
              </a:ext>
            </a:extLst>
          </p:cNvPr>
          <p:cNvGrpSpPr/>
          <p:nvPr/>
        </p:nvGrpSpPr>
        <p:grpSpPr>
          <a:xfrm>
            <a:off x="684034" y="323479"/>
            <a:ext cx="2229948" cy="463140"/>
            <a:chOff x="5241013" y="1573798"/>
            <a:chExt cx="2295272" cy="463140"/>
          </a:xfrm>
        </p:grpSpPr>
        <p:sp>
          <p:nvSpPr>
            <p:cNvPr id="7" name="Rectangle: Rounded Corners 1">
              <a:extLst>
                <a:ext uri="{FF2B5EF4-FFF2-40B4-BE49-F238E27FC236}">
                  <a16:creationId xmlns:a16="http://schemas.microsoft.com/office/drawing/2014/main" id="{713AAC43-62BC-8911-DAC0-D082B3879447}"/>
                </a:ext>
              </a:extLst>
            </p:cNvPr>
            <p:cNvSpPr/>
            <p:nvPr/>
          </p:nvSpPr>
          <p:spPr>
            <a:xfrm rot="16200000">
              <a:off x="6157080" y="657733"/>
              <a:ext cx="463140" cy="2295270"/>
            </a:xfrm>
            <a:prstGeom prst="rect">
              <a:avLst/>
            </a:prstGeom>
            <a:solidFill>
              <a:schemeClr val="bg2">
                <a:lumMod val="60000"/>
                <a:lumOff val="40000"/>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8" name="TextBox 7">
              <a:extLst>
                <a:ext uri="{FF2B5EF4-FFF2-40B4-BE49-F238E27FC236}">
                  <a16:creationId xmlns:a16="http://schemas.microsoft.com/office/drawing/2014/main" id="{B810C584-2AEF-077F-83E4-760767CF7A1A}"/>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dirty="0">
                  <a:solidFill>
                    <a:schemeClr val="bg1">
                      <a:lumMod val="10000"/>
                      <a:lumOff val="90000"/>
                    </a:schemeClr>
                  </a:solidFill>
                </a:rPr>
                <a:t>1. </a:t>
              </a:r>
              <a:r>
                <a:rPr lang="en-US" sz="1000" dirty="0" err="1">
                  <a:solidFill>
                    <a:schemeClr val="bg1">
                      <a:lumMod val="10000"/>
                      <a:lumOff val="90000"/>
                    </a:schemeClr>
                  </a:solidFill>
                </a:rPr>
                <a:t>Phân</a:t>
              </a:r>
              <a:r>
                <a:rPr lang="en-US" sz="1000" dirty="0">
                  <a:solidFill>
                    <a:schemeClr val="bg1">
                      <a:lumMod val="10000"/>
                      <a:lumOff val="90000"/>
                    </a:schemeClr>
                  </a:solidFill>
                </a:rPr>
                <a:t> </a:t>
              </a:r>
              <a:r>
                <a:rPr lang="en-US" sz="1000" dirty="0" err="1">
                  <a:solidFill>
                    <a:schemeClr val="bg1">
                      <a:lumMod val="10000"/>
                      <a:lumOff val="90000"/>
                    </a:schemeClr>
                  </a:solidFill>
                </a:rPr>
                <a:t>tích</a:t>
              </a:r>
              <a:r>
                <a:rPr lang="en-US" sz="1000" dirty="0">
                  <a:solidFill>
                    <a:schemeClr val="bg1">
                      <a:lumMod val="10000"/>
                      <a:lumOff val="90000"/>
                    </a:schemeClr>
                  </a:solidFill>
                </a:rPr>
                <a:t> </a:t>
              </a:r>
              <a:r>
                <a:rPr lang="en-US" sz="1000" dirty="0" err="1">
                  <a:solidFill>
                    <a:schemeClr val="bg1">
                      <a:lumMod val="10000"/>
                      <a:lumOff val="90000"/>
                    </a:schemeClr>
                  </a:solidFill>
                </a:rPr>
                <a:t>tổng</a:t>
              </a:r>
              <a:r>
                <a:rPr lang="en-US" sz="1000" dirty="0">
                  <a:solidFill>
                    <a:schemeClr val="bg1">
                      <a:lumMod val="10000"/>
                      <a:lumOff val="90000"/>
                    </a:schemeClr>
                  </a:solidFill>
                </a:rPr>
                <a:t> </a:t>
              </a:r>
              <a:r>
                <a:rPr lang="en-US" sz="1000" dirty="0" err="1">
                  <a:solidFill>
                    <a:schemeClr val="bg1">
                      <a:lumMod val="10000"/>
                      <a:lumOff val="90000"/>
                    </a:schemeClr>
                  </a:solidFill>
                </a:rPr>
                <a:t>quan</a:t>
              </a:r>
              <a:r>
                <a:rPr lang="en-US" sz="1000" dirty="0">
                  <a:solidFill>
                    <a:schemeClr val="bg1">
                      <a:lumMod val="10000"/>
                      <a:lumOff val="90000"/>
                    </a:schemeClr>
                  </a:solidFill>
                </a:rPr>
                <a:t> </a:t>
              </a:r>
              <a:r>
                <a:rPr lang="en-US" sz="1000" dirty="0" err="1">
                  <a:solidFill>
                    <a:schemeClr val="bg1">
                      <a:lumMod val="10000"/>
                      <a:lumOff val="90000"/>
                    </a:schemeClr>
                  </a:solidFill>
                </a:rPr>
                <a:t>thị</a:t>
              </a:r>
              <a:r>
                <a:rPr lang="en-US" sz="1000" dirty="0">
                  <a:solidFill>
                    <a:schemeClr val="bg1">
                      <a:lumMod val="10000"/>
                      <a:lumOff val="90000"/>
                    </a:schemeClr>
                  </a:solidFill>
                </a:rPr>
                <a:t> </a:t>
              </a:r>
              <a:r>
                <a:rPr lang="en-US" sz="1000" dirty="0" err="1">
                  <a:solidFill>
                    <a:schemeClr val="bg1">
                      <a:lumMod val="10000"/>
                      <a:lumOff val="90000"/>
                    </a:schemeClr>
                  </a:solidFill>
                </a:rPr>
                <a:t>trường</a:t>
              </a:r>
              <a:endParaRPr lang="en-US" sz="1000" dirty="0">
                <a:solidFill>
                  <a:schemeClr val="bg1">
                    <a:lumMod val="10000"/>
                    <a:lumOff val="90000"/>
                  </a:schemeClr>
                </a:solidFill>
              </a:endParaRPr>
            </a:p>
          </p:txBody>
        </p:sp>
      </p:grpSp>
      <p:grpSp>
        <p:nvGrpSpPr>
          <p:cNvPr id="11" name="Group 10">
            <a:extLst>
              <a:ext uri="{FF2B5EF4-FFF2-40B4-BE49-F238E27FC236}">
                <a16:creationId xmlns:a16="http://schemas.microsoft.com/office/drawing/2014/main" id="{097E6409-365F-C4F8-59B3-8DFB8CC2CFD1}"/>
              </a:ext>
            </a:extLst>
          </p:cNvPr>
          <p:cNvGrpSpPr/>
          <p:nvPr/>
        </p:nvGrpSpPr>
        <p:grpSpPr>
          <a:xfrm>
            <a:off x="3441856" y="331710"/>
            <a:ext cx="2229948" cy="463140"/>
            <a:chOff x="5241013" y="1573798"/>
            <a:chExt cx="2295272" cy="463140"/>
          </a:xfrm>
        </p:grpSpPr>
        <p:sp>
          <p:nvSpPr>
            <p:cNvPr id="12" name="Rectangle: Rounded Corners 1">
              <a:extLst>
                <a:ext uri="{FF2B5EF4-FFF2-40B4-BE49-F238E27FC236}">
                  <a16:creationId xmlns:a16="http://schemas.microsoft.com/office/drawing/2014/main" id="{5B7EAA78-A867-59A7-6F1E-EC993B7AB2DF}"/>
                </a:ext>
              </a:extLst>
            </p:cNvPr>
            <p:cNvSpPr/>
            <p:nvPr/>
          </p:nvSpPr>
          <p:spPr>
            <a:xfrm rot="16200000">
              <a:off x="6157080" y="657733"/>
              <a:ext cx="463140" cy="2295270"/>
            </a:xfrm>
            <a:prstGeom prst="rect">
              <a:avLst/>
            </a:prstGeom>
            <a:solidFill>
              <a:schemeClr val="tx2">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highlight>
                  <a:srgbClr val="808080"/>
                </a:highlight>
              </a:endParaRPr>
            </a:p>
          </p:txBody>
        </p:sp>
        <p:sp>
          <p:nvSpPr>
            <p:cNvPr id="13" name="TextBox 12">
              <a:extLst>
                <a:ext uri="{FF2B5EF4-FFF2-40B4-BE49-F238E27FC236}">
                  <a16:creationId xmlns:a16="http://schemas.microsoft.com/office/drawing/2014/main" id="{0D7C7ED0-D229-434E-A1ED-D5B010CF31C6}"/>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2.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khách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hàng</a:t>
              </a:r>
              <a:endParaRPr lang="en-US" sz="1000" b="1" dirty="0">
                <a:solidFill>
                  <a:schemeClr val="bg1">
                    <a:lumMod val="10000"/>
                    <a:lumOff val="90000"/>
                  </a:schemeClr>
                </a:solidFill>
                <a:sym typeface="Helvetica"/>
              </a:endParaRPr>
            </a:p>
          </p:txBody>
        </p:sp>
      </p:grpSp>
      <p:grpSp>
        <p:nvGrpSpPr>
          <p:cNvPr id="14" name="Group 13">
            <a:extLst>
              <a:ext uri="{FF2B5EF4-FFF2-40B4-BE49-F238E27FC236}">
                <a16:creationId xmlns:a16="http://schemas.microsoft.com/office/drawing/2014/main" id="{4FD5B357-EA21-33F0-953A-9862D7BA98C5}"/>
              </a:ext>
            </a:extLst>
          </p:cNvPr>
          <p:cNvGrpSpPr/>
          <p:nvPr/>
        </p:nvGrpSpPr>
        <p:grpSpPr>
          <a:xfrm>
            <a:off x="6199676" y="331710"/>
            <a:ext cx="2229948" cy="463140"/>
            <a:chOff x="5241013" y="1573798"/>
            <a:chExt cx="2295272" cy="463140"/>
          </a:xfrm>
        </p:grpSpPr>
        <p:sp>
          <p:nvSpPr>
            <p:cNvPr id="15" name="Rectangle: Rounded Corners 1">
              <a:extLst>
                <a:ext uri="{FF2B5EF4-FFF2-40B4-BE49-F238E27FC236}">
                  <a16:creationId xmlns:a16="http://schemas.microsoft.com/office/drawing/2014/main" id="{DA251EA2-9418-5E74-0D6D-359FA4F1FA5A}"/>
                </a:ext>
              </a:extLst>
            </p:cNvPr>
            <p:cNvSpPr/>
            <p:nvPr/>
          </p:nvSpPr>
          <p:spPr>
            <a:xfrm rot="16200000">
              <a:off x="6157080" y="657733"/>
              <a:ext cx="463140" cy="2295270"/>
            </a:xfrm>
            <a:prstGeom prst="rect">
              <a:avLst/>
            </a:prstGeom>
            <a:solidFill>
              <a:schemeClr val="tx2">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solidFill>
                  <a:schemeClr val="bg1">
                    <a:lumMod val="25000"/>
                    <a:lumOff val="75000"/>
                  </a:schemeClr>
                </a:solidFill>
              </a:endParaRPr>
            </a:p>
          </p:txBody>
        </p:sp>
        <p:sp>
          <p:nvSpPr>
            <p:cNvPr id="16" name="TextBox 15">
              <a:extLst>
                <a:ext uri="{FF2B5EF4-FFF2-40B4-BE49-F238E27FC236}">
                  <a16:creationId xmlns:a16="http://schemas.microsoft.com/office/drawing/2014/main" id="{1BD1BD06-0B6B-3767-7FDD-0AB1D6AF6E6A}"/>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3.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sản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phẩm</a:t>
              </a:r>
              <a:endParaRPr lang="en-US" sz="1000" b="1" dirty="0">
                <a:solidFill>
                  <a:schemeClr val="bg1">
                    <a:lumMod val="10000"/>
                    <a:lumOff val="90000"/>
                  </a:schemeClr>
                </a:solidFill>
                <a:sym typeface="Helvetica"/>
              </a:endParaRPr>
            </a:p>
          </p:txBody>
        </p:sp>
      </p:grpSp>
      <p:grpSp>
        <p:nvGrpSpPr>
          <p:cNvPr id="17" name="Group 16">
            <a:extLst>
              <a:ext uri="{FF2B5EF4-FFF2-40B4-BE49-F238E27FC236}">
                <a16:creationId xmlns:a16="http://schemas.microsoft.com/office/drawing/2014/main" id="{FFD2B68B-9CA3-5331-26D9-112A2FDAACBD}"/>
              </a:ext>
            </a:extLst>
          </p:cNvPr>
          <p:cNvGrpSpPr/>
          <p:nvPr/>
        </p:nvGrpSpPr>
        <p:grpSpPr>
          <a:xfrm>
            <a:off x="8998971" y="331710"/>
            <a:ext cx="2229948" cy="463140"/>
            <a:chOff x="5241013" y="1573798"/>
            <a:chExt cx="2295272" cy="463140"/>
          </a:xfrm>
        </p:grpSpPr>
        <p:sp>
          <p:nvSpPr>
            <p:cNvPr id="18" name="Rectangle: Rounded Corners 1">
              <a:extLst>
                <a:ext uri="{FF2B5EF4-FFF2-40B4-BE49-F238E27FC236}">
                  <a16:creationId xmlns:a16="http://schemas.microsoft.com/office/drawing/2014/main" id="{903073C1-CD12-2E6C-EE9A-2242FD360BA6}"/>
                </a:ext>
              </a:extLst>
            </p:cNvPr>
            <p:cNvSpPr/>
            <p:nvPr/>
          </p:nvSpPr>
          <p:spPr>
            <a:xfrm rot="16200000">
              <a:off x="6157080" y="657733"/>
              <a:ext cx="463140" cy="2295270"/>
            </a:xfrm>
            <a:prstGeom prst="rect">
              <a:avLst/>
            </a:prstGeom>
            <a:solidFill>
              <a:srgbClr val="623DB6">
                <a:alpha val="85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9" name="TextBox 18">
              <a:extLst>
                <a:ext uri="{FF2B5EF4-FFF2-40B4-BE49-F238E27FC236}">
                  <a16:creationId xmlns:a16="http://schemas.microsoft.com/office/drawing/2014/main" id="{D31CF4B2-BD2D-9549-280C-2A4D93AAB57F}"/>
                </a:ext>
              </a:extLst>
            </p:cNvPr>
            <p:cNvSpPr txBox="1"/>
            <p:nvPr/>
          </p:nvSpPr>
          <p:spPr>
            <a:xfrm>
              <a:off x="5241013" y="1693153"/>
              <a:ext cx="2295270"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4800" b="1">
                  <a:solidFill>
                    <a:srgbClr val="404040"/>
                  </a:solidFill>
                  <a:latin typeface="+mj-lt"/>
                  <a:ea typeface="+mj-ea"/>
                  <a:cs typeface="+mj-cs"/>
                  <a:sym typeface="Helvetica"/>
                </a:defRPr>
              </a:pPr>
              <a:r>
                <a:rPr lang="en-US" sz="1000" b="1" dirty="0">
                  <a:solidFill>
                    <a:schemeClr val="bg1">
                      <a:lumMod val="10000"/>
                      <a:lumOff val="90000"/>
                    </a:schemeClr>
                  </a:solidFill>
                  <a:sym typeface="Helvetica"/>
                </a:rPr>
                <a:t>4. </a:t>
              </a:r>
              <a:r>
                <a:rPr lang="en-US" sz="1000" b="1" dirty="0" err="1">
                  <a:solidFill>
                    <a:schemeClr val="bg1">
                      <a:lumMod val="10000"/>
                      <a:lumOff val="90000"/>
                    </a:schemeClr>
                  </a:solidFill>
                  <a:sym typeface="Helvetica"/>
                </a:rPr>
                <a:t>Phân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tích</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tồn</a:t>
              </a:r>
              <a:r>
                <a:rPr lang="en-US" sz="1000" b="1" dirty="0">
                  <a:solidFill>
                    <a:schemeClr val="bg1">
                      <a:lumMod val="10000"/>
                      <a:lumOff val="90000"/>
                    </a:schemeClr>
                  </a:solidFill>
                  <a:sym typeface="Helvetica"/>
                </a:rPr>
                <a:t> </a:t>
              </a:r>
              <a:r>
                <a:rPr lang="en-US" sz="1000" b="1" dirty="0" err="1">
                  <a:solidFill>
                    <a:schemeClr val="bg1">
                      <a:lumMod val="10000"/>
                      <a:lumOff val="90000"/>
                    </a:schemeClr>
                  </a:solidFill>
                  <a:sym typeface="Helvetica"/>
                </a:rPr>
                <a:t>kho</a:t>
              </a:r>
              <a:endParaRPr lang="en-US" sz="1000" b="1" dirty="0">
                <a:solidFill>
                  <a:schemeClr val="bg1">
                    <a:lumMod val="10000"/>
                    <a:lumOff val="90000"/>
                  </a:schemeClr>
                </a:solidFill>
                <a:sym typeface="Helvetica"/>
              </a:endParaRPr>
            </a:p>
          </p:txBody>
        </p:sp>
      </p:grpSp>
      <p:pic>
        <p:nvPicPr>
          <p:cNvPr id="2" name="Picture 1">
            <a:extLst>
              <a:ext uri="{FF2B5EF4-FFF2-40B4-BE49-F238E27FC236}">
                <a16:creationId xmlns:a16="http://schemas.microsoft.com/office/drawing/2014/main" id="{4DC18FDD-1B03-0A3D-F48A-F2AAB03746A3}"/>
              </a:ext>
            </a:extLst>
          </p:cNvPr>
          <p:cNvPicPr>
            <a:picLocks noChangeAspect="1"/>
          </p:cNvPicPr>
          <p:nvPr/>
        </p:nvPicPr>
        <p:blipFill>
          <a:blip r:embed="rId2"/>
          <a:stretch>
            <a:fillRect/>
          </a:stretch>
        </p:blipFill>
        <p:spPr>
          <a:xfrm>
            <a:off x="702515" y="905974"/>
            <a:ext cx="3717447" cy="2725623"/>
          </a:xfrm>
          <a:prstGeom prst="rect">
            <a:avLst/>
          </a:prstGeom>
        </p:spPr>
      </p:pic>
      <p:sp>
        <p:nvSpPr>
          <p:cNvPr id="3" name="Rectangle: Rounded Corners 9">
            <a:extLst>
              <a:ext uri="{FF2B5EF4-FFF2-40B4-BE49-F238E27FC236}">
                <a16:creationId xmlns:a16="http://schemas.microsoft.com/office/drawing/2014/main" id="{10B2961A-BF77-A587-63EF-1ADDAA98371A}"/>
              </a:ext>
            </a:extLst>
          </p:cNvPr>
          <p:cNvSpPr/>
          <p:nvPr/>
        </p:nvSpPr>
        <p:spPr>
          <a:xfrm>
            <a:off x="610439" y="3825167"/>
            <a:ext cx="3988859" cy="2746449"/>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algn="ctr">
              <a:defRPr>
                <a:solidFill>
                  <a:srgbClr val="FFFFFF"/>
                </a:solidFill>
              </a:defRPr>
            </a:pPr>
            <a:endParaRPr dirty="0"/>
          </a:p>
        </p:txBody>
      </p:sp>
      <p:pic>
        <p:nvPicPr>
          <p:cNvPr id="23" name="Picture 22">
            <a:extLst>
              <a:ext uri="{FF2B5EF4-FFF2-40B4-BE49-F238E27FC236}">
                <a16:creationId xmlns:a16="http://schemas.microsoft.com/office/drawing/2014/main" id="{5F5A2B91-D3E9-5B48-96BE-4B36351BAD70}"/>
              </a:ext>
            </a:extLst>
          </p:cNvPr>
          <p:cNvPicPr>
            <a:picLocks noChangeAspect="1"/>
          </p:cNvPicPr>
          <p:nvPr/>
        </p:nvPicPr>
        <p:blipFill>
          <a:blip r:embed="rId3"/>
          <a:stretch>
            <a:fillRect/>
          </a:stretch>
        </p:blipFill>
        <p:spPr>
          <a:xfrm>
            <a:off x="787762" y="3865026"/>
            <a:ext cx="3734590" cy="2661263"/>
          </a:xfrm>
          <a:prstGeom prst="rect">
            <a:avLst/>
          </a:prstGeom>
        </p:spPr>
      </p:pic>
      <p:sp>
        <p:nvSpPr>
          <p:cNvPr id="24" name="Rectangle: Rounded Corners 9">
            <a:extLst>
              <a:ext uri="{FF2B5EF4-FFF2-40B4-BE49-F238E27FC236}">
                <a16:creationId xmlns:a16="http://schemas.microsoft.com/office/drawing/2014/main" id="{0B4F8DF6-0D33-68B6-939F-F293F7979EEB}"/>
              </a:ext>
            </a:extLst>
          </p:cNvPr>
          <p:cNvSpPr/>
          <p:nvPr/>
        </p:nvSpPr>
        <p:spPr>
          <a:xfrm>
            <a:off x="4698080" y="913951"/>
            <a:ext cx="6452296" cy="1635471"/>
          </a:xfrm>
          <a:prstGeom prst="roundRect">
            <a:avLst>
              <a:gd name="adj" fmla="val 3544"/>
            </a:avLst>
          </a:prstGeom>
          <a:solidFill>
            <a:srgbClr val="FFFFFF"/>
          </a:solidFill>
          <a:ln w="12700">
            <a:miter lim="400000"/>
          </a:ln>
          <a:effectLst>
            <a:outerShdw blurRad="520700" rotWithShape="0">
              <a:srgbClr val="000000">
                <a:alpha val="5000"/>
              </a:srgbClr>
            </a:outerShdw>
          </a:effectLst>
        </p:spPr>
        <p:txBody>
          <a:bodyPr lIns="45719" rIns="45719" anchor="ctr"/>
          <a:lstStyle/>
          <a:p>
            <a:pPr marL="171450" indent="-171450">
              <a:buFont typeface="Arial" panose="020B0604020202020204" pitchFamily="34" charset="0"/>
              <a:buChar char="•"/>
            </a:pPr>
            <a:r>
              <a:rPr lang="vi-VN" sz="1200" dirty="0"/>
              <a:t>Note: Phương pháp áp dụng:</a:t>
            </a:r>
          </a:p>
          <a:p>
            <a:pPr marL="171450" indent="-171450">
              <a:buFont typeface="Arial" panose="020B0604020202020204" pitchFamily="34" charset="0"/>
              <a:buChar char="•"/>
            </a:pPr>
            <a:r>
              <a:rPr lang="vi-VN" sz="1200" b="1" dirty="0"/>
              <a:t>Phân loại FSN (Fast-Slow-Non-moving): </a:t>
            </a:r>
            <a:r>
              <a:rPr lang="vi-VN" sz="1200" dirty="0"/>
              <a:t>Dựa trên số ngày kể từ lần bán cuối cùng (tính đến mốc 01/01/2024), các sản phẩm được nhóm thành Bán Nhanh (F), Bán Chậm (S), hoặc Không Bán Được (N). Cụ thể, F: ≤30 ngày, S: 31-90 ngày, N: &gt;90 ngày hoặc chưa bán.</a:t>
            </a:r>
          </a:p>
          <a:p>
            <a:pPr marL="171450" indent="-171450">
              <a:buFont typeface="Arial" panose="020B0604020202020204" pitchFamily="34" charset="0"/>
              <a:buChar char="•"/>
            </a:pPr>
            <a:endParaRPr lang="vi-VN" sz="1200" dirty="0"/>
          </a:p>
          <a:p>
            <a:pPr marL="171450" indent="-171450">
              <a:buFont typeface="Arial" panose="020B0604020202020204" pitchFamily="34" charset="0"/>
              <a:buChar char="•"/>
            </a:pPr>
            <a:r>
              <a:rPr lang="vi-VN" sz="1200" b="1" dirty="0"/>
              <a:t>Phân loại XYZ: </a:t>
            </a:r>
            <a:r>
              <a:rPr lang="vi-VN" sz="1200" dirty="0"/>
              <a:t>Dựa trên Hệ số Biến thiên (CV) của doanh số bán hàng tháng trong năm 2023, các sản phẩm được phân thành X (ổn định, CV ≤ 0.5), Y (biến động vừa, 0.5 &lt; CV ≤ 1.0), hoặc Z (thất thường, CV &gt; 1.0).</a:t>
            </a:r>
          </a:p>
          <a:p>
            <a:pPr marL="171450" indent="-171450" algn="ctr">
              <a:buFont typeface="Arial" panose="020B0604020202020204" pitchFamily="34" charset="0"/>
              <a:buChar char="•"/>
              <a:defRPr>
                <a:solidFill>
                  <a:srgbClr val="FFFFFF"/>
                </a:solidFill>
              </a:defRPr>
            </a:pPr>
            <a:endParaRPr sz="1200" dirty="0"/>
          </a:p>
        </p:txBody>
      </p:sp>
      <p:sp>
        <p:nvSpPr>
          <p:cNvPr id="4" name="TextBox 3">
            <a:extLst>
              <a:ext uri="{FF2B5EF4-FFF2-40B4-BE49-F238E27FC236}">
                <a16:creationId xmlns:a16="http://schemas.microsoft.com/office/drawing/2014/main" id="{C39412E7-C759-DCF5-FF3B-F07A2B56AE8B}"/>
              </a:ext>
            </a:extLst>
          </p:cNvPr>
          <p:cNvSpPr txBox="1"/>
          <p:nvPr/>
        </p:nvSpPr>
        <p:spPr>
          <a:xfrm>
            <a:off x="684034" y="6549620"/>
            <a:ext cx="1905000"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VN" sz="800" b="0" i="1" u="none" strike="noStrike" cap="none" spc="0" normalizeH="0" baseline="0" dirty="0">
                <a:ln>
                  <a:noFill/>
                </a:ln>
                <a:solidFill>
                  <a:srgbClr val="000000"/>
                </a:solidFill>
                <a:effectLst/>
                <a:uFillTx/>
                <a:latin typeface="+mn-lt"/>
                <a:ea typeface="+mn-ea"/>
                <a:sym typeface="Onest"/>
                <a:hlinkClick r:id="rId4"/>
              </a:rPr>
              <a:t>| Link Dashboard</a:t>
            </a:r>
            <a:endParaRPr kumimoji="0" lang="en-VN" sz="800" b="0" i="1" u="none" strike="noStrike" cap="none" spc="0" normalizeH="0" baseline="0" dirty="0">
              <a:ln>
                <a:noFill/>
              </a:ln>
              <a:solidFill>
                <a:srgbClr val="000000"/>
              </a:solidFill>
              <a:effectLst/>
              <a:uFillTx/>
              <a:latin typeface="+mn-lt"/>
              <a:ea typeface="+mn-ea"/>
              <a:sym typeface="Onest"/>
            </a:endParaRPr>
          </a:p>
        </p:txBody>
      </p:sp>
    </p:spTree>
    <p:extLst>
      <p:ext uri="{BB962C8B-B14F-4D97-AF65-F5344CB8AC3E}">
        <p14:creationId xmlns:p14="http://schemas.microsoft.com/office/powerpoint/2010/main" val="109866915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3EAFB36-B4F8-4A9F-4FEB-A9B8A7AA7B9F}"/>
            </a:ext>
          </a:extLst>
        </p:cNvPr>
        <p:cNvGrpSpPr/>
        <p:nvPr/>
      </p:nvGrpSpPr>
      <p:grpSpPr>
        <a:xfrm>
          <a:off x="0" y="0"/>
          <a:ext cx="0" cy="0"/>
          <a:chOff x="0" y="0"/>
          <a:chExt cx="0" cy="0"/>
        </a:xfrm>
      </p:grpSpPr>
      <p:grpSp>
        <p:nvGrpSpPr>
          <p:cNvPr id="29" name="Group 1">
            <a:extLst>
              <a:ext uri="{FF2B5EF4-FFF2-40B4-BE49-F238E27FC236}">
                <a16:creationId xmlns:a16="http://schemas.microsoft.com/office/drawing/2014/main" id="{E2358295-EC0F-C052-7273-CC487E0F2F82}"/>
              </a:ext>
            </a:extLst>
          </p:cNvPr>
          <p:cNvGrpSpPr/>
          <p:nvPr/>
        </p:nvGrpSpPr>
        <p:grpSpPr>
          <a:xfrm>
            <a:off x="3070578" y="2872292"/>
            <a:ext cx="12159408" cy="1438210"/>
            <a:chOff x="1923205" y="56444"/>
            <a:chExt cx="10847074" cy="1139390"/>
          </a:xfrm>
        </p:grpSpPr>
        <p:sp>
          <p:nvSpPr>
            <p:cNvPr id="27" name="TextBox 3">
              <a:extLst>
                <a:ext uri="{FF2B5EF4-FFF2-40B4-BE49-F238E27FC236}">
                  <a16:creationId xmlns:a16="http://schemas.microsoft.com/office/drawing/2014/main" id="{E9BC2AC1-7F79-BF5F-B83D-22EAC067AAB6}"/>
                </a:ext>
              </a:extLst>
            </p:cNvPr>
            <p:cNvSpPr/>
            <p:nvPr/>
          </p:nvSpPr>
          <p:spPr>
            <a:xfrm>
              <a:off x="2902518" y="56444"/>
              <a:ext cx="9867761" cy="60957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r>
                <a:rPr lang="en-US" sz="4400" b="1" dirty="0">
                  <a:solidFill>
                    <a:srgbClr val="623DB6"/>
                  </a:solidFill>
                </a:rPr>
                <a:t>Thank you</a:t>
              </a:r>
              <a:endParaRPr sz="8000" dirty="0">
                <a:solidFill>
                  <a:srgbClr val="623DB6"/>
                </a:solidFill>
              </a:endParaRPr>
            </a:p>
          </p:txBody>
        </p:sp>
        <p:sp>
          <p:nvSpPr>
            <p:cNvPr id="28" name="TextBox 15">
              <a:extLst>
                <a:ext uri="{FF2B5EF4-FFF2-40B4-BE49-F238E27FC236}">
                  <a16:creationId xmlns:a16="http://schemas.microsoft.com/office/drawing/2014/main" id="{F67234BB-EA39-A5AA-C2F3-9DE24078B9CD}"/>
                </a:ext>
              </a:extLst>
            </p:cNvPr>
            <p:cNvSpPr/>
            <p:nvPr/>
          </p:nvSpPr>
          <p:spPr>
            <a:xfrm>
              <a:off x="1923205" y="1195833"/>
              <a:ext cx="56388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gn="ctr">
                <a:defRPr sz="1200">
                  <a:solidFill>
                    <a:srgbClr val="FFFFFF"/>
                  </a:solidFill>
                </a:defRPr>
              </a:lvl1pPr>
            </a:lstStyle>
            <a:p>
              <a:r>
                <a:rPr dirty="0"/>
                <a:t>Transforming Data into Actionable Insights</a:t>
              </a:r>
            </a:p>
          </p:txBody>
        </p:sp>
      </p:grpSp>
      <p:sp>
        <p:nvSpPr>
          <p:cNvPr id="2" name="TextBox 1">
            <a:extLst>
              <a:ext uri="{FF2B5EF4-FFF2-40B4-BE49-F238E27FC236}">
                <a16:creationId xmlns:a16="http://schemas.microsoft.com/office/drawing/2014/main" id="{E6CDA917-CC1E-25F0-4FBB-2AA6B4934672}"/>
              </a:ext>
            </a:extLst>
          </p:cNvPr>
          <p:cNvSpPr txBox="1"/>
          <p:nvPr/>
        </p:nvSpPr>
        <p:spPr>
          <a:xfrm>
            <a:off x="8920628" y="5870222"/>
            <a:ext cx="155710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VN" sz="1800" b="0" i="0" u="none" strike="noStrike" cap="none" spc="0" normalizeH="0" baseline="0" dirty="0">
                <a:ln>
                  <a:noFill/>
                </a:ln>
                <a:solidFill>
                  <a:srgbClr val="000000"/>
                </a:solidFill>
                <a:effectLst/>
                <a:uFillTx/>
                <a:latin typeface="+mn-lt"/>
                <a:ea typeface="+mn-ea"/>
                <a:cs typeface="+mn-cs"/>
                <a:sym typeface="Onest"/>
                <a:hlinkClick r:id="rId3"/>
              </a:rPr>
              <a:t>Discover more</a:t>
            </a:r>
            <a:endParaRPr kumimoji="0" lang="en-VN" sz="1800" b="0" i="0" u="none" strike="noStrike" cap="none" spc="0" normalizeH="0" baseline="0" dirty="0">
              <a:ln>
                <a:noFill/>
              </a:ln>
              <a:solidFill>
                <a:srgbClr val="000000"/>
              </a:solidFill>
              <a:effectLst/>
              <a:uFillTx/>
              <a:latin typeface="+mn-lt"/>
              <a:ea typeface="+mn-ea"/>
              <a:cs typeface="+mn-cs"/>
              <a:sym typeface="Onest"/>
            </a:endParaRPr>
          </a:p>
        </p:txBody>
      </p:sp>
    </p:spTree>
    <p:extLst>
      <p:ext uri="{BB962C8B-B14F-4D97-AF65-F5344CB8AC3E}">
        <p14:creationId xmlns:p14="http://schemas.microsoft.com/office/powerpoint/2010/main" val="266975916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11F170B0-5563-F940-4CC7-42BC3255502A}"/>
              </a:ext>
            </a:extLst>
          </p:cNvPr>
          <p:cNvSpPr/>
          <p:nvPr/>
        </p:nvSpPr>
        <p:spPr>
          <a:xfrm>
            <a:off x="158809" y="0"/>
            <a:ext cx="9426732" cy="55399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r>
              <a:rPr lang="en-US" sz="3000" b="1" dirty="0" err="1">
                <a:solidFill>
                  <a:srgbClr val="623DB6"/>
                </a:solidFill>
              </a:rPr>
              <a:t>Câu</a:t>
            </a:r>
            <a:r>
              <a:rPr lang="en-US" sz="3000" b="1" dirty="0">
                <a:solidFill>
                  <a:srgbClr val="623DB6"/>
                </a:solidFill>
              </a:rPr>
              <a:t> 2: </a:t>
            </a:r>
            <a:endParaRPr sz="3000" dirty="0">
              <a:solidFill>
                <a:srgbClr val="623DB6"/>
              </a:solidFill>
            </a:endParaRPr>
          </a:p>
        </p:txBody>
      </p:sp>
      <p:pic>
        <p:nvPicPr>
          <p:cNvPr id="3" name="Picture 2">
            <a:extLst>
              <a:ext uri="{FF2B5EF4-FFF2-40B4-BE49-F238E27FC236}">
                <a16:creationId xmlns:a16="http://schemas.microsoft.com/office/drawing/2014/main" id="{6EA67C35-04AF-2ACA-870A-8FED8BF098CE}"/>
              </a:ext>
            </a:extLst>
          </p:cNvPr>
          <p:cNvPicPr>
            <a:picLocks noChangeAspect="1"/>
          </p:cNvPicPr>
          <p:nvPr/>
        </p:nvPicPr>
        <p:blipFill>
          <a:blip r:embed="rId2"/>
          <a:stretch>
            <a:fillRect/>
          </a:stretch>
        </p:blipFill>
        <p:spPr>
          <a:xfrm>
            <a:off x="1686253" y="248327"/>
            <a:ext cx="4249861" cy="2235427"/>
          </a:xfrm>
          <a:prstGeom prst="rect">
            <a:avLst/>
          </a:prstGeom>
        </p:spPr>
      </p:pic>
      <p:cxnSp>
        <p:nvCxnSpPr>
          <p:cNvPr id="5" name="Straight Connector 4">
            <a:extLst>
              <a:ext uri="{FF2B5EF4-FFF2-40B4-BE49-F238E27FC236}">
                <a16:creationId xmlns:a16="http://schemas.microsoft.com/office/drawing/2014/main" id="{24DA9DB7-3481-441A-EA15-8E18480B07A7}"/>
              </a:ext>
            </a:extLst>
          </p:cNvPr>
          <p:cNvCxnSpPr>
            <a:cxnSpLocks/>
          </p:cNvCxnSpPr>
          <p:nvPr/>
        </p:nvCxnSpPr>
        <p:spPr>
          <a:xfrm>
            <a:off x="6096000" y="112887"/>
            <a:ext cx="0" cy="4818806"/>
          </a:xfrm>
          <a:prstGeom prst="line">
            <a:avLst/>
          </a:prstGeom>
          <a:noFill/>
          <a:ln w="12700" cap="flat">
            <a:solidFill>
              <a:schemeClr val="accent1"/>
            </a:solidFill>
            <a:prstDash val="sysDot"/>
            <a:miter lim="800000"/>
          </a:ln>
          <a:effectLst/>
          <a:sp3d/>
        </p:spPr>
        <p:style>
          <a:lnRef idx="0">
            <a:scrgbClr r="0" g="0" b="0"/>
          </a:lnRef>
          <a:fillRef idx="0">
            <a:scrgbClr r="0" g="0" b="0"/>
          </a:fillRef>
          <a:effectRef idx="0">
            <a:scrgbClr r="0" g="0" b="0"/>
          </a:effectRef>
          <a:fontRef idx="none"/>
        </p:style>
      </p:cxnSp>
      <p:pic>
        <p:nvPicPr>
          <p:cNvPr id="9" name="Picture 8">
            <a:extLst>
              <a:ext uri="{FF2B5EF4-FFF2-40B4-BE49-F238E27FC236}">
                <a16:creationId xmlns:a16="http://schemas.microsoft.com/office/drawing/2014/main" id="{66DF3724-A6A1-8F10-22EE-CF9281AEAD09}"/>
              </a:ext>
            </a:extLst>
          </p:cNvPr>
          <p:cNvPicPr>
            <a:picLocks noChangeAspect="1"/>
          </p:cNvPicPr>
          <p:nvPr/>
        </p:nvPicPr>
        <p:blipFill>
          <a:blip r:embed="rId3"/>
          <a:stretch>
            <a:fillRect/>
          </a:stretch>
        </p:blipFill>
        <p:spPr>
          <a:xfrm>
            <a:off x="6246616" y="263627"/>
            <a:ext cx="4328550" cy="2230868"/>
          </a:xfrm>
          <a:prstGeom prst="rect">
            <a:avLst/>
          </a:prstGeom>
        </p:spPr>
      </p:pic>
      <p:pic>
        <p:nvPicPr>
          <p:cNvPr id="10" name="Picture 9">
            <a:extLst>
              <a:ext uri="{FF2B5EF4-FFF2-40B4-BE49-F238E27FC236}">
                <a16:creationId xmlns:a16="http://schemas.microsoft.com/office/drawing/2014/main" id="{9DA63AF1-E614-5F3D-0249-3E2155A6CC37}"/>
              </a:ext>
            </a:extLst>
          </p:cNvPr>
          <p:cNvPicPr>
            <a:picLocks noChangeAspect="1"/>
          </p:cNvPicPr>
          <p:nvPr/>
        </p:nvPicPr>
        <p:blipFill>
          <a:blip r:embed="rId4"/>
          <a:stretch>
            <a:fillRect/>
          </a:stretch>
        </p:blipFill>
        <p:spPr>
          <a:xfrm>
            <a:off x="1676983" y="2696266"/>
            <a:ext cx="4268402" cy="2235427"/>
          </a:xfrm>
          <a:prstGeom prst="rect">
            <a:avLst/>
          </a:prstGeom>
        </p:spPr>
      </p:pic>
      <p:pic>
        <p:nvPicPr>
          <p:cNvPr id="11" name="Picture 10">
            <a:extLst>
              <a:ext uri="{FF2B5EF4-FFF2-40B4-BE49-F238E27FC236}">
                <a16:creationId xmlns:a16="http://schemas.microsoft.com/office/drawing/2014/main" id="{D15380BC-0D9F-2F1E-B22E-A4D59224D17C}"/>
              </a:ext>
            </a:extLst>
          </p:cNvPr>
          <p:cNvPicPr>
            <a:picLocks noChangeAspect="1"/>
          </p:cNvPicPr>
          <p:nvPr/>
        </p:nvPicPr>
        <p:blipFill>
          <a:blip r:embed="rId5"/>
          <a:stretch>
            <a:fillRect/>
          </a:stretch>
        </p:blipFill>
        <p:spPr>
          <a:xfrm>
            <a:off x="6282435" y="2689536"/>
            <a:ext cx="4292731" cy="2230868"/>
          </a:xfrm>
          <a:prstGeom prst="rect">
            <a:avLst/>
          </a:prstGeom>
        </p:spPr>
      </p:pic>
      <p:cxnSp>
        <p:nvCxnSpPr>
          <p:cNvPr id="12" name="Straight Connector 11">
            <a:extLst>
              <a:ext uri="{FF2B5EF4-FFF2-40B4-BE49-F238E27FC236}">
                <a16:creationId xmlns:a16="http://schemas.microsoft.com/office/drawing/2014/main" id="{3F3B9F86-5EE5-5088-C0D0-49D25F6DBF41}"/>
              </a:ext>
            </a:extLst>
          </p:cNvPr>
          <p:cNvCxnSpPr>
            <a:cxnSpLocks/>
          </p:cNvCxnSpPr>
          <p:nvPr/>
        </p:nvCxnSpPr>
        <p:spPr>
          <a:xfrm>
            <a:off x="1921142" y="2562574"/>
            <a:ext cx="9954769" cy="0"/>
          </a:xfrm>
          <a:prstGeom prst="line">
            <a:avLst/>
          </a:prstGeom>
          <a:noFill/>
          <a:ln w="12700" cap="flat">
            <a:solidFill>
              <a:schemeClr val="accent1"/>
            </a:solidFill>
            <a:prstDash val="sysDot"/>
            <a:miter lim="800000"/>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62182CD0-1C2B-F248-5FD3-54583B3DAC24}"/>
              </a:ext>
            </a:extLst>
          </p:cNvPr>
          <p:cNvSpPr txBox="1"/>
          <p:nvPr/>
        </p:nvSpPr>
        <p:spPr>
          <a:xfrm>
            <a:off x="891822" y="1103213"/>
            <a:ext cx="846597"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vi-VN" sz="1200" dirty="0">
                <a:solidFill>
                  <a:schemeClr val="accent1"/>
                </a:solidFill>
              </a:rPr>
              <a:t>QI/2023</a:t>
            </a:r>
            <a:endParaRPr lang="vi-VN" sz="1200" dirty="0">
              <a:solidFill>
                <a:schemeClr val="tx1"/>
              </a:solidFill>
            </a:endParaRPr>
          </a:p>
        </p:txBody>
      </p:sp>
      <p:sp>
        <p:nvSpPr>
          <p:cNvPr id="17" name="TextBox 16">
            <a:extLst>
              <a:ext uri="{FF2B5EF4-FFF2-40B4-BE49-F238E27FC236}">
                <a16:creationId xmlns:a16="http://schemas.microsoft.com/office/drawing/2014/main" id="{A0A2CE52-B25A-9107-D45C-61C674D6429E}"/>
              </a:ext>
            </a:extLst>
          </p:cNvPr>
          <p:cNvSpPr txBox="1"/>
          <p:nvPr/>
        </p:nvSpPr>
        <p:spPr>
          <a:xfrm>
            <a:off x="10725781" y="1151998"/>
            <a:ext cx="105343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vi-VN" sz="1200" dirty="0">
                <a:solidFill>
                  <a:schemeClr val="accent1"/>
                </a:solidFill>
              </a:rPr>
              <a:t>QII/2023</a:t>
            </a:r>
            <a:endParaRPr lang="vi-VN" sz="1200" dirty="0">
              <a:solidFill>
                <a:schemeClr val="tx1"/>
              </a:solidFill>
            </a:endParaRPr>
          </a:p>
        </p:txBody>
      </p:sp>
      <p:sp>
        <p:nvSpPr>
          <p:cNvPr id="18" name="TextBox 17">
            <a:extLst>
              <a:ext uri="{FF2B5EF4-FFF2-40B4-BE49-F238E27FC236}">
                <a16:creationId xmlns:a16="http://schemas.microsoft.com/office/drawing/2014/main" id="{876AE29F-1BDC-A7CD-8F20-0CF3F5F96A54}"/>
              </a:ext>
            </a:extLst>
          </p:cNvPr>
          <p:cNvSpPr txBox="1"/>
          <p:nvPr/>
        </p:nvSpPr>
        <p:spPr>
          <a:xfrm>
            <a:off x="788402" y="3506784"/>
            <a:ext cx="105343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vi-VN" sz="1200" dirty="0">
                <a:solidFill>
                  <a:schemeClr val="accent1"/>
                </a:solidFill>
              </a:rPr>
              <a:t>QIII/2023</a:t>
            </a:r>
            <a:endParaRPr lang="vi-VN" sz="1200" dirty="0">
              <a:solidFill>
                <a:schemeClr val="tx1"/>
              </a:solidFill>
            </a:endParaRPr>
          </a:p>
        </p:txBody>
      </p:sp>
      <p:sp>
        <p:nvSpPr>
          <p:cNvPr id="19" name="TextBox 18">
            <a:extLst>
              <a:ext uri="{FF2B5EF4-FFF2-40B4-BE49-F238E27FC236}">
                <a16:creationId xmlns:a16="http://schemas.microsoft.com/office/drawing/2014/main" id="{6AECB86F-0667-A2FD-FAF3-C8F993D15AEC}"/>
              </a:ext>
            </a:extLst>
          </p:cNvPr>
          <p:cNvSpPr txBox="1"/>
          <p:nvPr/>
        </p:nvSpPr>
        <p:spPr>
          <a:xfrm>
            <a:off x="10822475" y="3557652"/>
            <a:ext cx="105343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vi-VN" sz="1200" dirty="0">
                <a:solidFill>
                  <a:schemeClr val="accent1"/>
                </a:solidFill>
              </a:rPr>
              <a:t>QIV/2023</a:t>
            </a:r>
            <a:endParaRPr lang="vi-VN" sz="1200" dirty="0">
              <a:solidFill>
                <a:schemeClr val="tx1"/>
              </a:solidFill>
            </a:endParaRPr>
          </a:p>
        </p:txBody>
      </p:sp>
      <p:sp>
        <p:nvSpPr>
          <p:cNvPr id="24" name="TextBox 44">
            <a:extLst>
              <a:ext uri="{FF2B5EF4-FFF2-40B4-BE49-F238E27FC236}">
                <a16:creationId xmlns:a16="http://schemas.microsoft.com/office/drawing/2014/main" id="{31EFBD3D-80E8-5007-740D-126061346EC1}"/>
              </a:ext>
            </a:extLst>
          </p:cNvPr>
          <p:cNvSpPr txBox="1"/>
          <p:nvPr/>
        </p:nvSpPr>
        <p:spPr>
          <a:xfrm>
            <a:off x="891823" y="5009794"/>
            <a:ext cx="10984088" cy="147732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nSpc>
                <a:spcPct val="150000"/>
              </a:lnSpc>
              <a:defRPr sz="1200">
                <a:solidFill>
                  <a:srgbClr val="404040"/>
                </a:solidFill>
              </a:defRPr>
            </a:lvl1pPr>
          </a:lstStyle>
          <a:p>
            <a:r>
              <a:rPr lang="vi-VN" dirty="0"/>
              <a:t>Có một xu hướng rõ ràng là </a:t>
            </a:r>
            <a:r>
              <a:rPr lang="vi-VN" b="1" dirty="0"/>
              <a:t>khi giá tăng, số lượng bán có xu hướng giảm, nhưng khi xem xét kỹ hơn qua 4 quý:</a:t>
            </a:r>
          </a:p>
          <a:p>
            <a:r>
              <a:rPr lang="vi-VN" b="1" dirty="0"/>
              <a:t>Biến động về Sản lượng và Doanh thu:</a:t>
            </a:r>
          </a:p>
          <a:p>
            <a:pPr marL="285750" lvl="1" indent="-285750">
              <a:buFont typeface="Arial" panose="020B0604020202020204" pitchFamily="34" charset="0"/>
              <a:buChar char="•"/>
            </a:pPr>
            <a:r>
              <a:rPr lang="vi-VN" sz="1200" dirty="0"/>
              <a:t>Quý I và Quý II là hai quý có sản lượng bán cao nhất và doanh thu tiềm năng lớn nhất, đặc biệt ở phân khúc giá thấp đến trung bình. Điều này có thể liên quan đến các yếu tố mùa vụ (ví dụ: hè, lễ hội cuối năm).</a:t>
            </a:r>
          </a:p>
          <a:p>
            <a:r>
              <a:rPr lang="vi-VN" b="1" dirty="0"/>
              <a:t>Chiến lược Giá có thể thay đổi nhẹ:</a:t>
            </a:r>
          </a:p>
          <a:p>
            <a:pPr marL="285750" lvl="1" indent="-285750">
              <a:buFont typeface="Arial" panose="020B0604020202020204" pitchFamily="34" charset="0"/>
              <a:buChar char="•"/>
            </a:pPr>
            <a:r>
              <a:rPr lang="vi-VN" sz="1200" dirty="0"/>
              <a:t>Trong quý III có sự tập trung mạnh hơn vào các sản phẩm có giá thấp hơn</a:t>
            </a:r>
          </a:p>
        </p:txBody>
      </p:sp>
    </p:spTree>
    <p:extLst>
      <p:ext uri="{BB962C8B-B14F-4D97-AF65-F5344CB8AC3E}">
        <p14:creationId xmlns:p14="http://schemas.microsoft.com/office/powerpoint/2010/main" val="206067326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3FF3B05-48D0-8CAA-C07D-713EE84D9E8C}"/>
            </a:ext>
          </a:extLst>
        </p:cNvPr>
        <p:cNvGrpSpPr/>
        <p:nvPr/>
      </p:nvGrpSpPr>
      <p:grpSpPr>
        <a:xfrm>
          <a:off x="0" y="0"/>
          <a:ext cx="0" cy="0"/>
          <a:chOff x="0" y="0"/>
          <a:chExt cx="0" cy="0"/>
        </a:xfrm>
      </p:grpSpPr>
      <p:sp>
        <p:nvSpPr>
          <p:cNvPr id="2" name="TextBox 3">
            <a:extLst>
              <a:ext uri="{FF2B5EF4-FFF2-40B4-BE49-F238E27FC236}">
                <a16:creationId xmlns:a16="http://schemas.microsoft.com/office/drawing/2014/main" id="{B2FEBFCE-5140-2516-4DA1-0CA8FFE50CDE}"/>
              </a:ext>
            </a:extLst>
          </p:cNvPr>
          <p:cNvSpPr/>
          <p:nvPr/>
        </p:nvSpPr>
        <p:spPr>
          <a:xfrm>
            <a:off x="194684" y="-57342"/>
            <a:ext cx="11061613" cy="55399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r>
              <a:rPr lang="en-US" sz="3000" b="1" dirty="0" err="1">
                <a:solidFill>
                  <a:srgbClr val="623DB6"/>
                </a:solidFill>
              </a:rPr>
              <a:t>Câu</a:t>
            </a:r>
            <a:r>
              <a:rPr lang="en-US" sz="3000" b="1" dirty="0">
                <a:solidFill>
                  <a:srgbClr val="623DB6"/>
                </a:solidFill>
              </a:rPr>
              <a:t> 2: </a:t>
            </a:r>
            <a:endParaRPr sz="3000" dirty="0">
              <a:solidFill>
                <a:srgbClr val="623DB6"/>
              </a:solidFill>
            </a:endParaRPr>
          </a:p>
        </p:txBody>
      </p:sp>
      <p:cxnSp>
        <p:nvCxnSpPr>
          <p:cNvPr id="5" name="Straight Connector 4">
            <a:extLst>
              <a:ext uri="{FF2B5EF4-FFF2-40B4-BE49-F238E27FC236}">
                <a16:creationId xmlns:a16="http://schemas.microsoft.com/office/drawing/2014/main" id="{27DF88EA-9991-0B4F-C8A7-D5BABCAB35C4}"/>
              </a:ext>
            </a:extLst>
          </p:cNvPr>
          <p:cNvCxnSpPr>
            <a:cxnSpLocks/>
          </p:cNvCxnSpPr>
          <p:nvPr/>
        </p:nvCxnSpPr>
        <p:spPr>
          <a:xfrm>
            <a:off x="6096000" y="327378"/>
            <a:ext cx="0" cy="3183466"/>
          </a:xfrm>
          <a:prstGeom prst="line">
            <a:avLst/>
          </a:prstGeom>
          <a:noFill/>
          <a:ln w="12700" cap="flat">
            <a:solidFill>
              <a:schemeClr val="accent1"/>
            </a:solidFill>
            <a:prstDash val="sysDot"/>
            <a:miter lim="800000"/>
          </a:ln>
          <a:effectLst/>
          <a:sp3d/>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92246FD4-5533-DE01-1196-35CDB3C54345}"/>
              </a:ext>
            </a:extLst>
          </p:cNvPr>
          <p:cNvCxnSpPr>
            <a:cxnSpLocks/>
          </p:cNvCxnSpPr>
          <p:nvPr/>
        </p:nvCxnSpPr>
        <p:spPr>
          <a:xfrm>
            <a:off x="194684" y="3510844"/>
            <a:ext cx="11681227" cy="0"/>
          </a:xfrm>
          <a:prstGeom prst="line">
            <a:avLst/>
          </a:prstGeom>
          <a:noFill/>
          <a:ln w="12700" cap="flat">
            <a:solidFill>
              <a:schemeClr val="accent1"/>
            </a:solidFill>
            <a:prstDash val="sysDot"/>
            <a:miter lim="800000"/>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E1BC952C-1A44-E37F-0A19-B06607F29D62}"/>
              </a:ext>
            </a:extLst>
          </p:cNvPr>
          <p:cNvSpPr txBox="1"/>
          <p:nvPr/>
        </p:nvSpPr>
        <p:spPr>
          <a:xfrm>
            <a:off x="5102578" y="190214"/>
            <a:ext cx="99342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vi-VN" dirty="0">
                <a:solidFill>
                  <a:schemeClr val="accent1"/>
                </a:solidFill>
              </a:rPr>
              <a:t>Lazada</a:t>
            </a:r>
            <a:endParaRPr lang="vi-VN" dirty="0">
              <a:solidFill>
                <a:schemeClr val="tx1"/>
              </a:solidFill>
            </a:endParaRPr>
          </a:p>
        </p:txBody>
      </p:sp>
      <p:sp>
        <p:nvSpPr>
          <p:cNvPr id="17" name="TextBox 16">
            <a:extLst>
              <a:ext uri="{FF2B5EF4-FFF2-40B4-BE49-F238E27FC236}">
                <a16:creationId xmlns:a16="http://schemas.microsoft.com/office/drawing/2014/main" id="{8B69A318-F85E-6CE3-CF8E-A1903B80991C}"/>
              </a:ext>
            </a:extLst>
          </p:cNvPr>
          <p:cNvSpPr txBox="1"/>
          <p:nvPr/>
        </p:nvSpPr>
        <p:spPr>
          <a:xfrm>
            <a:off x="6214533" y="190214"/>
            <a:ext cx="1236134"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vi-VN" dirty="0">
                <a:solidFill>
                  <a:schemeClr val="accent1"/>
                </a:solidFill>
              </a:rPr>
              <a:t>Merchant</a:t>
            </a:r>
            <a:endParaRPr lang="vi-VN" dirty="0">
              <a:solidFill>
                <a:schemeClr val="tx1"/>
              </a:solidFill>
            </a:endParaRPr>
          </a:p>
        </p:txBody>
      </p:sp>
      <p:pic>
        <p:nvPicPr>
          <p:cNvPr id="6" name="Picture 5">
            <a:extLst>
              <a:ext uri="{FF2B5EF4-FFF2-40B4-BE49-F238E27FC236}">
                <a16:creationId xmlns:a16="http://schemas.microsoft.com/office/drawing/2014/main" id="{61565F4A-EED0-56CE-6102-6BADD91231DC}"/>
              </a:ext>
            </a:extLst>
          </p:cNvPr>
          <p:cNvPicPr>
            <a:picLocks noChangeAspect="1"/>
          </p:cNvPicPr>
          <p:nvPr/>
        </p:nvPicPr>
        <p:blipFill>
          <a:blip r:embed="rId2"/>
          <a:stretch>
            <a:fillRect/>
          </a:stretch>
        </p:blipFill>
        <p:spPr>
          <a:xfrm>
            <a:off x="620898" y="630209"/>
            <a:ext cx="5102776" cy="2647002"/>
          </a:xfrm>
          <a:prstGeom prst="rect">
            <a:avLst/>
          </a:prstGeom>
        </p:spPr>
      </p:pic>
      <p:pic>
        <p:nvPicPr>
          <p:cNvPr id="8" name="Picture 7">
            <a:extLst>
              <a:ext uri="{FF2B5EF4-FFF2-40B4-BE49-F238E27FC236}">
                <a16:creationId xmlns:a16="http://schemas.microsoft.com/office/drawing/2014/main" id="{37F18161-2F18-1DE4-82AF-2ADF1DD28F6E}"/>
              </a:ext>
            </a:extLst>
          </p:cNvPr>
          <p:cNvPicPr>
            <a:picLocks noChangeAspect="1"/>
          </p:cNvPicPr>
          <p:nvPr/>
        </p:nvPicPr>
        <p:blipFill>
          <a:blip r:embed="rId3"/>
          <a:stretch>
            <a:fillRect/>
          </a:stretch>
        </p:blipFill>
        <p:spPr>
          <a:xfrm>
            <a:off x="6468327" y="634695"/>
            <a:ext cx="5222723" cy="2646994"/>
          </a:xfrm>
          <a:prstGeom prst="rect">
            <a:avLst/>
          </a:prstGeom>
        </p:spPr>
      </p:pic>
      <p:sp>
        <p:nvSpPr>
          <p:cNvPr id="13" name="TextBox 44">
            <a:extLst>
              <a:ext uri="{FF2B5EF4-FFF2-40B4-BE49-F238E27FC236}">
                <a16:creationId xmlns:a16="http://schemas.microsoft.com/office/drawing/2014/main" id="{59FB6AAA-48C0-A787-BD28-D425687A1036}"/>
              </a:ext>
            </a:extLst>
          </p:cNvPr>
          <p:cNvSpPr txBox="1"/>
          <p:nvPr/>
        </p:nvSpPr>
        <p:spPr>
          <a:xfrm>
            <a:off x="620898" y="3895564"/>
            <a:ext cx="11446169" cy="184665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nSpc>
                <a:spcPct val="150000"/>
              </a:lnSpc>
              <a:defRPr sz="1200">
                <a:solidFill>
                  <a:srgbClr val="404040"/>
                </a:solidFill>
              </a:defRPr>
            </a:lvl1pPr>
          </a:lstStyle>
          <a:p>
            <a:pPr marL="171450" indent="-171450">
              <a:buFont typeface="Arial" panose="020B0604020202020204" pitchFamily="34" charset="0"/>
              <a:buChar char="•"/>
            </a:pPr>
            <a:r>
              <a:rPr lang="vi-VN" b="1" dirty="0"/>
              <a:t>Quy mô và Phạm vi:</a:t>
            </a:r>
            <a:r>
              <a:rPr lang="vi-VN" sz="1800" dirty="0"/>
              <a:t> </a:t>
            </a:r>
            <a:r>
              <a:rPr lang="vi-VN" sz="1200" b="1" dirty="0"/>
              <a:t>Lazada là kênh có quy mô lớn hơn hẳn</a:t>
            </a:r>
            <a:r>
              <a:rPr lang="vi-VN" sz="1200" dirty="0"/>
              <a:t> về sự đa dạng danh mục, và tổng doanh thu tiềm năng.</a:t>
            </a:r>
          </a:p>
          <a:p>
            <a:pPr marL="171450" indent="-171450">
              <a:buFont typeface="Arial" panose="020B0604020202020204" pitchFamily="34" charset="0"/>
              <a:buChar char="•"/>
            </a:pPr>
            <a:r>
              <a:rPr lang="vi-VN" b="1" dirty="0"/>
              <a:t>Chiến lược Giá:</a:t>
            </a:r>
            <a:r>
              <a:rPr lang="vi-VN" sz="1800" dirty="0"/>
              <a:t> </a:t>
            </a:r>
            <a:r>
              <a:rPr lang="vi-VN" sz="1200" b="1" dirty="0"/>
              <a:t>Merchant</a:t>
            </a:r>
            <a:r>
              <a:rPr lang="vi-VN" sz="1200" dirty="0"/>
              <a:t>  phục vụ một phổ giá rộng, từ các mặt hàng giá rẻ đến các mặt hàng cao cấp. </a:t>
            </a:r>
            <a:r>
              <a:rPr lang="vi-VN" sz="1200" b="1" dirty="0"/>
              <a:t>Lazada </a:t>
            </a:r>
            <a:r>
              <a:rPr lang="vi-VN" sz="1200" dirty="0"/>
              <a:t>tập trung vào phân khúc giá thấp hơn</a:t>
            </a:r>
          </a:p>
          <a:p>
            <a:pPr marL="171450" indent="-171450">
              <a:buFont typeface="Arial" panose="020B0604020202020204" pitchFamily="34" charset="0"/>
              <a:buChar char="•"/>
            </a:pPr>
            <a:r>
              <a:rPr lang="vi-VN" b="1" dirty="0"/>
              <a:t>Hiệu suất Bán hàng:</a:t>
            </a:r>
            <a:endParaRPr lang="vi-VN" dirty="0"/>
          </a:p>
          <a:p>
            <a:pPr marL="171450" lvl="1" indent="-171450">
              <a:buFont typeface="Arial" panose="020B0604020202020204" pitchFamily="34" charset="0"/>
              <a:buChar char="•"/>
            </a:pPr>
            <a:r>
              <a:rPr lang="vi-VN" sz="1200" b="1" dirty="0"/>
              <a:t>Lazada</a:t>
            </a:r>
            <a:r>
              <a:rPr lang="vi-VN" sz="1200" dirty="0"/>
              <a:t> cho thấy khả năng bán được số lượng lớn hơn nhiều cho mỗi SKU, đặc biệt là ở các mức giá cạnh tranh.</a:t>
            </a:r>
          </a:p>
          <a:p>
            <a:pPr marL="171450" lvl="1" indent="-171450">
              <a:buFont typeface="Arial" panose="020B0604020202020204" pitchFamily="34" charset="0"/>
              <a:buChar char="•"/>
            </a:pPr>
            <a:r>
              <a:rPr lang="vi-VN" sz="1200" b="1" dirty="0"/>
              <a:t>Merchant</a:t>
            </a:r>
            <a:r>
              <a:rPr lang="vi-VN" sz="1200" dirty="0"/>
              <a:t> có số lượng bán trên mỗi SKU thấp, có thể do khả năng tiếp cận thị trường hạn chế hơn</a:t>
            </a:r>
            <a:br>
              <a:rPr lang="vi-VN" dirty="0"/>
            </a:br>
            <a:endParaRPr lang="vi-VN" dirty="0"/>
          </a:p>
        </p:txBody>
      </p:sp>
    </p:spTree>
    <p:extLst>
      <p:ext uri="{BB962C8B-B14F-4D97-AF65-F5344CB8AC3E}">
        <p14:creationId xmlns:p14="http://schemas.microsoft.com/office/powerpoint/2010/main" val="156669710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69C6F3B-084D-0935-D33C-36C99FDAD595}"/>
            </a:ext>
          </a:extLst>
        </p:cNvPr>
        <p:cNvGrpSpPr/>
        <p:nvPr/>
      </p:nvGrpSpPr>
      <p:grpSpPr>
        <a:xfrm>
          <a:off x="0" y="0"/>
          <a:ext cx="0" cy="0"/>
          <a:chOff x="0" y="0"/>
          <a:chExt cx="0" cy="0"/>
        </a:xfrm>
      </p:grpSpPr>
      <p:sp>
        <p:nvSpPr>
          <p:cNvPr id="2" name="TextBox 3">
            <a:extLst>
              <a:ext uri="{FF2B5EF4-FFF2-40B4-BE49-F238E27FC236}">
                <a16:creationId xmlns:a16="http://schemas.microsoft.com/office/drawing/2014/main" id="{66A8D305-DB9A-7ABA-8838-D2CF6AF3C040}"/>
              </a:ext>
            </a:extLst>
          </p:cNvPr>
          <p:cNvSpPr/>
          <p:nvPr/>
        </p:nvSpPr>
        <p:spPr>
          <a:xfrm>
            <a:off x="194684" y="-57342"/>
            <a:ext cx="11061613" cy="55399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r>
              <a:rPr lang="en-US" sz="3000" b="1" dirty="0" err="1">
                <a:solidFill>
                  <a:srgbClr val="623DB6"/>
                </a:solidFill>
              </a:rPr>
              <a:t>Câu</a:t>
            </a:r>
            <a:r>
              <a:rPr lang="en-US" sz="3000" b="1" dirty="0">
                <a:solidFill>
                  <a:srgbClr val="623DB6"/>
                </a:solidFill>
              </a:rPr>
              <a:t> 2: </a:t>
            </a:r>
            <a:endParaRPr sz="3000" dirty="0">
              <a:solidFill>
                <a:srgbClr val="623DB6"/>
              </a:solidFill>
            </a:endParaRPr>
          </a:p>
        </p:txBody>
      </p:sp>
      <p:cxnSp>
        <p:nvCxnSpPr>
          <p:cNvPr id="5" name="Straight Connector 4">
            <a:extLst>
              <a:ext uri="{FF2B5EF4-FFF2-40B4-BE49-F238E27FC236}">
                <a16:creationId xmlns:a16="http://schemas.microsoft.com/office/drawing/2014/main" id="{FDEC31D9-D3A8-1071-5D53-6D4D15545FBF}"/>
              </a:ext>
            </a:extLst>
          </p:cNvPr>
          <p:cNvCxnSpPr>
            <a:cxnSpLocks/>
          </p:cNvCxnSpPr>
          <p:nvPr/>
        </p:nvCxnSpPr>
        <p:spPr>
          <a:xfrm>
            <a:off x="6096000" y="327378"/>
            <a:ext cx="0" cy="3183466"/>
          </a:xfrm>
          <a:prstGeom prst="line">
            <a:avLst/>
          </a:prstGeom>
          <a:noFill/>
          <a:ln w="12700" cap="flat">
            <a:solidFill>
              <a:schemeClr val="accent1"/>
            </a:solidFill>
            <a:prstDash val="sysDot"/>
            <a:miter lim="800000"/>
          </a:ln>
          <a:effectLst/>
          <a:sp3d/>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381944E6-CECA-5F86-F350-D09EA0C514F4}"/>
              </a:ext>
            </a:extLst>
          </p:cNvPr>
          <p:cNvCxnSpPr>
            <a:cxnSpLocks/>
          </p:cNvCxnSpPr>
          <p:nvPr/>
        </p:nvCxnSpPr>
        <p:spPr>
          <a:xfrm>
            <a:off x="194684" y="3510844"/>
            <a:ext cx="11681227" cy="0"/>
          </a:xfrm>
          <a:prstGeom prst="line">
            <a:avLst/>
          </a:prstGeom>
          <a:noFill/>
          <a:ln w="12700" cap="flat">
            <a:solidFill>
              <a:schemeClr val="accent1"/>
            </a:solidFill>
            <a:prstDash val="sysDot"/>
            <a:miter lim="800000"/>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5877308E-F208-425A-4197-7C1E14B97EBB}"/>
              </a:ext>
            </a:extLst>
          </p:cNvPr>
          <p:cNvSpPr txBox="1"/>
          <p:nvPr/>
        </p:nvSpPr>
        <p:spPr>
          <a:xfrm>
            <a:off x="5102578" y="190214"/>
            <a:ext cx="99342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vi-VN" dirty="0">
                <a:solidFill>
                  <a:schemeClr val="accent1"/>
                </a:solidFill>
              </a:rPr>
              <a:t>B2B</a:t>
            </a:r>
            <a:endParaRPr lang="vi-VN" dirty="0">
              <a:solidFill>
                <a:schemeClr val="tx1"/>
              </a:solidFill>
            </a:endParaRPr>
          </a:p>
        </p:txBody>
      </p:sp>
      <p:sp>
        <p:nvSpPr>
          <p:cNvPr id="17" name="TextBox 16">
            <a:extLst>
              <a:ext uri="{FF2B5EF4-FFF2-40B4-BE49-F238E27FC236}">
                <a16:creationId xmlns:a16="http://schemas.microsoft.com/office/drawing/2014/main" id="{DA3F8B9C-83D3-283F-7D18-5205386FEA76}"/>
              </a:ext>
            </a:extLst>
          </p:cNvPr>
          <p:cNvSpPr txBox="1"/>
          <p:nvPr/>
        </p:nvSpPr>
        <p:spPr>
          <a:xfrm>
            <a:off x="6214533" y="190214"/>
            <a:ext cx="1236134"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vi-VN" dirty="0">
                <a:solidFill>
                  <a:schemeClr val="accent1"/>
                </a:solidFill>
              </a:rPr>
              <a:t>B2C</a:t>
            </a:r>
            <a:endParaRPr lang="vi-VN" dirty="0">
              <a:solidFill>
                <a:schemeClr val="tx1"/>
              </a:solidFill>
            </a:endParaRPr>
          </a:p>
        </p:txBody>
      </p:sp>
      <p:pic>
        <p:nvPicPr>
          <p:cNvPr id="4" name="Picture 3">
            <a:extLst>
              <a:ext uri="{FF2B5EF4-FFF2-40B4-BE49-F238E27FC236}">
                <a16:creationId xmlns:a16="http://schemas.microsoft.com/office/drawing/2014/main" id="{A6FD6C05-FC3E-F45B-8E89-E6AC65102E8C}"/>
              </a:ext>
            </a:extLst>
          </p:cNvPr>
          <p:cNvPicPr>
            <a:picLocks noChangeAspect="1"/>
          </p:cNvPicPr>
          <p:nvPr/>
        </p:nvPicPr>
        <p:blipFill>
          <a:blip r:embed="rId2"/>
          <a:stretch>
            <a:fillRect/>
          </a:stretch>
        </p:blipFill>
        <p:spPr>
          <a:xfrm>
            <a:off x="6411672" y="630209"/>
            <a:ext cx="5041754" cy="2615348"/>
          </a:xfrm>
          <a:prstGeom prst="rect">
            <a:avLst/>
          </a:prstGeom>
        </p:spPr>
      </p:pic>
      <p:pic>
        <p:nvPicPr>
          <p:cNvPr id="3" name="Picture 2">
            <a:extLst>
              <a:ext uri="{FF2B5EF4-FFF2-40B4-BE49-F238E27FC236}">
                <a16:creationId xmlns:a16="http://schemas.microsoft.com/office/drawing/2014/main" id="{7F808097-D656-F634-F24A-49C437F5B926}"/>
              </a:ext>
            </a:extLst>
          </p:cNvPr>
          <p:cNvPicPr>
            <a:picLocks noChangeAspect="1"/>
          </p:cNvPicPr>
          <p:nvPr/>
        </p:nvPicPr>
        <p:blipFill>
          <a:blip r:embed="rId3"/>
          <a:stretch>
            <a:fillRect/>
          </a:stretch>
        </p:blipFill>
        <p:spPr>
          <a:xfrm>
            <a:off x="620889" y="604846"/>
            <a:ext cx="5250953" cy="2640711"/>
          </a:xfrm>
          <a:prstGeom prst="rect">
            <a:avLst/>
          </a:prstGeom>
        </p:spPr>
      </p:pic>
      <p:sp>
        <p:nvSpPr>
          <p:cNvPr id="7" name="TextBox 44">
            <a:extLst>
              <a:ext uri="{FF2B5EF4-FFF2-40B4-BE49-F238E27FC236}">
                <a16:creationId xmlns:a16="http://schemas.microsoft.com/office/drawing/2014/main" id="{99BDBF35-E2B7-48EA-CA48-480F161A7D06}"/>
              </a:ext>
            </a:extLst>
          </p:cNvPr>
          <p:cNvSpPr txBox="1"/>
          <p:nvPr/>
        </p:nvSpPr>
        <p:spPr>
          <a:xfrm>
            <a:off x="620889" y="3510844"/>
            <a:ext cx="11446169" cy="33415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nSpc>
                <a:spcPct val="150000"/>
              </a:lnSpc>
              <a:defRPr sz="1200">
                <a:solidFill>
                  <a:srgbClr val="404040"/>
                </a:solidFill>
              </a:defRPr>
            </a:lvl1pPr>
          </a:lstStyle>
          <a:p>
            <a:pPr marL="171450" indent="-171450">
              <a:buFont typeface="Arial" panose="020B0604020202020204" pitchFamily="34" charset="0"/>
              <a:buChar char="•"/>
            </a:pPr>
            <a:r>
              <a:rPr lang="vi-VN" b="1" dirty="0"/>
              <a:t>Quy mô Giao dịch: </a:t>
            </a:r>
            <a:r>
              <a:rPr lang="vi-VN" sz="1200" b="1" dirty="0"/>
              <a:t>B2C mang lại doanh thu lớn hơn </a:t>
            </a:r>
            <a:r>
              <a:rPr lang="vi-VN" sz="1200" dirty="0"/>
              <a:t>cả về số lượng mua mỗi lần và tổng giá trị.</a:t>
            </a:r>
          </a:p>
          <a:p>
            <a:pPr marL="171450" indent="-171450">
              <a:buFont typeface="Arial" panose="020B0604020202020204" pitchFamily="34" charset="0"/>
              <a:buChar char="•"/>
            </a:pPr>
            <a:r>
              <a:rPr lang="vi-VN" b="1" dirty="0"/>
              <a:t>Hành vi Mua hàng và Độ nhạy cảm về Giá:</a:t>
            </a:r>
            <a:r>
              <a:rPr lang="vi-VN" sz="1800" dirty="0"/>
              <a:t> </a:t>
            </a:r>
          </a:p>
          <a:p>
            <a:pPr marL="171450" indent="-171450">
              <a:buFont typeface="Arial" panose="020B0604020202020204" pitchFamily="34" charset="0"/>
              <a:buChar char="•"/>
            </a:pPr>
            <a:r>
              <a:rPr lang="vi-VN" sz="1200" dirty="0"/>
              <a:t>Khách hàng B2C  số lượng bán cao ở mức giá thấp/cạnh tranh và giảm dần khi giá tăng. Họ mua sắm cho nhu cầu cá nhân đa dạng.</a:t>
            </a:r>
          </a:p>
          <a:p>
            <a:pPr marL="171450" lvl="1" indent="-171450">
              <a:buFont typeface="Arial" panose="020B0604020202020204" pitchFamily="34" charset="0"/>
              <a:buChar char="•"/>
            </a:pPr>
            <a:r>
              <a:rPr lang="vi-VN" sz="1200" dirty="0"/>
              <a:t>Khách hàng B2B có thể có những cân nhắc khác khi mua hàng. Mặc dù họ cũng mua ở mức giá tương đối thấp, số lượng mua mỗi lần không quá lớn. Điều này có thể do họ mua cho nhu cầu cụ thể của doanh nghiệp, có thể là các đơn hàng nhỏ lẻ hoặc các mặt hàng chuyên biệt. Họ có thể ít bị ảnh hưởng bởi các "trend" mua sắm số lượng lớn như B2C.</a:t>
            </a:r>
          </a:p>
          <a:p>
            <a:pPr marL="171450" indent="-171450">
              <a:buFont typeface="Arial" panose="020B0604020202020204" pitchFamily="34" charset="0"/>
              <a:buChar char="•"/>
            </a:pPr>
            <a:r>
              <a:rPr lang="vi-VN" b="1" dirty="0"/>
              <a:t>Sự đa dạng Sản phẩm:</a:t>
            </a:r>
            <a:endParaRPr lang="vi-VN" dirty="0"/>
          </a:p>
          <a:p>
            <a:pPr marL="171450" lvl="1" indent="-171450">
              <a:buFont typeface="Arial" panose="020B0604020202020204" pitchFamily="34" charset="0"/>
              <a:buChar char="•"/>
            </a:pPr>
            <a:r>
              <a:rPr lang="vi-VN" sz="1200" dirty="0"/>
              <a:t>B2C phục vụ nhu cầu đa dạng của người tiêu dùng cá nhân, do đó danh mục sản phẩm rất rộng.</a:t>
            </a:r>
          </a:p>
          <a:p>
            <a:pPr marL="171450" lvl="1" indent="-171450">
              <a:buFont typeface="Arial" panose="020B0604020202020204" pitchFamily="34" charset="0"/>
              <a:buChar char="•"/>
            </a:pPr>
            <a:r>
              <a:rPr lang="vi-VN" sz="1200" dirty="0"/>
              <a:t>B2B có thể tập trung vào các sản phẩm thiết thực hơn hoặc có tính ứng dụng cụ thể cho doanh nghiệp, dẫn đến danh mục ít đa dạng hơn.</a:t>
            </a:r>
          </a:p>
          <a:p>
            <a:pPr marL="171450" indent="-171450">
              <a:buFont typeface="Arial" panose="020B0604020202020204" pitchFamily="34" charset="0"/>
              <a:buChar char="•"/>
            </a:pPr>
            <a:r>
              <a:rPr lang="vi-VN" b="1" dirty="0"/>
              <a:t>Tiềm năng Tăng trưởng của B2B:</a:t>
            </a:r>
            <a:endParaRPr lang="vi-VN" dirty="0"/>
          </a:p>
          <a:p>
            <a:pPr marL="171450" lvl="1" indent="-171450">
              <a:buFont typeface="Arial" panose="020B0604020202020204" pitchFamily="34" charset="0"/>
              <a:buChar char="•"/>
            </a:pPr>
            <a:r>
              <a:rPr lang="vi-VN" sz="1200" dirty="0"/>
              <a:t>Hiện tại, đóng góp của B2B vào tổng doanh thu có vẻ không lớn (dựa trên kích thước bong bóng). Tuy nhiên, khách hàng B2B thường có tiềm năng mua lặp lại và giá trị vòng đời cao nếu được chăm sóc tốt.</a:t>
            </a:r>
          </a:p>
          <a:p>
            <a:pPr marL="171450" lvl="1" indent="-171450">
              <a:buFont typeface="Arial" panose="020B0604020202020204" pitchFamily="34" charset="0"/>
              <a:buChar char="•"/>
            </a:pPr>
            <a:r>
              <a:rPr lang="vi-VN" sz="1200" dirty="0"/>
              <a:t>Việc số lượng mua mỗi lần còn thấp (cao nhất chỉ 6-7 đơn vị) cho thấy có thể chưa khai thác hết tiềm năng bán số lượng lớn cho các doanh nghiệp (ví dụ: đồng phục công ty, đơn hàng quà tặng lớn).</a:t>
            </a:r>
          </a:p>
          <a:p>
            <a:pPr marL="171450" indent="-171450">
              <a:buFont typeface="Arial" panose="020B0604020202020204" pitchFamily="34" charset="0"/>
              <a:buChar char="•"/>
            </a:pPr>
            <a:endParaRPr lang="vi-VN" dirty="0"/>
          </a:p>
        </p:txBody>
      </p:sp>
    </p:spTree>
    <p:extLst>
      <p:ext uri="{BB962C8B-B14F-4D97-AF65-F5344CB8AC3E}">
        <p14:creationId xmlns:p14="http://schemas.microsoft.com/office/powerpoint/2010/main" val="217464583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110CC13-9EB7-9C59-0A5D-E4EB04AB15F2}"/>
            </a:ext>
          </a:extLst>
        </p:cNvPr>
        <p:cNvGrpSpPr/>
        <p:nvPr/>
      </p:nvGrpSpPr>
      <p:grpSpPr>
        <a:xfrm>
          <a:off x="0" y="0"/>
          <a:ext cx="0" cy="0"/>
          <a:chOff x="0" y="0"/>
          <a:chExt cx="0" cy="0"/>
        </a:xfrm>
      </p:grpSpPr>
      <p:sp>
        <p:nvSpPr>
          <p:cNvPr id="2" name="TextBox 3">
            <a:extLst>
              <a:ext uri="{FF2B5EF4-FFF2-40B4-BE49-F238E27FC236}">
                <a16:creationId xmlns:a16="http://schemas.microsoft.com/office/drawing/2014/main" id="{0E629E3C-076B-26F1-DFB4-1F8896605A5C}"/>
              </a:ext>
            </a:extLst>
          </p:cNvPr>
          <p:cNvSpPr/>
          <p:nvPr/>
        </p:nvSpPr>
        <p:spPr>
          <a:xfrm>
            <a:off x="194684" y="-57342"/>
            <a:ext cx="11061613" cy="55399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r>
              <a:rPr lang="en-US" sz="3000" b="1" dirty="0" err="1">
                <a:solidFill>
                  <a:srgbClr val="623DB6"/>
                </a:solidFill>
              </a:rPr>
              <a:t>Câu</a:t>
            </a:r>
            <a:r>
              <a:rPr lang="en-US" sz="3000" b="1" dirty="0">
                <a:solidFill>
                  <a:srgbClr val="623DB6"/>
                </a:solidFill>
              </a:rPr>
              <a:t> 2: </a:t>
            </a:r>
            <a:endParaRPr sz="3000" dirty="0">
              <a:solidFill>
                <a:srgbClr val="623DB6"/>
              </a:solidFill>
            </a:endParaRPr>
          </a:p>
        </p:txBody>
      </p:sp>
      <p:cxnSp>
        <p:nvCxnSpPr>
          <p:cNvPr id="5" name="Straight Connector 4">
            <a:extLst>
              <a:ext uri="{FF2B5EF4-FFF2-40B4-BE49-F238E27FC236}">
                <a16:creationId xmlns:a16="http://schemas.microsoft.com/office/drawing/2014/main" id="{EFB6A40E-C9F5-43C9-0C94-E8870F5C795E}"/>
              </a:ext>
            </a:extLst>
          </p:cNvPr>
          <p:cNvCxnSpPr>
            <a:cxnSpLocks/>
          </p:cNvCxnSpPr>
          <p:nvPr/>
        </p:nvCxnSpPr>
        <p:spPr>
          <a:xfrm>
            <a:off x="6096000" y="1109797"/>
            <a:ext cx="0" cy="3183466"/>
          </a:xfrm>
          <a:prstGeom prst="line">
            <a:avLst/>
          </a:prstGeom>
          <a:noFill/>
          <a:ln w="12700" cap="flat">
            <a:solidFill>
              <a:schemeClr val="accent1"/>
            </a:solidFill>
            <a:prstDash val="sysDot"/>
            <a:miter lim="800000"/>
          </a:ln>
          <a:effectLst/>
          <a:sp3d/>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24634A8F-F71A-090A-2FAD-AD0EFF076238}"/>
              </a:ext>
            </a:extLst>
          </p:cNvPr>
          <p:cNvCxnSpPr>
            <a:cxnSpLocks/>
          </p:cNvCxnSpPr>
          <p:nvPr/>
        </p:nvCxnSpPr>
        <p:spPr>
          <a:xfrm>
            <a:off x="628301" y="4293263"/>
            <a:ext cx="11681227" cy="0"/>
          </a:xfrm>
          <a:prstGeom prst="line">
            <a:avLst/>
          </a:prstGeom>
          <a:noFill/>
          <a:ln w="12700" cap="flat">
            <a:solidFill>
              <a:schemeClr val="accent1"/>
            </a:solidFill>
            <a:prstDash val="sysDot"/>
            <a:miter lim="800000"/>
          </a:ln>
          <a:effectLst/>
          <a:sp3d/>
        </p:spPr>
        <p:style>
          <a:lnRef idx="0">
            <a:scrgbClr r="0" g="0" b="0"/>
          </a:lnRef>
          <a:fillRef idx="0">
            <a:scrgbClr r="0" g="0" b="0"/>
          </a:fillRef>
          <a:effectRef idx="0">
            <a:scrgbClr r="0" g="0" b="0"/>
          </a:effectRef>
          <a:fontRef idx="none"/>
        </p:style>
      </p:cxnSp>
      <p:sp>
        <p:nvSpPr>
          <p:cNvPr id="16" name="TextBox 15">
            <a:extLst>
              <a:ext uri="{FF2B5EF4-FFF2-40B4-BE49-F238E27FC236}">
                <a16:creationId xmlns:a16="http://schemas.microsoft.com/office/drawing/2014/main" id="{844477C8-C6ED-8565-02D5-43B20998A6E0}"/>
              </a:ext>
            </a:extLst>
          </p:cNvPr>
          <p:cNvSpPr txBox="1"/>
          <p:nvPr/>
        </p:nvSpPr>
        <p:spPr>
          <a:xfrm>
            <a:off x="4775200" y="972633"/>
            <a:ext cx="13208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vi-VN" dirty="0">
                <a:solidFill>
                  <a:schemeClr val="accent1"/>
                </a:solidFill>
              </a:rPr>
              <a:t>Arizona</a:t>
            </a:r>
            <a:endParaRPr lang="vi-VN" dirty="0">
              <a:solidFill>
                <a:schemeClr val="tx1"/>
              </a:solidFill>
            </a:endParaRPr>
          </a:p>
        </p:txBody>
      </p:sp>
      <p:sp>
        <p:nvSpPr>
          <p:cNvPr id="17" name="TextBox 16">
            <a:extLst>
              <a:ext uri="{FF2B5EF4-FFF2-40B4-BE49-F238E27FC236}">
                <a16:creationId xmlns:a16="http://schemas.microsoft.com/office/drawing/2014/main" id="{07A5472D-8C27-7D34-A9EB-31896E5F5D82}"/>
              </a:ext>
            </a:extLst>
          </p:cNvPr>
          <p:cNvSpPr txBox="1"/>
          <p:nvPr/>
        </p:nvSpPr>
        <p:spPr>
          <a:xfrm>
            <a:off x="6214533" y="972633"/>
            <a:ext cx="1236134"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vi-VN" dirty="0">
                <a:solidFill>
                  <a:schemeClr val="accent1"/>
                </a:solidFill>
              </a:rPr>
              <a:t>Delaware</a:t>
            </a:r>
            <a:endParaRPr lang="vi-VN" dirty="0">
              <a:solidFill>
                <a:schemeClr val="tx1"/>
              </a:solidFill>
            </a:endParaRPr>
          </a:p>
        </p:txBody>
      </p:sp>
      <p:pic>
        <p:nvPicPr>
          <p:cNvPr id="7" name="Picture 6">
            <a:extLst>
              <a:ext uri="{FF2B5EF4-FFF2-40B4-BE49-F238E27FC236}">
                <a16:creationId xmlns:a16="http://schemas.microsoft.com/office/drawing/2014/main" id="{7A10B791-2ECB-F8AB-3A19-F64AA4DB33CB}"/>
              </a:ext>
            </a:extLst>
          </p:cNvPr>
          <p:cNvPicPr>
            <a:picLocks noChangeAspect="1"/>
          </p:cNvPicPr>
          <p:nvPr/>
        </p:nvPicPr>
        <p:blipFill>
          <a:blip r:embed="rId2"/>
          <a:stretch>
            <a:fillRect/>
          </a:stretch>
        </p:blipFill>
        <p:spPr>
          <a:xfrm>
            <a:off x="738574" y="1416669"/>
            <a:ext cx="5153375" cy="2611307"/>
          </a:xfrm>
          <a:prstGeom prst="rect">
            <a:avLst/>
          </a:prstGeom>
        </p:spPr>
      </p:pic>
      <p:pic>
        <p:nvPicPr>
          <p:cNvPr id="8" name="Picture 7">
            <a:extLst>
              <a:ext uri="{FF2B5EF4-FFF2-40B4-BE49-F238E27FC236}">
                <a16:creationId xmlns:a16="http://schemas.microsoft.com/office/drawing/2014/main" id="{4A1CBAA4-41EB-CAE4-E774-BD05D7435968}"/>
              </a:ext>
            </a:extLst>
          </p:cNvPr>
          <p:cNvPicPr>
            <a:picLocks noChangeAspect="1"/>
          </p:cNvPicPr>
          <p:nvPr/>
        </p:nvPicPr>
        <p:blipFill>
          <a:blip r:embed="rId3"/>
          <a:stretch>
            <a:fillRect/>
          </a:stretch>
        </p:blipFill>
        <p:spPr>
          <a:xfrm>
            <a:off x="6389512" y="1416669"/>
            <a:ext cx="5403752" cy="2611308"/>
          </a:xfrm>
          <a:prstGeom prst="rect">
            <a:avLst/>
          </a:prstGeom>
        </p:spPr>
      </p:pic>
      <p:sp>
        <p:nvSpPr>
          <p:cNvPr id="11" name="TextBox 44">
            <a:extLst>
              <a:ext uri="{FF2B5EF4-FFF2-40B4-BE49-F238E27FC236}">
                <a16:creationId xmlns:a16="http://schemas.microsoft.com/office/drawing/2014/main" id="{C4CDCB55-D0C0-016F-ADAC-1AE9F189A2C5}"/>
              </a:ext>
            </a:extLst>
          </p:cNvPr>
          <p:cNvSpPr txBox="1"/>
          <p:nvPr/>
        </p:nvSpPr>
        <p:spPr>
          <a:xfrm>
            <a:off x="745831" y="4713027"/>
            <a:ext cx="11446169" cy="61773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nSpc>
                <a:spcPct val="150000"/>
              </a:lnSpc>
              <a:defRPr sz="1200">
                <a:solidFill>
                  <a:srgbClr val="404040"/>
                </a:solidFill>
              </a:defRPr>
            </a:lvl1pPr>
          </a:lstStyle>
          <a:p>
            <a:r>
              <a:rPr lang="vi-VN" dirty="0"/>
              <a:t>Việc người tiêu dùng ở các vùng khác nhau ưa chuộng những sản phẩm với mức giá và phân loại khác nhau cho thấy văn hóa, khí hậu địa phương tác động không nhỏ đến lựa chọn thời trang của họ</a:t>
            </a:r>
          </a:p>
        </p:txBody>
      </p:sp>
    </p:spTree>
    <p:extLst>
      <p:ext uri="{BB962C8B-B14F-4D97-AF65-F5344CB8AC3E}">
        <p14:creationId xmlns:p14="http://schemas.microsoft.com/office/powerpoint/2010/main" val="202974480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C3C5B06-F549-51D2-83C1-719134E504CB}"/>
            </a:ext>
          </a:extLst>
        </p:cNvPr>
        <p:cNvGrpSpPr/>
        <p:nvPr/>
      </p:nvGrpSpPr>
      <p:grpSpPr>
        <a:xfrm>
          <a:off x="0" y="0"/>
          <a:ext cx="0" cy="0"/>
          <a:chOff x="0" y="0"/>
          <a:chExt cx="0" cy="0"/>
        </a:xfrm>
      </p:grpSpPr>
      <p:sp>
        <p:nvSpPr>
          <p:cNvPr id="2" name="TextBox 3">
            <a:extLst>
              <a:ext uri="{FF2B5EF4-FFF2-40B4-BE49-F238E27FC236}">
                <a16:creationId xmlns:a16="http://schemas.microsoft.com/office/drawing/2014/main" id="{DDD845DD-06CE-01FE-F904-0AA646F4B0AA}"/>
              </a:ext>
            </a:extLst>
          </p:cNvPr>
          <p:cNvSpPr/>
          <p:nvPr/>
        </p:nvSpPr>
        <p:spPr>
          <a:xfrm>
            <a:off x="194684" y="-57342"/>
            <a:ext cx="11061613" cy="55399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r>
              <a:rPr lang="en-US" sz="3000" b="1" dirty="0" err="1">
                <a:solidFill>
                  <a:srgbClr val="623DB6"/>
                </a:solidFill>
              </a:rPr>
              <a:t>Câu</a:t>
            </a:r>
            <a:r>
              <a:rPr lang="en-US" sz="3000" b="1" dirty="0">
                <a:solidFill>
                  <a:srgbClr val="623DB6"/>
                </a:solidFill>
              </a:rPr>
              <a:t> 3: </a:t>
            </a:r>
            <a:endParaRPr sz="3000" dirty="0">
              <a:solidFill>
                <a:srgbClr val="623DB6"/>
              </a:solidFill>
            </a:endParaRPr>
          </a:p>
        </p:txBody>
      </p:sp>
      <p:pic>
        <p:nvPicPr>
          <p:cNvPr id="3" name="Picture 2">
            <a:extLst>
              <a:ext uri="{FF2B5EF4-FFF2-40B4-BE49-F238E27FC236}">
                <a16:creationId xmlns:a16="http://schemas.microsoft.com/office/drawing/2014/main" id="{BF4B95FC-625C-1C28-F1F4-0202F7D1BF08}"/>
              </a:ext>
            </a:extLst>
          </p:cNvPr>
          <p:cNvPicPr>
            <a:picLocks noChangeAspect="1"/>
          </p:cNvPicPr>
          <p:nvPr/>
        </p:nvPicPr>
        <p:blipFill>
          <a:blip r:embed="rId2"/>
          <a:stretch>
            <a:fillRect/>
          </a:stretch>
        </p:blipFill>
        <p:spPr>
          <a:xfrm>
            <a:off x="1682045" y="496654"/>
            <a:ext cx="8421086" cy="4218799"/>
          </a:xfrm>
          <a:prstGeom prst="rect">
            <a:avLst/>
          </a:prstGeom>
        </p:spPr>
      </p:pic>
      <p:sp>
        <p:nvSpPr>
          <p:cNvPr id="6" name="TextBox 5">
            <a:extLst>
              <a:ext uri="{FF2B5EF4-FFF2-40B4-BE49-F238E27FC236}">
                <a16:creationId xmlns:a16="http://schemas.microsoft.com/office/drawing/2014/main" id="{F6E0AAE8-46C8-DE73-7FF1-8092258F0F25}"/>
              </a:ext>
            </a:extLst>
          </p:cNvPr>
          <p:cNvSpPr txBox="1"/>
          <p:nvPr/>
        </p:nvSpPr>
        <p:spPr>
          <a:xfrm>
            <a:off x="956783" y="4847843"/>
            <a:ext cx="10095040" cy="133825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00"/>
              </a:lnSpc>
              <a:spcAft>
                <a:spcPts val="225"/>
              </a:spcAft>
            </a:pPr>
            <a:r>
              <a:rPr lang="vi-VN" sz="1100" b="1" i="0" dirty="0">
                <a:solidFill>
                  <a:schemeClr val="tx1"/>
                </a:solidFill>
                <a:effectLst/>
                <a:latin typeface="Google Sans Text"/>
              </a:rPr>
              <a:t>- Phân </a:t>
            </a:r>
            <a:r>
              <a:rPr lang="vi-VN" sz="1100" b="1" dirty="0">
                <a:solidFill>
                  <a:schemeClr val="tx1"/>
                </a:solidFill>
                <a:latin typeface="Google Sans Text"/>
              </a:rPr>
              <a:t>p</a:t>
            </a:r>
            <a:r>
              <a:rPr lang="vi-VN" sz="1100" b="1" i="0" dirty="0">
                <a:solidFill>
                  <a:schemeClr val="tx1"/>
                </a:solidFill>
                <a:effectLst/>
                <a:latin typeface="Google Sans Text"/>
              </a:rPr>
              <a:t>hối </a:t>
            </a:r>
            <a:r>
              <a:rPr lang="vi-VN" sz="1100" b="1" dirty="0">
                <a:solidFill>
                  <a:schemeClr val="tx1"/>
                </a:solidFill>
                <a:latin typeface="Google Sans Text"/>
              </a:rPr>
              <a:t>l</a:t>
            </a:r>
            <a:r>
              <a:rPr lang="vi-VN" sz="1100" b="1" i="0" dirty="0">
                <a:solidFill>
                  <a:schemeClr val="tx1"/>
                </a:solidFill>
                <a:effectLst/>
                <a:latin typeface="Google Sans Text"/>
              </a:rPr>
              <a:t>ệch trái:</a:t>
            </a:r>
            <a:r>
              <a:rPr lang="vi-VN" sz="1100" dirty="0">
                <a:solidFill>
                  <a:schemeClr val="tx1"/>
                </a:solidFill>
                <a:latin typeface="Google Sans Text"/>
              </a:rPr>
              <a:t> </a:t>
            </a:r>
            <a:r>
              <a:rPr lang="vi-VN" sz="1100" b="0" i="0" dirty="0">
                <a:solidFill>
                  <a:schemeClr val="tx1"/>
                </a:solidFill>
                <a:effectLst/>
                <a:latin typeface="Google Sans Text"/>
              </a:rPr>
              <a:t>Phần lớn khách hàng tập trung ở các khoảng CLV thấp. Số lượng khách hàng giảm dần khi giá trị CLV tăng lên.</a:t>
            </a:r>
          </a:p>
          <a:p>
            <a:pPr marL="457200" lvl="1" indent="0" algn="l">
              <a:lnSpc>
                <a:spcPts val="1500"/>
              </a:lnSpc>
              <a:spcAft>
                <a:spcPts val="225"/>
              </a:spcAft>
            </a:pPr>
            <a:r>
              <a:rPr lang="vi-VN" sz="1100" b="0" i="0" dirty="0">
                <a:solidFill>
                  <a:schemeClr val="tx1"/>
                </a:solidFill>
                <a:effectLst/>
                <a:latin typeface="Google Sans Text"/>
              </a:rPr>
              <a:t>+ Cụ thể, có một số lượng rất lớn khách hàng (khoảng 8K - gần 12K) có tổng chi tiêu nằm trong khoảng từ 50 đến 150.</a:t>
            </a:r>
          </a:p>
          <a:p>
            <a:pPr marL="457200" lvl="1" indent="0" algn="l">
              <a:lnSpc>
                <a:spcPts val="1500"/>
              </a:lnSpc>
              <a:spcAft>
                <a:spcPts val="225"/>
              </a:spcAft>
            </a:pPr>
            <a:r>
              <a:rPr lang="vi-VN" sz="1100" b="0" i="0" dirty="0">
                <a:solidFill>
                  <a:schemeClr val="tx1"/>
                </a:solidFill>
                <a:effectLst/>
                <a:latin typeface="Google Sans Text"/>
              </a:rPr>
              <a:t>+ Số lượng khách hàng giảm nhanh chóng khi tổng chi tiêu vượt qua mốc 200-250.</a:t>
            </a:r>
          </a:p>
          <a:p>
            <a:pPr>
              <a:lnSpc>
                <a:spcPts val="1500"/>
              </a:lnSpc>
              <a:spcAft>
                <a:spcPts val="225"/>
              </a:spcAft>
            </a:pPr>
            <a:r>
              <a:rPr lang="vi-VN" sz="1100" b="1" i="0" dirty="0">
                <a:solidFill>
                  <a:schemeClr val="tx1"/>
                </a:solidFill>
                <a:effectLst/>
                <a:latin typeface="Google Sans Text"/>
              </a:rPr>
              <a:t>- Tập trung </a:t>
            </a:r>
            <a:r>
              <a:rPr lang="vi-VN" sz="1100" b="1" dirty="0">
                <a:solidFill>
                  <a:schemeClr val="tx1"/>
                </a:solidFill>
                <a:latin typeface="Google Sans Text"/>
              </a:rPr>
              <a:t>trung khách hàng ở mức CLV thấp đến trung bình (</a:t>
            </a:r>
            <a:r>
              <a:rPr lang="vi-VN" sz="1100" dirty="0">
                <a:solidFill>
                  <a:schemeClr val="tx1"/>
                </a:solidFill>
                <a:latin typeface="Google Sans Text"/>
              </a:rPr>
              <a:t>dưới 250-300)</a:t>
            </a:r>
            <a:r>
              <a:rPr lang="vi-VN" sz="1100" b="1" i="0" dirty="0">
                <a:solidFill>
                  <a:schemeClr val="tx1"/>
                </a:solidFill>
                <a:effectLst/>
                <a:latin typeface="Google Sans Text"/>
              </a:rPr>
              <a:t>.</a:t>
            </a:r>
            <a:r>
              <a:rPr lang="vi-VN" sz="1100" dirty="0">
                <a:solidFill>
                  <a:schemeClr val="tx1"/>
                </a:solidFill>
                <a:latin typeface="Google Sans Text"/>
              </a:rPr>
              <a:t> </a:t>
            </a:r>
            <a:r>
              <a:rPr lang="vi-VN" sz="1100" b="0" i="0" dirty="0">
                <a:solidFill>
                  <a:schemeClr val="tx1"/>
                </a:solidFill>
                <a:effectLst/>
                <a:latin typeface="Google Sans Text"/>
              </a:rPr>
              <a:t>Khoảng từ 0 đến 50 cũng có một lượng khách hàng đáng kể (khoảng gần 3K), đây có thể là những khách hàng mới mua lần đầu hoặc những người mua rất ít.</a:t>
            </a:r>
          </a:p>
          <a:p>
            <a:pPr marL="171450" indent="-171450" algn="l">
              <a:lnSpc>
                <a:spcPts val="1500"/>
              </a:lnSpc>
              <a:spcAft>
                <a:spcPts val="225"/>
              </a:spcAft>
              <a:buFontTx/>
              <a:buChar char="-"/>
            </a:pPr>
            <a:r>
              <a:rPr lang="vi-VN" sz="1100" b="1" i="0" dirty="0">
                <a:solidFill>
                  <a:schemeClr val="tx1"/>
                </a:solidFill>
                <a:effectLst/>
                <a:latin typeface="Google Sans Text"/>
              </a:rPr>
              <a:t>Khách hàng Giá trị Cao: </a:t>
            </a:r>
            <a:r>
              <a:rPr lang="vi-VN" sz="1100" b="0" i="0" dirty="0">
                <a:solidFill>
                  <a:schemeClr val="tx1"/>
                </a:solidFill>
                <a:effectLst/>
                <a:latin typeface="Google Sans Text"/>
              </a:rPr>
              <a:t>Mặc dù các cột ở phía bên phải rất thấp, nhưng chúng </a:t>
            </a:r>
            <a:r>
              <a:rPr lang="vi-VN" sz="1100" dirty="0">
                <a:solidFill>
                  <a:schemeClr val="tx1"/>
                </a:solidFill>
                <a:latin typeface="Google Sans Text"/>
              </a:rPr>
              <a:t>chứng</a:t>
            </a:r>
            <a:r>
              <a:rPr lang="vi-VN" sz="1100" b="0" i="0" dirty="0">
                <a:solidFill>
                  <a:schemeClr val="tx1"/>
                </a:solidFill>
                <a:effectLst/>
                <a:latin typeface="Google Sans Text"/>
              </a:rPr>
              <a:t> tỏ có một nhóm nhỏ khách hàng mang lại giá trị chi tiêu rất cao cho doanh nghiệp </a:t>
            </a:r>
          </a:p>
        </p:txBody>
      </p:sp>
    </p:spTree>
    <p:extLst>
      <p:ext uri="{BB962C8B-B14F-4D97-AF65-F5344CB8AC3E}">
        <p14:creationId xmlns:p14="http://schemas.microsoft.com/office/powerpoint/2010/main" val="77928027"/>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262626"/>
      </a:lt1>
      <a:dk2>
        <a:srgbClr val="A7A7A7"/>
      </a:dk2>
      <a:lt2>
        <a:srgbClr val="535353"/>
      </a:lt2>
      <a:accent1>
        <a:srgbClr val="471CA8"/>
      </a:accent1>
      <a:accent2>
        <a:srgbClr val="884AB2"/>
      </a:accent2>
      <a:accent3>
        <a:srgbClr val="FF930A"/>
      </a:accent3>
      <a:accent4>
        <a:srgbClr val="F24B04"/>
      </a:accent4>
      <a:accent5>
        <a:srgbClr val="D1105A"/>
      </a:accent5>
      <a:accent6>
        <a:srgbClr val="4EA72E"/>
      </a:accent6>
      <a:hlink>
        <a:srgbClr val="0000FF"/>
      </a:hlink>
      <a:folHlink>
        <a:srgbClr val="FF00FF"/>
      </a:folHlink>
    </a:clrScheme>
    <a:fontScheme name="Office Theme">
      <a:majorFont>
        <a:latin typeface="Helvetica"/>
        <a:ea typeface="Helvetica"/>
        <a:cs typeface="Helvetica"/>
      </a:majorFont>
      <a:minorFont>
        <a:latin typeface="Onest"/>
        <a:ea typeface="Onest"/>
        <a:cs typeface="Onest"/>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71CA8"/>
      </a:accent1>
      <a:accent2>
        <a:srgbClr val="884AB2"/>
      </a:accent2>
      <a:accent3>
        <a:srgbClr val="FF930A"/>
      </a:accent3>
      <a:accent4>
        <a:srgbClr val="F24B04"/>
      </a:accent4>
      <a:accent5>
        <a:srgbClr val="D1105A"/>
      </a:accent5>
      <a:accent6>
        <a:srgbClr val="4EA72E"/>
      </a:accent6>
      <a:hlink>
        <a:srgbClr val="0000FF"/>
      </a:hlink>
      <a:folHlink>
        <a:srgbClr val="FF00FF"/>
      </a:folHlink>
    </a:clrScheme>
    <a:fontScheme name="Office Theme">
      <a:majorFont>
        <a:latin typeface="Helvetica"/>
        <a:ea typeface="Helvetica"/>
        <a:cs typeface="Helvetica"/>
      </a:majorFont>
      <a:minorFont>
        <a:latin typeface="Onest"/>
        <a:ea typeface="Onest"/>
        <a:cs typeface="Onest"/>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649</TotalTime>
  <Words>2848</Words>
  <Application>Microsoft Macintosh PowerPoint</Application>
  <PresentationFormat>Widescreen</PresentationFormat>
  <Paragraphs>169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Google Sans Text</vt:lpstr>
      <vt:lpstr>Helvetica</vt:lpstr>
      <vt:lpstr>Onest</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Ngoc Anh</cp:lastModifiedBy>
  <cp:revision>8</cp:revision>
  <dcterms:modified xsi:type="dcterms:W3CDTF">2025-05-19T11:39:33Z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2025-05-18T23:15:49Z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be97e59d-7643-4da1-b843-66deca89ce9a</vt:lpwstr>
  </property>
  <property fmtid="{D5CDD505-2E9C-101B-9397-08002B2CF9AE}" pid="7" name="MSIP_Label_defa4170-0d19-0005-0004-bc88714345d2_ActionId">
    <vt:lpwstr>b2deb553-a3b3-4c02-9018-4a8f08588f70</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