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83" r:id="rId3"/>
    <p:sldId id="257" r:id="rId4"/>
    <p:sldId id="285" r:id="rId5"/>
    <p:sldId id="286" r:id="rId6"/>
    <p:sldId id="287" r:id="rId7"/>
    <p:sldId id="289" r:id="rId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4AB2"/>
    <a:srgbClr val="804D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CBE1"/>
          </a:solidFill>
        </a:fill>
      </a:tcStyle>
    </a:wholeTbl>
    <a:band2H>
      <a:tcTxStyle/>
      <a:tcStyle>
        <a:tcBdr/>
        <a:fill>
          <a:solidFill>
            <a:srgbClr val="E8E7F1"/>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DBCA"/>
          </a:solidFill>
        </a:fill>
      </a:tcStyle>
    </a:wholeTbl>
    <a:band2H>
      <a:tcTxStyle/>
      <a:tcStyle>
        <a:tcBdr/>
        <a:fill>
          <a:solidFill>
            <a:srgbClr val="FFEE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1"/>
    <p:restoredTop sz="94664"/>
  </p:normalViewPr>
  <p:slideViewPr>
    <p:cSldViewPr snapToGrid="0">
      <p:cViewPr>
        <p:scale>
          <a:sx n="132" d="100"/>
          <a:sy n="132" d="100"/>
        </p:scale>
        <p:origin x="68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Onest"/>
      </a:defRPr>
    </a:lvl1pPr>
    <a:lvl2pPr indent="228600" latinLnBrk="0">
      <a:defRPr sz="1200">
        <a:latin typeface="+mn-lt"/>
        <a:ea typeface="+mn-ea"/>
        <a:cs typeface="+mn-cs"/>
        <a:sym typeface="Onest"/>
      </a:defRPr>
    </a:lvl2pPr>
    <a:lvl3pPr indent="457200" latinLnBrk="0">
      <a:defRPr sz="1200">
        <a:latin typeface="+mn-lt"/>
        <a:ea typeface="+mn-ea"/>
        <a:cs typeface="+mn-cs"/>
        <a:sym typeface="Onest"/>
      </a:defRPr>
    </a:lvl3pPr>
    <a:lvl4pPr indent="685800" latinLnBrk="0">
      <a:defRPr sz="1200">
        <a:latin typeface="+mn-lt"/>
        <a:ea typeface="+mn-ea"/>
        <a:cs typeface="+mn-cs"/>
        <a:sym typeface="Onest"/>
      </a:defRPr>
    </a:lvl4pPr>
    <a:lvl5pPr indent="914400" latinLnBrk="0">
      <a:defRPr sz="1200">
        <a:latin typeface="+mn-lt"/>
        <a:ea typeface="+mn-ea"/>
        <a:cs typeface="+mn-cs"/>
        <a:sym typeface="Onest"/>
      </a:defRPr>
    </a:lvl5pPr>
    <a:lvl6pPr indent="1143000" latinLnBrk="0">
      <a:defRPr sz="1200">
        <a:latin typeface="+mn-lt"/>
        <a:ea typeface="+mn-ea"/>
        <a:cs typeface="+mn-cs"/>
        <a:sym typeface="Onest"/>
      </a:defRPr>
    </a:lvl6pPr>
    <a:lvl7pPr indent="1371600" latinLnBrk="0">
      <a:defRPr sz="1200">
        <a:latin typeface="+mn-lt"/>
        <a:ea typeface="+mn-ea"/>
        <a:cs typeface="+mn-cs"/>
        <a:sym typeface="Onest"/>
      </a:defRPr>
    </a:lvl7pPr>
    <a:lvl8pPr indent="1600200" latinLnBrk="0">
      <a:defRPr sz="1200">
        <a:latin typeface="+mn-lt"/>
        <a:ea typeface="+mn-ea"/>
        <a:cs typeface="+mn-cs"/>
        <a:sym typeface="Onest"/>
      </a:defRPr>
    </a:lvl8pPr>
    <a:lvl9pPr indent="1828800" latinLnBrk="0">
      <a:defRPr sz="1200">
        <a:latin typeface="+mn-lt"/>
        <a:ea typeface="+mn-ea"/>
        <a:cs typeface="+mn-cs"/>
        <a:sym typeface="Onest"/>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Slide 0">
    <p:bg>
      <p:bgPr>
        <a:solidFill>
          <a:srgbClr val="262626"/>
        </a:solidFill>
        <a:effectLst/>
      </p:bgPr>
    </p:bg>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xfrm>
            <a:off x="5892800" y="6172200"/>
            <a:ext cx="2844800" cy="368301"/>
          </a:xfrm>
          <a:prstGeom prst="rect">
            <a:avLst/>
          </a:prstGeom>
        </p:spPr>
        <p:txBody>
          <a:bodyPr/>
          <a:lstStyle>
            <a:lvl1pPr algn="r">
              <a:defRPr sz="1200" b="0">
                <a:solidFill>
                  <a:srgbClr val="000000"/>
                </a:solidFill>
                <a:latin typeface="+mn-lt"/>
                <a:ea typeface="+mn-ea"/>
                <a:cs typeface="+mn-cs"/>
                <a:sym typeface="Ones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337013" y="5997575"/>
            <a:ext cx="556181" cy="574041"/>
          </a:xfrm>
          <a:prstGeom prst="rect">
            <a:avLst/>
          </a:prstGeom>
          <a:ln w="12700">
            <a:miter lim="400000"/>
          </a:ln>
        </p:spPr>
        <p:txBody>
          <a:bodyPr wrap="none" lIns="45719" rIns="45719" anchor="ctr">
            <a:spAutoFit/>
          </a:bodyPr>
          <a:lstStyle>
            <a:lvl1pPr algn="ctr">
              <a:defRPr sz="3200" b="1">
                <a:solidFill>
                  <a:srgbClr val="D9D9D9"/>
                </a:solidFill>
                <a:latin typeface="+mj-lt"/>
                <a:ea typeface="+mj-ea"/>
                <a:cs typeface="+mj-cs"/>
                <a:sym typeface="Helvetica"/>
              </a:defRPr>
            </a:lvl1pPr>
          </a:lstStyle>
          <a:p>
            <a:fld id="{86CB4B4D-7CA3-9044-876B-883B54F8677D}" type="slidenum">
              <a:t>‹#›</a:t>
            </a:fld>
            <a:endParaRPr/>
          </a:p>
        </p:txBody>
      </p:sp>
      <p:sp>
        <p:nvSpPr>
          <p:cNvPr id="3"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Onest"/>
        </a:defRPr>
      </a:lvl9pPr>
    </p:bodyStyle>
    <p:otherStyle>
      <a:lvl1pPr marL="0" marR="0" indent="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1pPr>
      <a:lvl2pPr marL="0" marR="0" indent="4572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2pPr>
      <a:lvl3pPr marL="0" marR="0" indent="9144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3pPr>
      <a:lvl4pPr marL="0" marR="0" indent="13716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4pPr>
      <a:lvl5pPr marL="0" marR="0" indent="18288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5pPr>
      <a:lvl6pPr marL="0" marR="0" indent="22860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6pPr>
      <a:lvl7pPr marL="0" marR="0" indent="27432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7pPr>
      <a:lvl8pPr marL="0" marR="0" indent="32004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8pPr>
      <a:lvl9pPr marL="0" marR="0" indent="3657600" algn="ctr" defTabSz="914400" rtl="0" latinLnBrk="0">
        <a:lnSpc>
          <a:spcPct val="100000"/>
        </a:lnSpc>
        <a:spcBef>
          <a:spcPts val="0"/>
        </a:spcBef>
        <a:spcAft>
          <a:spcPts val="0"/>
        </a:spcAft>
        <a:buClrTx/>
        <a:buSzTx/>
        <a:buFontTx/>
        <a:buNone/>
        <a:tabLst/>
        <a:defRPr sz="32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not-ngoc/not-ngoc-pipeline-extract-data-lazada-sales"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1"/>
          <p:cNvGrpSpPr/>
          <p:nvPr/>
        </p:nvGrpSpPr>
        <p:grpSpPr>
          <a:xfrm>
            <a:off x="908610" y="2672705"/>
            <a:ext cx="10374780" cy="2554543"/>
            <a:chOff x="0" y="0"/>
            <a:chExt cx="9485212" cy="2554540"/>
          </a:xfrm>
        </p:grpSpPr>
        <p:sp>
          <p:nvSpPr>
            <p:cNvPr id="27" name="TextBox 3"/>
            <p:cNvSpPr/>
            <p:nvPr/>
          </p:nvSpPr>
          <p:spPr>
            <a:xfrm>
              <a:off x="0" y="0"/>
              <a:ext cx="9485212" cy="255454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defRPr sz="8000" b="1">
                  <a:solidFill>
                    <a:srgbClr val="FFFFFF"/>
                  </a:solidFill>
                  <a:latin typeface="+mj-lt"/>
                  <a:ea typeface="+mj-ea"/>
                  <a:cs typeface="+mj-cs"/>
                  <a:sym typeface="Helvetica"/>
                </a:defRPr>
              </a:pPr>
              <a:r>
                <a:rPr lang="en-US" dirty="0"/>
                <a:t>Report Development</a:t>
              </a:r>
              <a:r>
                <a:rPr lang="en-VN" dirty="0"/>
                <a:t> </a:t>
              </a:r>
              <a:r>
                <a:rPr lang="vi-VN" dirty="0">
                  <a:solidFill>
                    <a:srgbClr val="B892D2"/>
                  </a:solidFill>
                </a:rPr>
                <a:t>Workflow</a:t>
              </a:r>
              <a:endParaRPr dirty="0">
                <a:solidFill>
                  <a:srgbClr val="B892D2"/>
                </a:solidFill>
              </a:endParaRPr>
            </a:p>
          </p:txBody>
        </p:sp>
        <p:sp>
          <p:nvSpPr>
            <p:cNvPr id="28" name="TextBox 15"/>
            <p:cNvSpPr/>
            <p:nvPr/>
          </p:nvSpPr>
          <p:spPr>
            <a:xfrm>
              <a:off x="1923205" y="1195833"/>
              <a:ext cx="5638801" cy="276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1200">
                  <a:solidFill>
                    <a:srgbClr val="FFFFFF"/>
                  </a:solidFill>
                </a:defRPr>
              </a:lvl1pPr>
            </a:lstStyle>
            <a:p>
              <a:endParaRPr dirty="0"/>
            </a:p>
          </p:txBody>
        </p:sp>
      </p:gr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FDE8A-3B9D-2767-95B8-5F12C259BA45}"/>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41C1E2C4-7A07-6CD3-8542-E687449BD302}"/>
              </a:ext>
            </a:extLst>
          </p:cNvPr>
          <p:cNvGrpSpPr/>
          <p:nvPr/>
        </p:nvGrpSpPr>
        <p:grpSpPr>
          <a:xfrm>
            <a:off x="515552" y="1688021"/>
            <a:ext cx="8760571" cy="497472"/>
            <a:chOff x="1171927" y="611247"/>
            <a:chExt cx="8760571" cy="497472"/>
          </a:xfrm>
        </p:grpSpPr>
        <p:sp>
          <p:nvSpPr>
            <p:cNvPr id="489" name="TextBox 33">
              <a:extLst>
                <a:ext uri="{FF2B5EF4-FFF2-40B4-BE49-F238E27FC236}">
                  <a16:creationId xmlns:a16="http://schemas.microsoft.com/office/drawing/2014/main" id="{05865E7E-1BBD-3B3B-835B-8E56DC494369}"/>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dirty="0">
                  <a:solidFill>
                    <a:schemeClr val="bg1"/>
                  </a:solidFill>
                </a:rPr>
                <a:t>Data Collection</a:t>
              </a:r>
              <a:endParaRPr sz="2400" dirty="0">
                <a:solidFill>
                  <a:schemeClr val="bg1"/>
                </a:solidFill>
              </a:endParaRPr>
            </a:p>
          </p:txBody>
        </p:sp>
        <p:grpSp>
          <p:nvGrpSpPr>
            <p:cNvPr id="13" name="Group 12">
              <a:extLst>
                <a:ext uri="{FF2B5EF4-FFF2-40B4-BE49-F238E27FC236}">
                  <a16:creationId xmlns:a16="http://schemas.microsoft.com/office/drawing/2014/main" id="{56C2C668-C6C8-F89B-7DFD-9A35D2625813}"/>
                </a:ext>
              </a:extLst>
            </p:cNvPr>
            <p:cNvGrpSpPr/>
            <p:nvPr/>
          </p:nvGrpSpPr>
          <p:grpSpPr>
            <a:xfrm>
              <a:off x="1171927" y="640719"/>
              <a:ext cx="468000" cy="468000"/>
              <a:chOff x="1171927" y="640719"/>
              <a:chExt cx="468000" cy="468000"/>
            </a:xfrm>
          </p:grpSpPr>
          <p:sp>
            <p:nvSpPr>
              <p:cNvPr id="11" name="Rectangle: Rounded Corners 1">
                <a:extLst>
                  <a:ext uri="{FF2B5EF4-FFF2-40B4-BE49-F238E27FC236}">
                    <a16:creationId xmlns:a16="http://schemas.microsoft.com/office/drawing/2014/main" id="{590EF2E4-30F4-5C61-3FF6-E011D50CC8A4}"/>
                  </a:ext>
                </a:extLst>
              </p:cNvPr>
              <p:cNvSpPr/>
              <p:nvPr/>
            </p:nvSpPr>
            <p:spPr>
              <a:xfrm rot="18900000">
                <a:off x="1171927" y="640719"/>
                <a:ext cx="468000" cy="468000"/>
              </a:xfrm>
              <a:prstGeom prst="roundRect">
                <a:avLst>
                  <a:gd name="adj" fmla="val 16667"/>
                </a:avLst>
              </a:prstGeom>
              <a:solidFill>
                <a:schemeClr val="accent1">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2" name="TextBox 11">
                <a:extLst>
                  <a:ext uri="{FF2B5EF4-FFF2-40B4-BE49-F238E27FC236}">
                    <a16:creationId xmlns:a16="http://schemas.microsoft.com/office/drawing/2014/main" id="{615E985C-64C5-6542-D185-5FE61BF9A5FB}"/>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2</a:t>
                </a:r>
              </a:p>
            </p:txBody>
          </p:sp>
        </p:grpSp>
      </p:grpSp>
      <p:grpSp>
        <p:nvGrpSpPr>
          <p:cNvPr id="15" name="Group 14">
            <a:extLst>
              <a:ext uri="{FF2B5EF4-FFF2-40B4-BE49-F238E27FC236}">
                <a16:creationId xmlns:a16="http://schemas.microsoft.com/office/drawing/2014/main" id="{401BE430-4554-6963-BB83-68435B391F63}"/>
              </a:ext>
            </a:extLst>
          </p:cNvPr>
          <p:cNvGrpSpPr/>
          <p:nvPr/>
        </p:nvGrpSpPr>
        <p:grpSpPr>
          <a:xfrm>
            <a:off x="516032" y="1099886"/>
            <a:ext cx="8760091" cy="497472"/>
            <a:chOff x="1172407" y="611247"/>
            <a:chExt cx="8760091" cy="497472"/>
          </a:xfrm>
        </p:grpSpPr>
        <p:sp>
          <p:nvSpPr>
            <p:cNvPr id="16" name="TextBox 33">
              <a:extLst>
                <a:ext uri="{FF2B5EF4-FFF2-40B4-BE49-F238E27FC236}">
                  <a16:creationId xmlns:a16="http://schemas.microsoft.com/office/drawing/2014/main" id="{B9A38610-62BB-371B-BA4B-85A6689310AE}"/>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dirty="0">
                  <a:solidFill>
                    <a:schemeClr val="bg1"/>
                  </a:solidFill>
                </a:rPr>
                <a:t>Define Objectives</a:t>
              </a:r>
              <a:endParaRPr sz="2400" dirty="0">
                <a:solidFill>
                  <a:schemeClr val="bg1"/>
                </a:solidFill>
              </a:endParaRPr>
            </a:p>
          </p:txBody>
        </p:sp>
        <p:grpSp>
          <p:nvGrpSpPr>
            <p:cNvPr id="17" name="Group 16">
              <a:extLst>
                <a:ext uri="{FF2B5EF4-FFF2-40B4-BE49-F238E27FC236}">
                  <a16:creationId xmlns:a16="http://schemas.microsoft.com/office/drawing/2014/main" id="{F752E407-8389-5736-CD71-42A08CCBEA7D}"/>
                </a:ext>
              </a:extLst>
            </p:cNvPr>
            <p:cNvGrpSpPr/>
            <p:nvPr/>
          </p:nvGrpSpPr>
          <p:grpSpPr>
            <a:xfrm>
              <a:off x="1172407" y="640719"/>
              <a:ext cx="468000" cy="468000"/>
              <a:chOff x="1172407" y="640719"/>
              <a:chExt cx="468000" cy="468000"/>
            </a:xfrm>
          </p:grpSpPr>
          <p:sp>
            <p:nvSpPr>
              <p:cNvPr id="18" name="Rectangle: Rounded Corners 1">
                <a:extLst>
                  <a:ext uri="{FF2B5EF4-FFF2-40B4-BE49-F238E27FC236}">
                    <a16:creationId xmlns:a16="http://schemas.microsoft.com/office/drawing/2014/main" id="{99E6167A-46FD-C8E3-EA04-35F39FD42A12}"/>
                  </a:ext>
                </a:extLst>
              </p:cNvPr>
              <p:cNvSpPr/>
              <p:nvPr/>
            </p:nvSpPr>
            <p:spPr>
              <a:xfrm rot="18900000">
                <a:off x="1172407" y="640719"/>
                <a:ext cx="468000" cy="468000"/>
              </a:xfrm>
              <a:prstGeom prst="roundRect">
                <a:avLst>
                  <a:gd name="adj" fmla="val 16667"/>
                </a:avLst>
              </a:prstGeom>
              <a:solidFill>
                <a:schemeClr val="accent1">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19" name="TextBox 18">
                <a:extLst>
                  <a:ext uri="{FF2B5EF4-FFF2-40B4-BE49-F238E27FC236}">
                    <a16:creationId xmlns:a16="http://schemas.microsoft.com/office/drawing/2014/main" id="{B559F2A7-5397-62D1-2FF1-4BE3088F1B9D}"/>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1</a:t>
                </a:r>
              </a:p>
            </p:txBody>
          </p:sp>
        </p:grpSp>
      </p:grpSp>
      <p:grpSp>
        <p:nvGrpSpPr>
          <p:cNvPr id="20" name="Group 19">
            <a:extLst>
              <a:ext uri="{FF2B5EF4-FFF2-40B4-BE49-F238E27FC236}">
                <a16:creationId xmlns:a16="http://schemas.microsoft.com/office/drawing/2014/main" id="{2DEAB272-FEC2-00AF-ECA8-72EBD024B130}"/>
              </a:ext>
            </a:extLst>
          </p:cNvPr>
          <p:cNvGrpSpPr/>
          <p:nvPr/>
        </p:nvGrpSpPr>
        <p:grpSpPr>
          <a:xfrm>
            <a:off x="1109212" y="2549116"/>
            <a:ext cx="8773740" cy="497471"/>
            <a:chOff x="1158758" y="611247"/>
            <a:chExt cx="8773740" cy="497471"/>
          </a:xfrm>
        </p:grpSpPr>
        <p:sp>
          <p:nvSpPr>
            <p:cNvPr id="21" name="TextBox 33">
              <a:extLst>
                <a:ext uri="{FF2B5EF4-FFF2-40B4-BE49-F238E27FC236}">
                  <a16:creationId xmlns:a16="http://schemas.microsoft.com/office/drawing/2014/main" id="{F6C3C965-71ED-D66A-A256-E97EAB97E177}"/>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b="1" dirty="0">
                  <a:solidFill>
                    <a:schemeClr val="bg1"/>
                  </a:solidFill>
                  <a:sym typeface="Helvetica"/>
                </a:rPr>
                <a:t>Data Cleaning &amp; Processing</a:t>
              </a:r>
            </a:p>
          </p:txBody>
        </p:sp>
        <p:grpSp>
          <p:nvGrpSpPr>
            <p:cNvPr id="22" name="Group 21">
              <a:extLst>
                <a:ext uri="{FF2B5EF4-FFF2-40B4-BE49-F238E27FC236}">
                  <a16:creationId xmlns:a16="http://schemas.microsoft.com/office/drawing/2014/main" id="{91DE4C10-8999-7F86-EF40-F61200BF15ED}"/>
                </a:ext>
              </a:extLst>
            </p:cNvPr>
            <p:cNvGrpSpPr/>
            <p:nvPr/>
          </p:nvGrpSpPr>
          <p:grpSpPr>
            <a:xfrm>
              <a:off x="1158758" y="640718"/>
              <a:ext cx="468000" cy="468000"/>
              <a:chOff x="1158758" y="640718"/>
              <a:chExt cx="468000" cy="468000"/>
            </a:xfrm>
          </p:grpSpPr>
          <p:sp>
            <p:nvSpPr>
              <p:cNvPr id="23" name="Rectangle: Rounded Corners 1">
                <a:extLst>
                  <a:ext uri="{FF2B5EF4-FFF2-40B4-BE49-F238E27FC236}">
                    <a16:creationId xmlns:a16="http://schemas.microsoft.com/office/drawing/2014/main" id="{8CCD046C-D225-F130-B483-40F73B7E83F9}"/>
                  </a:ext>
                </a:extLst>
              </p:cNvPr>
              <p:cNvSpPr/>
              <p:nvPr/>
            </p:nvSpPr>
            <p:spPr>
              <a:xfrm rot="18900000">
                <a:off x="1158758" y="640718"/>
                <a:ext cx="468000" cy="468000"/>
              </a:xfrm>
              <a:prstGeom prst="roundRect">
                <a:avLst>
                  <a:gd name="adj" fmla="val 16667"/>
                </a:avLst>
              </a:prstGeom>
              <a:solidFill>
                <a:srgbClr val="884AB2">
                  <a:alpha val="84706"/>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24" name="TextBox 23">
                <a:extLst>
                  <a:ext uri="{FF2B5EF4-FFF2-40B4-BE49-F238E27FC236}">
                    <a16:creationId xmlns:a16="http://schemas.microsoft.com/office/drawing/2014/main" id="{8A9B2E10-1B97-ECD9-92AE-CB3AF562FC8E}"/>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3</a:t>
                </a:r>
              </a:p>
            </p:txBody>
          </p:sp>
        </p:grpSp>
      </p:grpSp>
      <p:grpSp>
        <p:nvGrpSpPr>
          <p:cNvPr id="25" name="Group 24">
            <a:extLst>
              <a:ext uri="{FF2B5EF4-FFF2-40B4-BE49-F238E27FC236}">
                <a16:creationId xmlns:a16="http://schemas.microsoft.com/office/drawing/2014/main" id="{B116C788-99BF-316D-0663-E36E9DD2B394}"/>
              </a:ext>
            </a:extLst>
          </p:cNvPr>
          <p:cNvGrpSpPr/>
          <p:nvPr/>
        </p:nvGrpSpPr>
        <p:grpSpPr>
          <a:xfrm>
            <a:off x="1107829" y="3137251"/>
            <a:ext cx="8775123" cy="497472"/>
            <a:chOff x="1157375" y="611247"/>
            <a:chExt cx="8775123" cy="497472"/>
          </a:xfrm>
        </p:grpSpPr>
        <p:sp>
          <p:nvSpPr>
            <p:cNvPr id="26" name="TextBox 33">
              <a:extLst>
                <a:ext uri="{FF2B5EF4-FFF2-40B4-BE49-F238E27FC236}">
                  <a16:creationId xmlns:a16="http://schemas.microsoft.com/office/drawing/2014/main" id="{671E0B89-04F4-9C0F-179A-F9D90DD022B6}"/>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b="1" dirty="0">
                  <a:solidFill>
                    <a:schemeClr val="bg1"/>
                  </a:solidFill>
                  <a:sym typeface="Helvetica"/>
                </a:rPr>
                <a:t>Data Analysis</a:t>
              </a:r>
            </a:p>
          </p:txBody>
        </p:sp>
        <p:grpSp>
          <p:nvGrpSpPr>
            <p:cNvPr id="27" name="Group 26">
              <a:extLst>
                <a:ext uri="{FF2B5EF4-FFF2-40B4-BE49-F238E27FC236}">
                  <a16:creationId xmlns:a16="http://schemas.microsoft.com/office/drawing/2014/main" id="{254B5447-F19F-C12E-8DDC-EC393CCEE977}"/>
                </a:ext>
              </a:extLst>
            </p:cNvPr>
            <p:cNvGrpSpPr/>
            <p:nvPr/>
          </p:nvGrpSpPr>
          <p:grpSpPr>
            <a:xfrm>
              <a:off x="1157375" y="640719"/>
              <a:ext cx="468000" cy="468000"/>
              <a:chOff x="1157375" y="640719"/>
              <a:chExt cx="468000" cy="468000"/>
            </a:xfrm>
          </p:grpSpPr>
          <p:sp>
            <p:nvSpPr>
              <p:cNvPr id="28" name="Rectangle: Rounded Corners 1">
                <a:extLst>
                  <a:ext uri="{FF2B5EF4-FFF2-40B4-BE49-F238E27FC236}">
                    <a16:creationId xmlns:a16="http://schemas.microsoft.com/office/drawing/2014/main" id="{03E8F095-CA28-D6DC-2B6B-3B31BE3EFCC1}"/>
                  </a:ext>
                </a:extLst>
              </p:cNvPr>
              <p:cNvSpPr/>
              <p:nvPr/>
            </p:nvSpPr>
            <p:spPr>
              <a:xfrm rot="18900000">
                <a:off x="1157375" y="640719"/>
                <a:ext cx="468000" cy="468000"/>
              </a:xfrm>
              <a:prstGeom prst="roundRect">
                <a:avLst>
                  <a:gd name="adj" fmla="val 16667"/>
                </a:avLst>
              </a:prstGeom>
              <a:solidFill>
                <a:srgbClr val="884AB2">
                  <a:alpha val="8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29" name="TextBox 28">
                <a:extLst>
                  <a:ext uri="{FF2B5EF4-FFF2-40B4-BE49-F238E27FC236}">
                    <a16:creationId xmlns:a16="http://schemas.microsoft.com/office/drawing/2014/main" id="{36E2941D-E6EB-2F9D-9008-EC391D7D9F92}"/>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4</a:t>
                </a:r>
              </a:p>
            </p:txBody>
          </p:sp>
        </p:grpSp>
      </p:grpSp>
      <p:grpSp>
        <p:nvGrpSpPr>
          <p:cNvPr id="30" name="Group 29">
            <a:extLst>
              <a:ext uri="{FF2B5EF4-FFF2-40B4-BE49-F238E27FC236}">
                <a16:creationId xmlns:a16="http://schemas.microsoft.com/office/drawing/2014/main" id="{3AB48619-41B9-AC78-020D-DBA9CD0CC240}"/>
              </a:ext>
            </a:extLst>
          </p:cNvPr>
          <p:cNvGrpSpPr/>
          <p:nvPr/>
        </p:nvGrpSpPr>
        <p:grpSpPr>
          <a:xfrm>
            <a:off x="1738796" y="3957402"/>
            <a:ext cx="8773739" cy="497472"/>
            <a:chOff x="1158759" y="611247"/>
            <a:chExt cx="8773739" cy="497472"/>
          </a:xfrm>
        </p:grpSpPr>
        <p:sp>
          <p:nvSpPr>
            <p:cNvPr id="31" name="TextBox 33">
              <a:extLst>
                <a:ext uri="{FF2B5EF4-FFF2-40B4-BE49-F238E27FC236}">
                  <a16:creationId xmlns:a16="http://schemas.microsoft.com/office/drawing/2014/main" id="{11B7548D-4019-28EB-9143-44A43E56518D}"/>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b="1" dirty="0">
                  <a:solidFill>
                    <a:schemeClr val="bg1"/>
                  </a:solidFill>
                  <a:sym typeface="Helvetica"/>
                </a:rPr>
                <a:t>Visualization &amp; Presentation</a:t>
              </a:r>
            </a:p>
          </p:txBody>
        </p:sp>
        <p:grpSp>
          <p:nvGrpSpPr>
            <p:cNvPr id="32" name="Group 31">
              <a:extLst>
                <a:ext uri="{FF2B5EF4-FFF2-40B4-BE49-F238E27FC236}">
                  <a16:creationId xmlns:a16="http://schemas.microsoft.com/office/drawing/2014/main" id="{47E24AA9-C11E-9425-8257-A2162A57E28F}"/>
                </a:ext>
              </a:extLst>
            </p:cNvPr>
            <p:cNvGrpSpPr/>
            <p:nvPr/>
          </p:nvGrpSpPr>
          <p:grpSpPr>
            <a:xfrm>
              <a:off x="1158759" y="640719"/>
              <a:ext cx="468000" cy="468000"/>
              <a:chOff x="1158759" y="640719"/>
              <a:chExt cx="468000" cy="468000"/>
            </a:xfrm>
          </p:grpSpPr>
          <p:sp>
            <p:nvSpPr>
              <p:cNvPr id="33" name="Rectangle: Rounded Corners 1">
                <a:extLst>
                  <a:ext uri="{FF2B5EF4-FFF2-40B4-BE49-F238E27FC236}">
                    <a16:creationId xmlns:a16="http://schemas.microsoft.com/office/drawing/2014/main" id="{EF6B6203-FFF7-36EE-824C-0DA25D2BFBC3}"/>
                  </a:ext>
                </a:extLst>
              </p:cNvPr>
              <p:cNvSpPr/>
              <p:nvPr/>
            </p:nvSpPr>
            <p:spPr>
              <a:xfrm rot="18900000">
                <a:off x="1158759" y="640719"/>
                <a:ext cx="468000" cy="468000"/>
              </a:xfrm>
              <a:prstGeom prst="roundRect">
                <a:avLst>
                  <a:gd name="adj" fmla="val 16667"/>
                </a:avLst>
              </a:prstGeom>
              <a:solidFill>
                <a:schemeClr val="accent4">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sp>
            <p:nvSpPr>
              <p:cNvPr id="34" name="TextBox 33">
                <a:extLst>
                  <a:ext uri="{FF2B5EF4-FFF2-40B4-BE49-F238E27FC236}">
                    <a16:creationId xmlns:a16="http://schemas.microsoft.com/office/drawing/2014/main" id="{1C97A118-C524-6867-9B4D-839872F07B9D}"/>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5</a:t>
                </a:r>
              </a:p>
            </p:txBody>
          </p:sp>
        </p:grpSp>
      </p:grpSp>
      <p:grpSp>
        <p:nvGrpSpPr>
          <p:cNvPr id="35" name="Group 34">
            <a:extLst>
              <a:ext uri="{FF2B5EF4-FFF2-40B4-BE49-F238E27FC236}">
                <a16:creationId xmlns:a16="http://schemas.microsoft.com/office/drawing/2014/main" id="{DEC0BED0-3AAE-E31E-4A5F-3B3B8916AD57}"/>
              </a:ext>
            </a:extLst>
          </p:cNvPr>
          <p:cNvGrpSpPr/>
          <p:nvPr/>
        </p:nvGrpSpPr>
        <p:grpSpPr>
          <a:xfrm>
            <a:off x="1739386" y="4545537"/>
            <a:ext cx="8773149" cy="497471"/>
            <a:chOff x="1159349" y="611247"/>
            <a:chExt cx="8773149" cy="497471"/>
          </a:xfrm>
        </p:grpSpPr>
        <p:sp>
          <p:nvSpPr>
            <p:cNvPr id="36" name="TextBox 33">
              <a:extLst>
                <a:ext uri="{FF2B5EF4-FFF2-40B4-BE49-F238E27FC236}">
                  <a16:creationId xmlns:a16="http://schemas.microsoft.com/office/drawing/2014/main" id="{62A395E5-D604-AFC3-0D54-3D8372B90E35}"/>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b="1" dirty="0">
                  <a:solidFill>
                    <a:schemeClr val="bg1"/>
                  </a:solidFill>
                  <a:sym typeface="Helvetica"/>
                </a:rPr>
                <a:t>Validation &amp; Review</a:t>
              </a:r>
            </a:p>
          </p:txBody>
        </p:sp>
        <p:grpSp>
          <p:nvGrpSpPr>
            <p:cNvPr id="37" name="Group 36">
              <a:extLst>
                <a:ext uri="{FF2B5EF4-FFF2-40B4-BE49-F238E27FC236}">
                  <a16:creationId xmlns:a16="http://schemas.microsoft.com/office/drawing/2014/main" id="{4F2B6001-6D92-AA43-2081-80AB42F31BA6}"/>
                </a:ext>
              </a:extLst>
            </p:cNvPr>
            <p:cNvGrpSpPr/>
            <p:nvPr/>
          </p:nvGrpSpPr>
          <p:grpSpPr>
            <a:xfrm>
              <a:off x="1159349" y="640718"/>
              <a:ext cx="468000" cy="468000"/>
              <a:chOff x="1159349" y="640718"/>
              <a:chExt cx="468000" cy="468000"/>
            </a:xfrm>
          </p:grpSpPr>
          <p:sp>
            <p:nvSpPr>
              <p:cNvPr id="38" name="Rectangle: Rounded Corners 1">
                <a:extLst>
                  <a:ext uri="{FF2B5EF4-FFF2-40B4-BE49-F238E27FC236}">
                    <a16:creationId xmlns:a16="http://schemas.microsoft.com/office/drawing/2014/main" id="{FDA510E8-76C9-AF9C-56A0-B64A58DD5BED}"/>
                  </a:ext>
                </a:extLst>
              </p:cNvPr>
              <p:cNvSpPr/>
              <p:nvPr/>
            </p:nvSpPr>
            <p:spPr>
              <a:xfrm rot="18900000">
                <a:off x="1159349" y="640718"/>
                <a:ext cx="468000" cy="468000"/>
              </a:xfrm>
              <a:prstGeom prst="roundRect">
                <a:avLst>
                  <a:gd name="adj" fmla="val 16667"/>
                </a:avLst>
              </a:prstGeom>
              <a:solidFill>
                <a:schemeClr val="accent4">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solidFill>
                    <a:schemeClr val="bg1"/>
                  </a:solidFill>
                </a:endParaRPr>
              </a:p>
            </p:txBody>
          </p:sp>
          <p:sp>
            <p:nvSpPr>
              <p:cNvPr id="39" name="TextBox 38">
                <a:extLst>
                  <a:ext uri="{FF2B5EF4-FFF2-40B4-BE49-F238E27FC236}">
                    <a16:creationId xmlns:a16="http://schemas.microsoft.com/office/drawing/2014/main" id="{908D8108-1BF0-5290-C6E1-A4B67AD0CDEF}"/>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6</a:t>
                </a:r>
              </a:p>
            </p:txBody>
          </p:sp>
        </p:grpSp>
      </p:grpSp>
      <p:grpSp>
        <p:nvGrpSpPr>
          <p:cNvPr id="40" name="Group 39">
            <a:extLst>
              <a:ext uri="{FF2B5EF4-FFF2-40B4-BE49-F238E27FC236}">
                <a16:creationId xmlns:a16="http://schemas.microsoft.com/office/drawing/2014/main" id="{E08B542A-8CB4-7025-7DD9-1A390E09362D}"/>
              </a:ext>
            </a:extLst>
          </p:cNvPr>
          <p:cNvGrpSpPr/>
          <p:nvPr/>
        </p:nvGrpSpPr>
        <p:grpSpPr>
          <a:xfrm>
            <a:off x="2392111" y="5352050"/>
            <a:ext cx="8773739" cy="497472"/>
            <a:chOff x="1158759" y="611247"/>
            <a:chExt cx="8773739" cy="497472"/>
          </a:xfrm>
        </p:grpSpPr>
        <p:sp>
          <p:nvSpPr>
            <p:cNvPr id="41" name="TextBox 33">
              <a:extLst>
                <a:ext uri="{FF2B5EF4-FFF2-40B4-BE49-F238E27FC236}">
                  <a16:creationId xmlns:a16="http://schemas.microsoft.com/office/drawing/2014/main" id="{0F8F6D01-8FAB-0730-9071-60268AD0BAD1}"/>
                </a:ext>
              </a:extLst>
            </p:cNvPr>
            <p:cNvSpPr/>
            <p:nvPr/>
          </p:nvSpPr>
          <p:spPr>
            <a:xfrm>
              <a:off x="2039836" y="611247"/>
              <a:ext cx="7892662" cy="4616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defRPr sz="4800" b="1">
                  <a:solidFill>
                    <a:srgbClr val="404040"/>
                  </a:solidFill>
                  <a:latin typeface="+mj-lt"/>
                  <a:ea typeface="+mj-ea"/>
                  <a:cs typeface="+mj-cs"/>
                  <a:sym typeface="Helvetica"/>
                </a:defRPr>
              </a:pPr>
              <a:r>
                <a:rPr lang="en-US" sz="2400" b="1" dirty="0">
                  <a:solidFill>
                    <a:schemeClr val="bg1"/>
                  </a:solidFill>
                  <a:sym typeface="Helvetica"/>
                </a:rPr>
                <a:t>Publishing &amp; Sharing</a:t>
              </a:r>
            </a:p>
          </p:txBody>
        </p:sp>
        <p:grpSp>
          <p:nvGrpSpPr>
            <p:cNvPr id="42" name="Group 41">
              <a:extLst>
                <a:ext uri="{FF2B5EF4-FFF2-40B4-BE49-F238E27FC236}">
                  <a16:creationId xmlns:a16="http://schemas.microsoft.com/office/drawing/2014/main" id="{BCF0A3E9-D007-2B06-904E-1DC14E870D2C}"/>
                </a:ext>
              </a:extLst>
            </p:cNvPr>
            <p:cNvGrpSpPr/>
            <p:nvPr/>
          </p:nvGrpSpPr>
          <p:grpSpPr>
            <a:xfrm>
              <a:off x="1158759" y="640719"/>
              <a:ext cx="468000" cy="468000"/>
              <a:chOff x="1158759" y="640719"/>
              <a:chExt cx="468000" cy="468000"/>
            </a:xfrm>
          </p:grpSpPr>
          <p:sp>
            <p:nvSpPr>
              <p:cNvPr id="43" name="Rectangle: Rounded Corners 1">
                <a:extLst>
                  <a:ext uri="{FF2B5EF4-FFF2-40B4-BE49-F238E27FC236}">
                    <a16:creationId xmlns:a16="http://schemas.microsoft.com/office/drawing/2014/main" id="{E75434B8-D9C6-9256-DDE7-EB3AE8F47F07}"/>
                  </a:ext>
                </a:extLst>
              </p:cNvPr>
              <p:cNvSpPr/>
              <p:nvPr/>
            </p:nvSpPr>
            <p:spPr>
              <a:xfrm rot="18900000">
                <a:off x="1158759" y="640719"/>
                <a:ext cx="468000" cy="468000"/>
              </a:xfrm>
              <a:prstGeom prst="roundRect">
                <a:avLst>
                  <a:gd name="adj" fmla="val 16667"/>
                </a:avLst>
              </a:prstGeom>
              <a:solidFill>
                <a:schemeClr val="accent3">
                  <a:alpha val="85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solidFill>
                    <a:schemeClr val="bg1"/>
                  </a:solidFill>
                </a:endParaRPr>
              </a:p>
            </p:txBody>
          </p:sp>
          <p:sp>
            <p:nvSpPr>
              <p:cNvPr id="44" name="TextBox 43">
                <a:extLst>
                  <a:ext uri="{FF2B5EF4-FFF2-40B4-BE49-F238E27FC236}">
                    <a16:creationId xmlns:a16="http://schemas.microsoft.com/office/drawing/2014/main" id="{564D0E50-F826-6B6D-7D9D-30A607827B50}"/>
                  </a:ext>
                </a:extLst>
              </p:cNvPr>
              <p:cNvSpPr txBox="1"/>
              <p:nvPr/>
            </p:nvSpPr>
            <p:spPr>
              <a:xfrm>
                <a:off x="1290664" y="642024"/>
                <a:ext cx="234999"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VN" sz="2200" b="1" dirty="0">
                    <a:solidFill>
                      <a:schemeClr val="bg1">
                        <a:lumMod val="10000"/>
                        <a:lumOff val="90000"/>
                      </a:schemeClr>
                    </a:solidFill>
                  </a:rPr>
                  <a:t>7</a:t>
                </a:r>
              </a:p>
            </p:txBody>
          </p:sp>
        </p:grpSp>
      </p:grpSp>
      <p:sp>
        <p:nvSpPr>
          <p:cNvPr id="5" name="Freeform: Shape 2">
            <a:extLst>
              <a:ext uri="{FF2B5EF4-FFF2-40B4-BE49-F238E27FC236}">
                <a16:creationId xmlns:a16="http://schemas.microsoft.com/office/drawing/2014/main" id="{635E18A2-8524-350A-9E70-E96493E95335}"/>
              </a:ext>
            </a:extLst>
          </p:cNvPr>
          <p:cNvSpPr/>
          <p:nvPr/>
        </p:nvSpPr>
        <p:spPr>
          <a:xfrm>
            <a:off x="7833810" y="1262659"/>
            <a:ext cx="3960000" cy="3960000"/>
          </a:xfrm>
          <a:prstGeom prst="ellipse">
            <a:avLst/>
          </a:prstGeom>
          <a:solidFill>
            <a:schemeClr val="accent3">
              <a:alpha val="36000"/>
            </a:schemeClr>
          </a:solidFill>
          <a:ln w="12700" cap="flat">
            <a:noFill/>
            <a:miter lim="400000"/>
          </a:ln>
          <a:effectLst/>
        </p:spPr>
        <p:txBody>
          <a:bodyPr wrap="square" lIns="45719" tIns="45719" rIns="45719" bIns="45719" numCol="1" anchor="ctr">
            <a:noAutofit/>
          </a:bodyPr>
          <a:lstStyle/>
          <a:p>
            <a:endParaRPr/>
          </a:p>
        </p:txBody>
      </p:sp>
      <p:grpSp>
        <p:nvGrpSpPr>
          <p:cNvPr id="2" name="Group 1">
            <a:extLst>
              <a:ext uri="{FF2B5EF4-FFF2-40B4-BE49-F238E27FC236}">
                <a16:creationId xmlns:a16="http://schemas.microsoft.com/office/drawing/2014/main" id="{6B2F4053-6D18-5B86-E16D-A72AD762C68E}"/>
              </a:ext>
            </a:extLst>
          </p:cNvPr>
          <p:cNvGrpSpPr/>
          <p:nvPr/>
        </p:nvGrpSpPr>
        <p:grpSpPr>
          <a:xfrm>
            <a:off x="6999496" y="2581568"/>
            <a:ext cx="5756046" cy="1323437"/>
            <a:chOff x="1462672" y="-1967518"/>
            <a:chExt cx="9485212" cy="11893116"/>
          </a:xfrm>
        </p:grpSpPr>
        <p:sp>
          <p:nvSpPr>
            <p:cNvPr id="3" name="TextBox 3">
              <a:extLst>
                <a:ext uri="{FF2B5EF4-FFF2-40B4-BE49-F238E27FC236}">
                  <a16:creationId xmlns:a16="http://schemas.microsoft.com/office/drawing/2014/main" id="{E63DE8DE-88DB-07D6-F7E7-33E28D4C74AF}"/>
                </a:ext>
              </a:extLst>
            </p:cNvPr>
            <p:cNvSpPr/>
            <p:nvPr/>
          </p:nvSpPr>
          <p:spPr>
            <a:xfrm>
              <a:off x="1462672" y="-1967518"/>
              <a:ext cx="9485212" cy="1189311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ctr">
                <a:defRPr sz="8000" b="1">
                  <a:solidFill>
                    <a:srgbClr val="FFFFFF"/>
                  </a:solidFill>
                  <a:latin typeface="+mj-lt"/>
                  <a:ea typeface="+mj-ea"/>
                  <a:cs typeface="+mj-cs"/>
                  <a:sym typeface="Helvetica"/>
                </a:defRPr>
              </a:pPr>
              <a:r>
                <a:rPr lang="en-US" sz="4000" dirty="0">
                  <a:solidFill>
                    <a:schemeClr val="tx1"/>
                  </a:solidFill>
                </a:rPr>
                <a:t>Development</a:t>
              </a:r>
              <a:r>
                <a:rPr lang="en-VN" sz="4000" dirty="0">
                  <a:solidFill>
                    <a:schemeClr val="tx1"/>
                  </a:solidFill>
                </a:rPr>
                <a:t> </a:t>
              </a:r>
            </a:p>
            <a:p>
              <a:pPr algn="ctr">
                <a:defRPr sz="8000" b="1">
                  <a:solidFill>
                    <a:srgbClr val="FFFFFF"/>
                  </a:solidFill>
                  <a:latin typeface="+mj-lt"/>
                  <a:ea typeface="+mj-ea"/>
                  <a:cs typeface="+mj-cs"/>
                  <a:sym typeface="Helvetica"/>
                </a:defRPr>
              </a:pPr>
              <a:r>
                <a:rPr lang="vi-VN" sz="4000" dirty="0">
                  <a:solidFill>
                    <a:srgbClr val="804DAC"/>
                  </a:solidFill>
                </a:rPr>
                <a:t>Workflow</a:t>
              </a:r>
              <a:endParaRPr sz="4000" dirty="0">
                <a:solidFill>
                  <a:srgbClr val="804DAC"/>
                </a:solidFill>
              </a:endParaRPr>
            </a:p>
          </p:txBody>
        </p:sp>
        <p:sp>
          <p:nvSpPr>
            <p:cNvPr id="4" name="TextBox 15">
              <a:extLst>
                <a:ext uri="{FF2B5EF4-FFF2-40B4-BE49-F238E27FC236}">
                  <a16:creationId xmlns:a16="http://schemas.microsoft.com/office/drawing/2014/main" id="{08B77DEA-9F0C-216A-2F95-20069ECFDD90}"/>
                </a:ext>
              </a:extLst>
            </p:cNvPr>
            <p:cNvSpPr/>
            <p:nvPr/>
          </p:nvSpPr>
          <p:spPr>
            <a:xfrm>
              <a:off x="1923205" y="1195833"/>
              <a:ext cx="5638801" cy="276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1200">
                  <a:solidFill>
                    <a:srgbClr val="FFFFFF"/>
                  </a:solidFill>
                </a:defRPr>
              </a:lvl1pPr>
            </a:lstStyle>
            <a:p>
              <a:endParaRPr dirty="0"/>
            </a:p>
          </p:txBody>
        </p:sp>
      </p:grpSp>
    </p:spTree>
    <p:extLst>
      <p:ext uri="{BB962C8B-B14F-4D97-AF65-F5344CB8AC3E}">
        <p14:creationId xmlns:p14="http://schemas.microsoft.com/office/powerpoint/2010/main" val="269775178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5"/>
          <p:cNvSpPr txBox="1">
            <a:spLocks noGrp="1"/>
          </p:cNvSpPr>
          <p:nvPr>
            <p:ph type="sldNum" sz="quarter" idx="2"/>
          </p:nvPr>
        </p:nvSpPr>
        <p:spPr>
          <a:xfrm>
            <a:off x="11456417" y="5992208"/>
            <a:ext cx="318665" cy="5847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vi-VN" dirty="0"/>
              <a:t>1</a:t>
            </a:r>
            <a:endParaRPr dirty="0"/>
          </a:p>
        </p:txBody>
      </p:sp>
      <p:sp>
        <p:nvSpPr>
          <p:cNvPr id="32" name="TextBox 1"/>
          <p:cNvSpPr txBox="1"/>
          <p:nvPr/>
        </p:nvSpPr>
        <p:spPr>
          <a:xfrm>
            <a:off x="-544103" y="2058218"/>
            <a:ext cx="7285645" cy="701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defRPr sz="4000" b="1">
                <a:solidFill>
                  <a:srgbClr val="404040"/>
                </a:solidFill>
                <a:latin typeface="+mj-lt"/>
                <a:ea typeface="+mj-ea"/>
                <a:cs typeface="+mj-cs"/>
                <a:sym typeface="Helvetica"/>
              </a:defRPr>
            </a:pPr>
            <a:r>
              <a:rPr lang="vi-VN" dirty="0"/>
              <a:t>Define</a:t>
            </a:r>
            <a:r>
              <a:rPr dirty="0"/>
              <a:t> </a:t>
            </a:r>
            <a:r>
              <a:rPr lang="vi-VN" dirty="0">
                <a:solidFill>
                  <a:schemeClr val="accent2"/>
                </a:solidFill>
              </a:rPr>
              <a:t>Objectives</a:t>
            </a:r>
            <a:endParaRPr dirty="0">
              <a:solidFill>
                <a:schemeClr val="accent2"/>
              </a:solidFill>
            </a:endParaRPr>
          </a:p>
        </p:txBody>
      </p:sp>
      <p:sp>
        <p:nvSpPr>
          <p:cNvPr id="2" name="Right Arrow 1">
            <a:extLst>
              <a:ext uri="{FF2B5EF4-FFF2-40B4-BE49-F238E27FC236}">
                <a16:creationId xmlns:a16="http://schemas.microsoft.com/office/drawing/2014/main" id="{0099DB77-0858-25CF-A00F-48A8A1336611}"/>
              </a:ext>
            </a:extLst>
          </p:cNvPr>
          <p:cNvSpPr/>
          <p:nvPr/>
        </p:nvSpPr>
        <p:spPr>
          <a:xfrm>
            <a:off x="5401788" y="2408737"/>
            <a:ext cx="806354" cy="77288"/>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3" name="TextBox 1">
            <a:extLst>
              <a:ext uri="{FF2B5EF4-FFF2-40B4-BE49-F238E27FC236}">
                <a16:creationId xmlns:a16="http://schemas.microsoft.com/office/drawing/2014/main" id="{B49EA8AE-7F52-7827-4CB3-EDB698373908}"/>
              </a:ext>
            </a:extLst>
          </p:cNvPr>
          <p:cNvSpPr txBox="1"/>
          <p:nvPr/>
        </p:nvSpPr>
        <p:spPr>
          <a:xfrm>
            <a:off x="-830431" y="3653520"/>
            <a:ext cx="7143347" cy="701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4000" b="1">
                <a:solidFill>
                  <a:srgbClr val="404040"/>
                </a:solidFill>
                <a:latin typeface="+mj-lt"/>
                <a:ea typeface="+mj-ea"/>
                <a:cs typeface="+mj-cs"/>
                <a:sym typeface="Helvetica"/>
              </a:defRPr>
            </a:pPr>
            <a:r>
              <a:rPr lang="vi-VN" dirty="0"/>
              <a:t>Data</a:t>
            </a:r>
            <a:r>
              <a:rPr lang="en-US" dirty="0"/>
              <a:t> </a:t>
            </a:r>
            <a:r>
              <a:rPr lang="en-US" dirty="0">
                <a:solidFill>
                  <a:schemeClr val="accent2"/>
                </a:solidFill>
              </a:rPr>
              <a:t>Collection</a:t>
            </a:r>
            <a:endParaRPr dirty="0">
              <a:solidFill>
                <a:schemeClr val="accent2"/>
              </a:solidFill>
            </a:endParaRPr>
          </a:p>
        </p:txBody>
      </p:sp>
      <p:sp>
        <p:nvSpPr>
          <p:cNvPr id="4" name="Right Arrow 3">
            <a:extLst>
              <a:ext uri="{FF2B5EF4-FFF2-40B4-BE49-F238E27FC236}">
                <a16:creationId xmlns:a16="http://schemas.microsoft.com/office/drawing/2014/main" id="{74462009-BD0F-6022-F13C-F77665E34697}"/>
              </a:ext>
            </a:extLst>
          </p:cNvPr>
          <p:cNvSpPr/>
          <p:nvPr/>
        </p:nvSpPr>
        <p:spPr>
          <a:xfrm>
            <a:off x="5401788" y="3924578"/>
            <a:ext cx="806354" cy="77288"/>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6" name="TextBox 5">
            <a:extLst>
              <a:ext uri="{FF2B5EF4-FFF2-40B4-BE49-F238E27FC236}">
                <a16:creationId xmlns:a16="http://schemas.microsoft.com/office/drawing/2014/main" id="{0740E4BD-A9CE-2A99-CEA8-B57159324C72}"/>
              </a:ext>
            </a:extLst>
          </p:cNvPr>
          <p:cNvSpPr txBox="1"/>
          <p:nvPr/>
        </p:nvSpPr>
        <p:spPr>
          <a:xfrm>
            <a:off x="6693915" y="1810905"/>
            <a:ext cx="4695825" cy="1477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vi-VN" dirty="0"/>
              <a:t>Khai phá data từ 2 bảng dữ liệu Sales và Product để xây dựng dashboard tổng quan và chuyên sâu nhằm tối ưu hoạt động bán hàng và quản trị tồn kho. Từ đó phát triển report đưa ra các insights hỗ trợ việc ra quyết định</a:t>
            </a:r>
            <a:endParaRPr lang="en-US" dirty="0"/>
          </a:p>
        </p:txBody>
      </p:sp>
      <p:sp>
        <p:nvSpPr>
          <p:cNvPr id="7" name="TextBox 6">
            <a:extLst>
              <a:ext uri="{FF2B5EF4-FFF2-40B4-BE49-F238E27FC236}">
                <a16:creationId xmlns:a16="http://schemas.microsoft.com/office/drawing/2014/main" id="{EF8FDC6F-9AAF-4FBF-4FEE-15E209DCCABB}"/>
              </a:ext>
            </a:extLst>
          </p:cNvPr>
          <p:cNvSpPr txBox="1"/>
          <p:nvPr/>
        </p:nvSpPr>
        <p:spPr>
          <a:xfrm>
            <a:off x="6693914" y="3653520"/>
            <a:ext cx="4695825"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vi-VN" dirty="0"/>
              <a:t>Dữ liệu đầu vào là dữ liệu giao dịch và dữ liệu stock của SKU, được lưu trữ ở file excel Lazada Sale Report</a:t>
            </a:r>
            <a:endParaRPr lang="en-US"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D0CE8-186E-F11A-90AB-07D5AAF516B5}"/>
            </a:ext>
          </a:extLst>
        </p:cNvPr>
        <p:cNvGrpSpPr/>
        <p:nvPr/>
      </p:nvGrpSpPr>
      <p:grpSpPr>
        <a:xfrm>
          <a:off x="0" y="0"/>
          <a:ext cx="0" cy="0"/>
          <a:chOff x="0" y="0"/>
          <a:chExt cx="0" cy="0"/>
        </a:xfrm>
      </p:grpSpPr>
      <p:sp>
        <p:nvSpPr>
          <p:cNvPr id="31" name="Slide Number Placeholder 5">
            <a:extLst>
              <a:ext uri="{FF2B5EF4-FFF2-40B4-BE49-F238E27FC236}">
                <a16:creationId xmlns:a16="http://schemas.microsoft.com/office/drawing/2014/main" id="{61522618-3635-5EA0-8B4B-CF183422F0E1}"/>
              </a:ext>
            </a:extLst>
          </p:cNvPr>
          <p:cNvSpPr txBox="1">
            <a:spLocks noGrp="1"/>
          </p:cNvSpPr>
          <p:nvPr>
            <p:ph type="sldNum" sz="quarter" idx="2"/>
          </p:nvPr>
        </p:nvSpPr>
        <p:spPr>
          <a:xfrm>
            <a:off x="11455125" y="5820758"/>
            <a:ext cx="319958" cy="5847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vi-VN" dirty="0"/>
              <a:t>3</a:t>
            </a:r>
            <a:endParaRPr dirty="0"/>
          </a:p>
        </p:txBody>
      </p:sp>
      <p:sp>
        <p:nvSpPr>
          <p:cNvPr id="32" name="TextBox 1">
            <a:extLst>
              <a:ext uri="{FF2B5EF4-FFF2-40B4-BE49-F238E27FC236}">
                <a16:creationId xmlns:a16="http://schemas.microsoft.com/office/drawing/2014/main" id="{B177E74B-97A2-C6CC-DCC4-7E10600055B3}"/>
              </a:ext>
            </a:extLst>
          </p:cNvPr>
          <p:cNvSpPr txBox="1"/>
          <p:nvPr/>
        </p:nvSpPr>
        <p:spPr>
          <a:xfrm>
            <a:off x="1994847" y="70881"/>
            <a:ext cx="8202305"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defRPr sz="4000" b="1">
                <a:solidFill>
                  <a:srgbClr val="404040"/>
                </a:solidFill>
                <a:latin typeface="+mj-lt"/>
                <a:ea typeface="+mj-ea"/>
                <a:cs typeface="+mj-cs"/>
                <a:sym typeface="Helvetica"/>
              </a:defRPr>
            </a:pPr>
            <a:r>
              <a:rPr lang="vi-VN" dirty="0"/>
              <a:t>Data</a:t>
            </a:r>
            <a:r>
              <a:rPr lang="en-US" dirty="0"/>
              <a:t> </a:t>
            </a:r>
            <a:r>
              <a:rPr lang="en-US" dirty="0">
                <a:solidFill>
                  <a:schemeClr val="accent2"/>
                </a:solidFill>
              </a:rPr>
              <a:t>Cleaning </a:t>
            </a:r>
            <a:r>
              <a:rPr lang="en-US" dirty="0">
                <a:solidFill>
                  <a:schemeClr val="tx2"/>
                </a:solidFill>
              </a:rPr>
              <a:t>&amp;</a:t>
            </a:r>
            <a:r>
              <a:rPr lang="en-US" dirty="0">
                <a:solidFill>
                  <a:schemeClr val="accent2"/>
                </a:solidFill>
              </a:rPr>
              <a:t> </a:t>
            </a:r>
            <a:r>
              <a:rPr lang="en-US" dirty="0">
                <a:solidFill>
                  <a:schemeClr val="tx1"/>
                </a:solidFill>
              </a:rPr>
              <a:t>Data</a:t>
            </a:r>
            <a:r>
              <a:rPr lang="en-US" dirty="0">
                <a:solidFill>
                  <a:schemeClr val="accent2"/>
                </a:solidFill>
              </a:rPr>
              <a:t> Processing</a:t>
            </a:r>
            <a:endParaRPr dirty="0">
              <a:solidFill>
                <a:schemeClr val="accent2"/>
              </a:solidFill>
            </a:endParaRPr>
          </a:p>
        </p:txBody>
      </p:sp>
      <p:grpSp>
        <p:nvGrpSpPr>
          <p:cNvPr id="6" name="Group 5">
            <a:extLst>
              <a:ext uri="{FF2B5EF4-FFF2-40B4-BE49-F238E27FC236}">
                <a16:creationId xmlns:a16="http://schemas.microsoft.com/office/drawing/2014/main" id="{99F5BFE6-CBFF-30C5-5044-521DAF5F0977}"/>
              </a:ext>
            </a:extLst>
          </p:cNvPr>
          <p:cNvGrpSpPr/>
          <p:nvPr/>
        </p:nvGrpSpPr>
        <p:grpSpPr>
          <a:xfrm>
            <a:off x="1179462" y="721142"/>
            <a:ext cx="3352800" cy="2048829"/>
            <a:chOff x="314325" y="1431295"/>
            <a:chExt cx="3352800" cy="1086779"/>
          </a:xfrm>
        </p:grpSpPr>
        <p:sp>
          <p:nvSpPr>
            <p:cNvPr id="2" name="TextBox 44">
              <a:extLst>
                <a:ext uri="{FF2B5EF4-FFF2-40B4-BE49-F238E27FC236}">
                  <a16:creationId xmlns:a16="http://schemas.microsoft.com/office/drawing/2014/main" id="{092A02AA-7B7C-F2D9-2D87-7F72D192705A}"/>
                </a:ext>
              </a:extLst>
            </p:cNvPr>
            <p:cNvSpPr txBox="1"/>
            <p:nvPr/>
          </p:nvSpPr>
          <p:spPr>
            <a:xfrm>
              <a:off x="439265" y="1431295"/>
              <a:ext cx="3102922" cy="108677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vi-VN" sz="1400" b="1" dirty="0"/>
                <a:t>Extract</a:t>
              </a:r>
            </a:p>
            <a:p>
              <a:r>
                <a:rPr lang="en-US" dirty="0" err="1"/>
                <a:t>Đọc</a:t>
              </a:r>
              <a:r>
                <a:rPr lang="en-US" dirty="0"/>
                <a:t> file Excel </a:t>
              </a:r>
              <a:r>
                <a:rPr lang="en-US" dirty="0" err="1"/>
                <a:t>bằng</a:t>
              </a:r>
              <a:r>
                <a:rPr lang="en-US" dirty="0"/>
                <a:t> Pandas </a:t>
              </a:r>
              <a:r>
                <a:rPr lang="en-US" dirty="0" err="1"/>
                <a:t>từ</a:t>
              </a:r>
              <a:r>
                <a:rPr lang="en-US" dirty="0"/>
                <a:t> 2 </a:t>
              </a:r>
              <a:r>
                <a:rPr lang="en-US" dirty="0" err="1"/>
                <a:t>nguồn</a:t>
              </a:r>
              <a:r>
                <a:rPr lang="en-US" dirty="0"/>
                <a:t> </a:t>
              </a:r>
              <a:r>
                <a:rPr lang="en-US" dirty="0" err="1"/>
                <a:t>dữ</a:t>
              </a:r>
              <a:r>
                <a:rPr lang="en-US" dirty="0"/>
                <a:t> </a:t>
              </a:r>
              <a:r>
                <a:rPr lang="en-US" dirty="0" err="1"/>
                <a:t>liệu</a:t>
              </a:r>
              <a:r>
                <a:rPr lang="en-US" dirty="0"/>
                <a:t> </a:t>
              </a:r>
              <a:r>
                <a:rPr lang="en-US" dirty="0" err="1"/>
                <a:t>chính</a:t>
              </a:r>
              <a:r>
                <a:rPr lang="en-US" dirty="0"/>
                <a:t>:</a:t>
              </a:r>
            </a:p>
            <a:p>
              <a:r>
                <a:rPr lang="en-US" dirty="0"/>
                <a:t>+ </a:t>
              </a:r>
              <a:r>
                <a:rPr lang="en-US" dirty="0" err="1"/>
                <a:t>Bảng</a:t>
              </a:r>
              <a:r>
                <a:rPr lang="en-US" dirty="0"/>
                <a:t> Sales: </a:t>
              </a:r>
              <a:r>
                <a:rPr lang="en-US" dirty="0" err="1"/>
                <a:t>Chứa</a:t>
              </a:r>
              <a:r>
                <a:rPr lang="en-US" dirty="0"/>
                <a:t> </a:t>
              </a:r>
              <a:r>
                <a:rPr lang="en-US" dirty="0" err="1"/>
                <a:t>thông</a:t>
              </a:r>
              <a:r>
                <a:rPr lang="en-US" dirty="0"/>
                <a:t> tin </a:t>
              </a:r>
              <a:r>
                <a:rPr lang="en-US" dirty="0" err="1"/>
                <a:t>giao</a:t>
              </a:r>
              <a:r>
                <a:rPr lang="en-US" dirty="0"/>
                <a:t> </a:t>
              </a:r>
              <a:r>
                <a:rPr lang="en-US" dirty="0" err="1"/>
                <a:t>dịch</a:t>
              </a:r>
              <a:r>
                <a:rPr lang="en-US" dirty="0"/>
                <a:t> </a:t>
              </a:r>
              <a:r>
                <a:rPr lang="en-US" dirty="0" err="1"/>
                <a:t>bán</a:t>
              </a:r>
              <a:r>
                <a:rPr lang="en-US" dirty="0"/>
                <a:t> </a:t>
              </a:r>
              <a:r>
                <a:rPr lang="en-US" dirty="0" err="1"/>
                <a:t>hàng</a:t>
              </a:r>
              <a:endParaRPr lang="en-US" dirty="0"/>
            </a:p>
            <a:p>
              <a:r>
                <a:rPr lang="en-US" dirty="0"/>
                <a:t>+ </a:t>
              </a:r>
              <a:r>
                <a:rPr lang="en-US" dirty="0" err="1"/>
                <a:t>Bảng</a:t>
              </a:r>
              <a:r>
                <a:rPr lang="en-US" dirty="0"/>
                <a:t> Products: </a:t>
              </a:r>
              <a:r>
                <a:rPr lang="en-US" dirty="0" err="1"/>
                <a:t>Chứa</a:t>
              </a:r>
              <a:r>
                <a:rPr lang="en-US" dirty="0"/>
                <a:t> </a:t>
              </a:r>
              <a:r>
                <a:rPr lang="en-US" dirty="0" err="1"/>
                <a:t>thông</a:t>
              </a:r>
              <a:r>
                <a:rPr lang="en-US" dirty="0"/>
                <a:t> tin chi </a:t>
              </a:r>
              <a:r>
                <a:rPr lang="en-US" dirty="0" err="1"/>
                <a:t>tiết</a:t>
              </a:r>
              <a:r>
                <a:rPr lang="en-US" dirty="0"/>
                <a:t> </a:t>
              </a:r>
              <a:r>
                <a:rPr lang="en-US" dirty="0" err="1"/>
                <a:t>sản</a:t>
              </a:r>
              <a:r>
                <a:rPr lang="en-US" dirty="0"/>
                <a:t> </a:t>
              </a:r>
              <a:r>
                <a:rPr lang="en-US" dirty="0" err="1"/>
                <a:t>phẩm</a:t>
              </a:r>
              <a:endParaRPr lang="vi-VN" dirty="0"/>
            </a:p>
            <a:p>
              <a:endParaRPr dirty="0"/>
            </a:p>
          </p:txBody>
        </p:sp>
        <p:sp>
          <p:nvSpPr>
            <p:cNvPr id="5" name="Rectangle 4">
              <a:extLst>
                <a:ext uri="{FF2B5EF4-FFF2-40B4-BE49-F238E27FC236}">
                  <a16:creationId xmlns:a16="http://schemas.microsoft.com/office/drawing/2014/main" id="{C9431CF6-37C1-26D7-C5E4-0269DD2F1D48}"/>
                </a:ext>
              </a:extLst>
            </p:cNvPr>
            <p:cNvSpPr/>
            <p:nvPr/>
          </p:nvSpPr>
          <p:spPr>
            <a:xfrm>
              <a:off x="314325" y="1431295"/>
              <a:ext cx="3352800" cy="1035680"/>
            </a:xfrm>
            <a:prstGeom prst="rect">
              <a:avLst/>
            </a:prstGeom>
            <a:noFill/>
            <a:ln w="9525"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grpSp>
      <p:grpSp>
        <p:nvGrpSpPr>
          <p:cNvPr id="7" name="Group 6">
            <a:extLst>
              <a:ext uri="{FF2B5EF4-FFF2-40B4-BE49-F238E27FC236}">
                <a16:creationId xmlns:a16="http://schemas.microsoft.com/office/drawing/2014/main" id="{A86B5025-F890-CAC3-DC23-987596500091}"/>
              </a:ext>
            </a:extLst>
          </p:cNvPr>
          <p:cNvGrpSpPr/>
          <p:nvPr/>
        </p:nvGrpSpPr>
        <p:grpSpPr>
          <a:xfrm>
            <a:off x="1179462" y="2858200"/>
            <a:ext cx="3477738" cy="1530920"/>
            <a:chOff x="314325" y="1431295"/>
            <a:chExt cx="3477738" cy="1035680"/>
          </a:xfrm>
        </p:grpSpPr>
        <p:sp>
          <p:nvSpPr>
            <p:cNvPr id="8" name="TextBox 44">
              <a:extLst>
                <a:ext uri="{FF2B5EF4-FFF2-40B4-BE49-F238E27FC236}">
                  <a16:creationId xmlns:a16="http://schemas.microsoft.com/office/drawing/2014/main" id="{79BC8954-392A-3826-20BD-E1F223E0CFD4}"/>
                </a:ext>
              </a:extLst>
            </p:cNvPr>
            <p:cNvSpPr txBox="1"/>
            <p:nvPr/>
          </p:nvSpPr>
          <p:spPr>
            <a:xfrm>
              <a:off x="439264" y="1431295"/>
              <a:ext cx="3352799" cy="6001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en-US" sz="1400" b="1" dirty="0"/>
                <a:t>Transform</a:t>
              </a:r>
            </a:p>
            <a:p>
              <a:pPr marL="171450" indent="-171450">
                <a:buFont typeface="Arial" panose="020B0604020202020204" pitchFamily="34" charset="0"/>
                <a:buChar char="•"/>
              </a:pPr>
              <a:r>
                <a:rPr lang="vi-VN" dirty="0"/>
                <a:t>Kiểm tra các trường dữ liệu</a:t>
              </a:r>
            </a:p>
            <a:p>
              <a:pPr marL="171450" indent="-171450">
                <a:buFont typeface="Arial" panose="020B0604020202020204" pitchFamily="34" charset="0"/>
                <a:buChar char="•"/>
              </a:pPr>
              <a:r>
                <a:rPr lang="vi-VN" dirty="0"/>
                <a:t>Phát hiện lỗi xử lý</a:t>
              </a:r>
              <a:endParaRPr lang="vi-VN" b="1" dirty="0"/>
            </a:p>
            <a:p>
              <a:pPr marL="171450" indent="-171450">
                <a:buFont typeface="Arial" panose="020B0604020202020204" pitchFamily="34" charset="0"/>
                <a:buChar char="•"/>
              </a:pPr>
              <a:r>
                <a:rPr lang="vi-VN" dirty="0"/>
                <a:t>Sử dụng Python để clean Data, tạo bảng mới…</a:t>
              </a:r>
              <a:endParaRPr dirty="0"/>
            </a:p>
          </p:txBody>
        </p:sp>
        <p:sp>
          <p:nvSpPr>
            <p:cNvPr id="10" name="Rectangle 9">
              <a:extLst>
                <a:ext uri="{FF2B5EF4-FFF2-40B4-BE49-F238E27FC236}">
                  <a16:creationId xmlns:a16="http://schemas.microsoft.com/office/drawing/2014/main" id="{EE8CA37A-1DA5-A6A9-2D50-E17AB26B959E}"/>
                </a:ext>
              </a:extLst>
            </p:cNvPr>
            <p:cNvSpPr/>
            <p:nvPr/>
          </p:nvSpPr>
          <p:spPr>
            <a:xfrm>
              <a:off x="314325" y="1431295"/>
              <a:ext cx="3352800" cy="1035680"/>
            </a:xfrm>
            <a:prstGeom prst="rect">
              <a:avLst/>
            </a:prstGeom>
            <a:noFill/>
            <a:ln w="9525"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grpSp>
      <p:grpSp>
        <p:nvGrpSpPr>
          <p:cNvPr id="11" name="Group 10">
            <a:extLst>
              <a:ext uri="{FF2B5EF4-FFF2-40B4-BE49-F238E27FC236}">
                <a16:creationId xmlns:a16="http://schemas.microsoft.com/office/drawing/2014/main" id="{E4230048-FB20-DF87-CB32-C01D2CBD5C1A}"/>
              </a:ext>
            </a:extLst>
          </p:cNvPr>
          <p:cNvGrpSpPr/>
          <p:nvPr/>
        </p:nvGrpSpPr>
        <p:grpSpPr>
          <a:xfrm>
            <a:off x="1190892" y="4575935"/>
            <a:ext cx="3352800" cy="2529904"/>
            <a:chOff x="314325" y="1431295"/>
            <a:chExt cx="3352800" cy="1248997"/>
          </a:xfrm>
        </p:grpSpPr>
        <p:sp>
          <p:nvSpPr>
            <p:cNvPr id="12" name="TextBox 44">
              <a:extLst>
                <a:ext uri="{FF2B5EF4-FFF2-40B4-BE49-F238E27FC236}">
                  <a16:creationId xmlns:a16="http://schemas.microsoft.com/office/drawing/2014/main" id="{86692089-A25E-2E38-0BB0-C2EA812A2B4F}"/>
                </a:ext>
              </a:extLst>
            </p:cNvPr>
            <p:cNvSpPr txBox="1"/>
            <p:nvPr/>
          </p:nvSpPr>
          <p:spPr>
            <a:xfrm>
              <a:off x="314326" y="1431295"/>
              <a:ext cx="3352799" cy="12489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defRPr>
              </a:lvl1pPr>
            </a:lstStyle>
            <a:p>
              <a:r>
                <a:rPr lang="en-US" sz="1400" b="1" dirty="0"/>
                <a:t>Load</a:t>
              </a:r>
            </a:p>
            <a:p>
              <a:r>
                <a:rPr lang="en-US" dirty="0"/>
                <a:t>Load data </a:t>
              </a:r>
              <a:r>
                <a:rPr lang="en-US" dirty="0" err="1"/>
                <a:t>vào</a:t>
              </a:r>
              <a:r>
                <a:rPr lang="en-US" dirty="0"/>
                <a:t> </a:t>
              </a:r>
              <a:r>
                <a:rPr lang="en-US" dirty="0" err="1"/>
                <a:t>clickhouse</a:t>
              </a:r>
              <a:r>
                <a:rPr lang="en-US" dirty="0"/>
                <a:t> </a:t>
              </a:r>
              <a:r>
                <a:rPr lang="en-US" dirty="0" err="1"/>
                <a:t>có</a:t>
              </a:r>
              <a:r>
                <a:rPr lang="en-US" dirty="0"/>
                <a:t> host </a:t>
              </a:r>
              <a:r>
                <a:rPr lang="en-US" dirty="0" err="1"/>
                <a:t>tại</a:t>
              </a:r>
              <a:r>
                <a:rPr lang="en-US" dirty="0"/>
                <a:t> local host:</a:t>
              </a:r>
            </a:p>
            <a:p>
              <a:r>
                <a:rPr lang="vi-VN" dirty="0"/>
                <a:t>+ Tự động tạo bảng nếu chưa tồn tại </a:t>
              </a:r>
            </a:p>
            <a:p>
              <a:r>
                <a:rPr lang="vi-VN" dirty="0"/>
                <a:t>+ Xử lý kiểu dữ liệu tương thích </a:t>
              </a:r>
            </a:p>
            <a:p>
              <a:r>
                <a:rPr lang="vi-VN" dirty="0"/>
                <a:t>+ Import dữ liệu đa luồng (8 luồng)</a:t>
              </a:r>
            </a:p>
            <a:p>
              <a:r>
                <a:rPr lang="vi-VN" dirty="0"/>
                <a:t> + Xử lý các giá trị null và datetime </a:t>
              </a:r>
            </a:p>
            <a:p>
              <a:r>
                <a:rPr lang="vi-VN" dirty="0"/>
                <a:t>+ Kiểm tra và báo cáo số lượng bản ghi đã import</a:t>
              </a:r>
              <a:endParaRPr lang="en-US" dirty="0"/>
            </a:p>
          </p:txBody>
        </p:sp>
        <p:sp>
          <p:nvSpPr>
            <p:cNvPr id="14" name="Rectangle 13">
              <a:extLst>
                <a:ext uri="{FF2B5EF4-FFF2-40B4-BE49-F238E27FC236}">
                  <a16:creationId xmlns:a16="http://schemas.microsoft.com/office/drawing/2014/main" id="{84D589BA-9514-EF8A-1C92-82A2D30E7343}"/>
                </a:ext>
              </a:extLst>
            </p:cNvPr>
            <p:cNvSpPr/>
            <p:nvPr/>
          </p:nvSpPr>
          <p:spPr>
            <a:xfrm>
              <a:off x="314325" y="1431295"/>
              <a:ext cx="3352800" cy="1035680"/>
            </a:xfrm>
            <a:prstGeom prst="rect">
              <a:avLst/>
            </a:prstGeom>
            <a:noFill/>
            <a:ln w="9525"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grpSp>
      <p:sp>
        <p:nvSpPr>
          <p:cNvPr id="16" name="Right Brace 15">
            <a:extLst>
              <a:ext uri="{FF2B5EF4-FFF2-40B4-BE49-F238E27FC236}">
                <a16:creationId xmlns:a16="http://schemas.microsoft.com/office/drawing/2014/main" id="{39F83014-DCD8-C583-648D-2B9995FEAF3C}"/>
              </a:ext>
            </a:extLst>
          </p:cNvPr>
          <p:cNvSpPr/>
          <p:nvPr/>
        </p:nvSpPr>
        <p:spPr>
          <a:xfrm>
            <a:off x="4545111" y="3361485"/>
            <a:ext cx="382616" cy="387189"/>
          </a:xfrm>
          <a:prstGeom prst="rightBrace">
            <a:avLst/>
          </a:prstGeom>
          <a:solidFill>
            <a:srgbClr val="FFFFFF"/>
          </a:solidFill>
          <a:ln w="19050" cap="flat">
            <a:solidFill>
              <a:schemeClr val="bg2">
                <a:lumMod val="40000"/>
                <a:lumOff val="60000"/>
              </a:schemeClr>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pic>
        <p:nvPicPr>
          <p:cNvPr id="18" name="Picture 17">
            <a:extLst>
              <a:ext uri="{FF2B5EF4-FFF2-40B4-BE49-F238E27FC236}">
                <a16:creationId xmlns:a16="http://schemas.microsoft.com/office/drawing/2014/main" id="{6F541811-6902-FE07-F172-E38CF56FF506}"/>
              </a:ext>
            </a:extLst>
          </p:cNvPr>
          <p:cNvPicPr>
            <a:picLocks noChangeAspect="1"/>
          </p:cNvPicPr>
          <p:nvPr/>
        </p:nvPicPr>
        <p:blipFill>
          <a:blip r:embed="rId2"/>
          <a:stretch>
            <a:fillRect/>
          </a:stretch>
        </p:blipFill>
        <p:spPr>
          <a:xfrm>
            <a:off x="4940576" y="2277639"/>
            <a:ext cx="6534691" cy="3949342"/>
          </a:xfrm>
          <a:prstGeom prst="rect">
            <a:avLst/>
          </a:prstGeom>
        </p:spPr>
      </p:pic>
      <p:sp>
        <p:nvSpPr>
          <p:cNvPr id="19" name="Right Arrow 18">
            <a:extLst>
              <a:ext uri="{FF2B5EF4-FFF2-40B4-BE49-F238E27FC236}">
                <a16:creationId xmlns:a16="http://schemas.microsoft.com/office/drawing/2014/main" id="{8E976210-7113-E381-06A0-DCB58EC619AA}"/>
              </a:ext>
            </a:extLst>
          </p:cNvPr>
          <p:cNvSpPr/>
          <p:nvPr/>
        </p:nvSpPr>
        <p:spPr>
          <a:xfrm rot="5400000">
            <a:off x="2616642" y="2668468"/>
            <a:ext cx="186816" cy="192654"/>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20" name="Right Arrow 19">
            <a:extLst>
              <a:ext uri="{FF2B5EF4-FFF2-40B4-BE49-F238E27FC236}">
                <a16:creationId xmlns:a16="http://schemas.microsoft.com/office/drawing/2014/main" id="{F1942880-46CE-6829-2DE3-C28BD6718394}"/>
              </a:ext>
            </a:extLst>
          </p:cNvPr>
          <p:cNvSpPr/>
          <p:nvPr/>
        </p:nvSpPr>
        <p:spPr>
          <a:xfrm rot="5400000">
            <a:off x="2592144" y="4388654"/>
            <a:ext cx="186816" cy="192654"/>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22" name="TextBox 21">
            <a:extLst>
              <a:ext uri="{FF2B5EF4-FFF2-40B4-BE49-F238E27FC236}">
                <a16:creationId xmlns:a16="http://schemas.microsoft.com/office/drawing/2014/main" id="{6EDD875D-CD4E-3520-CF30-82CEECC12429}"/>
              </a:ext>
            </a:extLst>
          </p:cNvPr>
          <p:cNvSpPr txBox="1"/>
          <p:nvPr/>
        </p:nvSpPr>
        <p:spPr>
          <a:xfrm>
            <a:off x="4941757" y="1264485"/>
            <a:ext cx="609790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vi-VN" b="0" i="0" dirty="0">
                <a:solidFill>
                  <a:srgbClr val="080809"/>
                </a:solidFill>
                <a:effectLst/>
                <a:latin typeface="system-ui"/>
              </a:rPr>
              <a:t>Tham khảo: Logic code tại </a:t>
            </a:r>
            <a:r>
              <a:rPr lang="vi-VN" b="0" i="0" dirty="0">
                <a:solidFill>
                  <a:srgbClr val="080809"/>
                </a:solidFill>
                <a:effectLst/>
                <a:latin typeface="system-ui"/>
                <a:hlinkClick r:id="rId3"/>
              </a:rPr>
              <a:t>đây</a:t>
            </a:r>
            <a:endParaRPr lang="en-VN" dirty="0"/>
          </a:p>
        </p:txBody>
      </p:sp>
    </p:spTree>
    <p:extLst>
      <p:ext uri="{BB962C8B-B14F-4D97-AF65-F5344CB8AC3E}">
        <p14:creationId xmlns:p14="http://schemas.microsoft.com/office/powerpoint/2010/main" val="42125121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ACDE6-D38C-E03A-15A7-82AB12C61837}"/>
            </a:ext>
          </a:extLst>
        </p:cNvPr>
        <p:cNvGrpSpPr/>
        <p:nvPr/>
      </p:nvGrpSpPr>
      <p:grpSpPr>
        <a:xfrm>
          <a:off x="0" y="0"/>
          <a:ext cx="0" cy="0"/>
          <a:chOff x="0" y="0"/>
          <a:chExt cx="0" cy="0"/>
        </a:xfrm>
      </p:grpSpPr>
      <p:sp>
        <p:nvSpPr>
          <p:cNvPr id="31" name="Slide Number Placeholder 5">
            <a:extLst>
              <a:ext uri="{FF2B5EF4-FFF2-40B4-BE49-F238E27FC236}">
                <a16:creationId xmlns:a16="http://schemas.microsoft.com/office/drawing/2014/main" id="{0DC5785C-284F-29F4-112E-F485C9ED0681}"/>
              </a:ext>
            </a:extLst>
          </p:cNvPr>
          <p:cNvSpPr txBox="1">
            <a:spLocks noGrp="1"/>
          </p:cNvSpPr>
          <p:nvPr>
            <p:ph type="sldNum" sz="quarter" idx="2"/>
          </p:nvPr>
        </p:nvSpPr>
        <p:spPr>
          <a:xfrm>
            <a:off x="11455125" y="5992208"/>
            <a:ext cx="319958" cy="58477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vi-VN" dirty="0"/>
              <a:t>4</a:t>
            </a:r>
            <a:endParaRPr dirty="0"/>
          </a:p>
        </p:txBody>
      </p:sp>
      <p:sp>
        <p:nvSpPr>
          <p:cNvPr id="32" name="TextBox 1">
            <a:extLst>
              <a:ext uri="{FF2B5EF4-FFF2-40B4-BE49-F238E27FC236}">
                <a16:creationId xmlns:a16="http://schemas.microsoft.com/office/drawing/2014/main" id="{A80E83D0-639E-0740-2911-3D5628665765}"/>
              </a:ext>
            </a:extLst>
          </p:cNvPr>
          <p:cNvSpPr txBox="1"/>
          <p:nvPr/>
        </p:nvSpPr>
        <p:spPr>
          <a:xfrm>
            <a:off x="2266949" y="162745"/>
            <a:ext cx="7933900" cy="707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4000" b="1">
                <a:solidFill>
                  <a:srgbClr val="404040"/>
                </a:solidFill>
                <a:latin typeface="+mj-lt"/>
                <a:ea typeface="+mj-ea"/>
                <a:cs typeface="+mj-cs"/>
                <a:sym typeface="Helvetica"/>
              </a:defRPr>
            </a:pPr>
            <a:r>
              <a:rPr lang="vi-VN" dirty="0"/>
              <a:t>Data</a:t>
            </a:r>
            <a:r>
              <a:rPr lang="en-US" dirty="0"/>
              <a:t> </a:t>
            </a:r>
            <a:r>
              <a:rPr lang="en-US" dirty="0">
                <a:solidFill>
                  <a:schemeClr val="accent2"/>
                </a:solidFill>
              </a:rPr>
              <a:t>Analysis</a:t>
            </a:r>
            <a:endParaRPr dirty="0">
              <a:solidFill>
                <a:schemeClr val="accent2"/>
              </a:solidFill>
            </a:endParaRPr>
          </a:p>
        </p:txBody>
      </p:sp>
      <p:sp>
        <p:nvSpPr>
          <p:cNvPr id="33" name="TextBox 2">
            <a:extLst>
              <a:ext uri="{FF2B5EF4-FFF2-40B4-BE49-F238E27FC236}">
                <a16:creationId xmlns:a16="http://schemas.microsoft.com/office/drawing/2014/main" id="{41F831BC-6DFB-BF06-6352-B16542F63EB7}"/>
              </a:ext>
            </a:extLst>
          </p:cNvPr>
          <p:cNvSpPr txBox="1"/>
          <p:nvPr/>
        </p:nvSpPr>
        <p:spPr>
          <a:xfrm>
            <a:off x="6828259" y="973136"/>
            <a:ext cx="3548114"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1200">
                <a:solidFill>
                  <a:srgbClr val="808080"/>
                </a:solidFill>
              </a:defRPr>
            </a:lvl1pPr>
          </a:lstStyle>
          <a:p>
            <a:r>
              <a:rPr lang="vi-VN" dirty="0"/>
              <a:t>Logic trees đã xây dựng trong quá trình thực hiện</a:t>
            </a:r>
            <a:endParaRPr dirty="0"/>
          </a:p>
        </p:txBody>
      </p:sp>
      <p:pic>
        <p:nvPicPr>
          <p:cNvPr id="2" name="Picture 1">
            <a:extLst>
              <a:ext uri="{FF2B5EF4-FFF2-40B4-BE49-F238E27FC236}">
                <a16:creationId xmlns:a16="http://schemas.microsoft.com/office/drawing/2014/main" id="{4F2C87E4-8778-37D3-4600-ACE4238118FE}"/>
              </a:ext>
            </a:extLst>
          </p:cNvPr>
          <p:cNvPicPr>
            <a:picLocks noChangeAspect="1"/>
          </p:cNvPicPr>
          <p:nvPr/>
        </p:nvPicPr>
        <p:blipFill>
          <a:blip r:embed="rId2"/>
          <a:stretch>
            <a:fillRect/>
          </a:stretch>
        </p:blipFill>
        <p:spPr>
          <a:xfrm>
            <a:off x="4041006" y="1305334"/>
            <a:ext cx="7933900" cy="5406796"/>
          </a:xfrm>
          <a:prstGeom prst="rect">
            <a:avLst/>
          </a:prstGeom>
        </p:spPr>
      </p:pic>
      <p:sp>
        <p:nvSpPr>
          <p:cNvPr id="3" name="TextBox 2">
            <a:extLst>
              <a:ext uri="{FF2B5EF4-FFF2-40B4-BE49-F238E27FC236}">
                <a16:creationId xmlns:a16="http://schemas.microsoft.com/office/drawing/2014/main" id="{F40C9A7E-242B-3F12-BA8A-67B24F0003A8}"/>
              </a:ext>
            </a:extLst>
          </p:cNvPr>
          <p:cNvSpPr txBox="1"/>
          <p:nvPr/>
        </p:nvSpPr>
        <p:spPr>
          <a:xfrm>
            <a:off x="826637" y="2518090"/>
            <a:ext cx="3278758" cy="2031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vi-VN" dirty="0"/>
              <a:t>Từ việc khai phá dữ liệu, các KPI và chỉ số quan trọng đã được xác định để giải quyết các câu hỏi kinh doanh theo nguyên tắc MECE. Xây dựng cơ bản outline và flow phân tích</a:t>
            </a:r>
          </a:p>
          <a:p>
            <a:endParaRPr lang="en-US" dirty="0"/>
          </a:p>
        </p:txBody>
      </p:sp>
    </p:spTree>
    <p:extLst>
      <p:ext uri="{BB962C8B-B14F-4D97-AF65-F5344CB8AC3E}">
        <p14:creationId xmlns:p14="http://schemas.microsoft.com/office/powerpoint/2010/main" val="298898382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EF594-4AED-BEF4-B705-A2A5AF242162}"/>
            </a:ext>
          </a:extLst>
        </p:cNvPr>
        <p:cNvGrpSpPr/>
        <p:nvPr/>
      </p:nvGrpSpPr>
      <p:grpSpPr>
        <a:xfrm>
          <a:off x="0" y="0"/>
          <a:ext cx="0" cy="0"/>
          <a:chOff x="0" y="0"/>
          <a:chExt cx="0" cy="0"/>
        </a:xfrm>
      </p:grpSpPr>
      <p:sp>
        <p:nvSpPr>
          <p:cNvPr id="31" name="Slide Number Placeholder 5">
            <a:extLst>
              <a:ext uri="{FF2B5EF4-FFF2-40B4-BE49-F238E27FC236}">
                <a16:creationId xmlns:a16="http://schemas.microsoft.com/office/drawing/2014/main" id="{EA3E5825-E28C-162B-49C8-A8538FC7990F}"/>
              </a:ext>
            </a:extLst>
          </p:cNvPr>
          <p:cNvSpPr txBox="1">
            <a:spLocks noGrp="1"/>
          </p:cNvSpPr>
          <p:nvPr>
            <p:ph type="sldNum" sz="quarter" idx="2"/>
          </p:nvPr>
        </p:nvSpPr>
        <p:spPr>
          <a:xfrm>
            <a:off x="11455125" y="5992208"/>
            <a:ext cx="319958" cy="5847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vi-VN" dirty="0"/>
              <a:t>5</a:t>
            </a:r>
            <a:endParaRPr dirty="0"/>
          </a:p>
        </p:txBody>
      </p:sp>
      <p:sp>
        <p:nvSpPr>
          <p:cNvPr id="32" name="TextBox 1">
            <a:extLst>
              <a:ext uri="{FF2B5EF4-FFF2-40B4-BE49-F238E27FC236}">
                <a16:creationId xmlns:a16="http://schemas.microsoft.com/office/drawing/2014/main" id="{C243F377-873B-36A6-A16B-0A1832765EC9}"/>
              </a:ext>
            </a:extLst>
          </p:cNvPr>
          <p:cNvSpPr txBox="1"/>
          <p:nvPr/>
        </p:nvSpPr>
        <p:spPr>
          <a:xfrm>
            <a:off x="255269" y="1481003"/>
            <a:ext cx="7933900"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4800" b="1">
                <a:solidFill>
                  <a:srgbClr val="404040"/>
                </a:solidFill>
                <a:latin typeface="+mj-lt"/>
                <a:ea typeface="+mj-ea"/>
                <a:cs typeface="+mj-cs"/>
                <a:sym typeface="Helvetica"/>
              </a:defRPr>
            </a:pPr>
            <a:r>
              <a:rPr lang="en-US" sz="4000" b="1" dirty="0">
                <a:solidFill>
                  <a:schemeClr val="bg1"/>
                </a:solidFill>
                <a:sym typeface="Helvetica"/>
              </a:rPr>
              <a:t>Visualization </a:t>
            </a:r>
            <a:r>
              <a:rPr lang="en-US" sz="4000" b="1" dirty="0">
                <a:solidFill>
                  <a:schemeClr val="tx2"/>
                </a:solidFill>
                <a:sym typeface="Helvetica"/>
              </a:rPr>
              <a:t>&amp;</a:t>
            </a:r>
            <a:r>
              <a:rPr lang="en-US" sz="4000" b="1" dirty="0">
                <a:solidFill>
                  <a:schemeClr val="bg1"/>
                </a:solidFill>
                <a:sym typeface="Helvetica"/>
              </a:rPr>
              <a:t> </a:t>
            </a:r>
            <a:r>
              <a:rPr lang="en-US" sz="4000" b="1" dirty="0">
                <a:solidFill>
                  <a:srgbClr val="884AB2"/>
                </a:solidFill>
                <a:sym typeface="Helvetica"/>
              </a:rPr>
              <a:t>Presentation</a:t>
            </a:r>
          </a:p>
        </p:txBody>
      </p:sp>
      <p:sp>
        <p:nvSpPr>
          <p:cNvPr id="2" name="Right Arrow 1">
            <a:extLst>
              <a:ext uri="{FF2B5EF4-FFF2-40B4-BE49-F238E27FC236}">
                <a16:creationId xmlns:a16="http://schemas.microsoft.com/office/drawing/2014/main" id="{1AC8B939-D008-9144-06DA-202B12823953}"/>
              </a:ext>
            </a:extLst>
          </p:cNvPr>
          <p:cNvSpPr/>
          <p:nvPr/>
        </p:nvSpPr>
        <p:spPr>
          <a:xfrm>
            <a:off x="7253448" y="1796302"/>
            <a:ext cx="806354" cy="77288"/>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3" name="TextBox 2">
            <a:extLst>
              <a:ext uri="{FF2B5EF4-FFF2-40B4-BE49-F238E27FC236}">
                <a16:creationId xmlns:a16="http://schemas.microsoft.com/office/drawing/2014/main" id="{A66760BE-1446-0FF9-2667-B59AF45DC921}"/>
              </a:ext>
            </a:extLst>
          </p:cNvPr>
          <p:cNvSpPr txBox="1"/>
          <p:nvPr/>
        </p:nvSpPr>
        <p:spPr>
          <a:xfrm>
            <a:off x="-933451" y="2704013"/>
            <a:ext cx="7315201" cy="7078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4800" b="1">
                <a:solidFill>
                  <a:srgbClr val="404040"/>
                </a:solidFill>
                <a:latin typeface="+mj-lt"/>
                <a:ea typeface="+mj-ea"/>
                <a:cs typeface="+mj-cs"/>
                <a:sym typeface="Helvetica"/>
              </a:defRPr>
            </a:pPr>
            <a:r>
              <a:rPr lang="en-US" sz="4000" b="1" dirty="0">
                <a:solidFill>
                  <a:schemeClr val="bg1"/>
                </a:solidFill>
                <a:sym typeface="Helvetica"/>
              </a:rPr>
              <a:t>Validation </a:t>
            </a:r>
            <a:r>
              <a:rPr lang="en-US" sz="4000" b="1" dirty="0">
                <a:solidFill>
                  <a:schemeClr val="tx2"/>
                </a:solidFill>
                <a:sym typeface="Helvetica"/>
              </a:rPr>
              <a:t>&amp;</a:t>
            </a:r>
            <a:r>
              <a:rPr lang="en-US" sz="4000" b="1" dirty="0">
                <a:solidFill>
                  <a:schemeClr val="bg1"/>
                </a:solidFill>
                <a:sym typeface="Helvetica"/>
              </a:rPr>
              <a:t> </a:t>
            </a:r>
            <a:r>
              <a:rPr lang="en-US" sz="4000" b="1" dirty="0">
                <a:solidFill>
                  <a:srgbClr val="804DAC"/>
                </a:solidFill>
                <a:sym typeface="Helvetica"/>
              </a:rPr>
              <a:t>Review</a:t>
            </a:r>
          </a:p>
        </p:txBody>
      </p:sp>
      <p:sp>
        <p:nvSpPr>
          <p:cNvPr id="5" name="Right Arrow 4">
            <a:extLst>
              <a:ext uri="{FF2B5EF4-FFF2-40B4-BE49-F238E27FC236}">
                <a16:creationId xmlns:a16="http://schemas.microsoft.com/office/drawing/2014/main" id="{9B82234B-EDDB-E0D6-53B6-AD17D6A6ADD8}"/>
              </a:ext>
            </a:extLst>
          </p:cNvPr>
          <p:cNvSpPr/>
          <p:nvPr/>
        </p:nvSpPr>
        <p:spPr>
          <a:xfrm>
            <a:off x="7253448" y="3100177"/>
            <a:ext cx="806354" cy="77288"/>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7" name="TextBox 2">
            <a:extLst>
              <a:ext uri="{FF2B5EF4-FFF2-40B4-BE49-F238E27FC236}">
                <a16:creationId xmlns:a16="http://schemas.microsoft.com/office/drawing/2014/main" id="{EF2DBB19-633B-B9E3-AB45-4DD4148AC966}"/>
              </a:ext>
            </a:extLst>
          </p:cNvPr>
          <p:cNvSpPr txBox="1"/>
          <p:nvPr/>
        </p:nvSpPr>
        <p:spPr>
          <a:xfrm>
            <a:off x="-784861" y="4000887"/>
            <a:ext cx="7315201" cy="707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4800" b="1">
                <a:solidFill>
                  <a:srgbClr val="404040"/>
                </a:solidFill>
                <a:latin typeface="+mj-lt"/>
                <a:ea typeface="+mj-ea"/>
                <a:cs typeface="+mj-cs"/>
                <a:sym typeface="Helvetica"/>
              </a:defRPr>
            </a:pPr>
            <a:r>
              <a:rPr lang="en-US" sz="4000" b="1" dirty="0">
                <a:solidFill>
                  <a:schemeClr val="tx1"/>
                </a:solidFill>
                <a:sym typeface="Helvetica"/>
              </a:rPr>
              <a:t>Publishing</a:t>
            </a:r>
            <a:r>
              <a:rPr lang="en-US" sz="4000" b="1" dirty="0">
                <a:solidFill>
                  <a:schemeClr val="bg1"/>
                </a:solidFill>
                <a:sym typeface="Helvetica"/>
              </a:rPr>
              <a:t> </a:t>
            </a:r>
            <a:r>
              <a:rPr lang="en-US" sz="4000" b="1" dirty="0">
                <a:solidFill>
                  <a:schemeClr val="tx2"/>
                </a:solidFill>
                <a:sym typeface="Helvetica"/>
              </a:rPr>
              <a:t>&amp;</a:t>
            </a:r>
            <a:r>
              <a:rPr lang="en-US" sz="4000" b="1" dirty="0">
                <a:solidFill>
                  <a:schemeClr val="bg1"/>
                </a:solidFill>
                <a:sym typeface="Helvetica"/>
              </a:rPr>
              <a:t> </a:t>
            </a:r>
            <a:r>
              <a:rPr lang="en-US" sz="4000" b="1" dirty="0">
                <a:solidFill>
                  <a:srgbClr val="884AB2"/>
                </a:solidFill>
                <a:sym typeface="Helvetica"/>
              </a:rPr>
              <a:t>Sharing</a:t>
            </a:r>
          </a:p>
        </p:txBody>
      </p:sp>
      <p:sp>
        <p:nvSpPr>
          <p:cNvPr id="8" name="Right Arrow 7">
            <a:extLst>
              <a:ext uri="{FF2B5EF4-FFF2-40B4-BE49-F238E27FC236}">
                <a16:creationId xmlns:a16="http://schemas.microsoft.com/office/drawing/2014/main" id="{8CE17163-AB06-0422-2208-8F91F09C30A9}"/>
              </a:ext>
            </a:extLst>
          </p:cNvPr>
          <p:cNvSpPr/>
          <p:nvPr/>
        </p:nvSpPr>
        <p:spPr>
          <a:xfrm>
            <a:off x="7253448" y="4358267"/>
            <a:ext cx="806354" cy="77288"/>
          </a:xfrm>
          <a:prstGeom prst="rightArrow">
            <a:avLst/>
          </a:prstGeom>
          <a:solidFill>
            <a:srgbClr val="FFFFFF"/>
          </a:solidFill>
          <a:ln w="1905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VN" sz="1800" b="0" i="0" u="none" strike="noStrike" cap="none" spc="0" normalizeH="0" baseline="0">
              <a:ln>
                <a:noFill/>
              </a:ln>
              <a:solidFill>
                <a:srgbClr val="000000"/>
              </a:solidFill>
              <a:effectLst/>
              <a:uFillTx/>
              <a:latin typeface="+mn-lt"/>
              <a:ea typeface="+mn-ea"/>
              <a:cs typeface="+mn-cs"/>
              <a:sym typeface="Onest"/>
            </a:endParaRPr>
          </a:p>
        </p:txBody>
      </p:sp>
      <p:sp>
        <p:nvSpPr>
          <p:cNvPr id="10" name="TextBox 9">
            <a:extLst>
              <a:ext uri="{FF2B5EF4-FFF2-40B4-BE49-F238E27FC236}">
                <a16:creationId xmlns:a16="http://schemas.microsoft.com/office/drawing/2014/main" id="{BB0AEDEF-BD66-6406-997B-0F16B096BED2}"/>
              </a:ext>
            </a:extLst>
          </p:cNvPr>
          <p:cNvSpPr txBox="1"/>
          <p:nvPr/>
        </p:nvSpPr>
        <p:spPr>
          <a:xfrm>
            <a:off x="8336346" y="996428"/>
            <a:ext cx="3278758" cy="1754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vi-VN" dirty="0"/>
              <a:t>Load nguồn dữ liệu từ cơ sở dữ liệu clickhouse vào power query và tiến hành trực quan dữ liệu, tìm kiếm thông tin hữu ích từ dữ liệu theo các hướng đã brain storm</a:t>
            </a:r>
            <a:endParaRPr lang="en-US" dirty="0"/>
          </a:p>
        </p:txBody>
      </p:sp>
      <p:sp>
        <p:nvSpPr>
          <p:cNvPr id="11" name="TextBox 10">
            <a:extLst>
              <a:ext uri="{FF2B5EF4-FFF2-40B4-BE49-F238E27FC236}">
                <a16:creationId xmlns:a16="http://schemas.microsoft.com/office/drawing/2014/main" id="{A80B03FD-695F-FF2C-79E5-B1126BEDAB78}"/>
              </a:ext>
            </a:extLst>
          </p:cNvPr>
          <p:cNvSpPr txBox="1"/>
          <p:nvPr/>
        </p:nvSpPr>
        <p:spPr>
          <a:xfrm>
            <a:off x="8356982" y="2962638"/>
            <a:ext cx="327875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t>Review </a:t>
            </a:r>
            <a:r>
              <a:rPr lang="en-US" dirty="0" err="1"/>
              <a:t>lại</a:t>
            </a:r>
            <a:r>
              <a:rPr lang="en-US" dirty="0"/>
              <a:t> </a:t>
            </a:r>
            <a:r>
              <a:rPr lang="en-US" dirty="0" err="1"/>
              <a:t>thông</a:t>
            </a:r>
            <a:r>
              <a:rPr lang="en-US" dirty="0"/>
              <a:t> tin</a:t>
            </a:r>
          </a:p>
        </p:txBody>
      </p:sp>
      <p:sp>
        <p:nvSpPr>
          <p:cNvPr id="12" name="TextBox 11">
            <a:extLst>
              <a:ext uri="{FF2B5EF4-FFF2-40B4-BE49-F238E27FC236}">
                <a16:creationId xmlns:a16="http://schemas.microsoft.com/office/drawing/2014/main" id="{2CB26185-7404-6E5B-5D10-72E7803A6203}"/>
              </a:ext>
            </a:extLst>
          </p:cNvPr>
          <p:cNvSpPr txBox="1"/>
          <p:nvPr/>
        </p:nvSpPr>
        <p:spPr>
          <a:xfrm>
            <a:off x="8356982" y="4170165"/>
            <a:ext cx="327875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t>Chia </a:t>
            </a:r>
            <a:r>
              <a:rPr lang="en-US" dirty="0" err="1"/>
              <a:t>sẻ</a:t>
            </a:r>
            <a:r>
              <a:rPr lang="en-US" dirty="0"/>
              <a:t>, </a:t>
            </a:r>
            <a:r>
              <a:rPr lang="en-US" dirty="0" err="1"/>
              <a:t>thuyết</a:t>
            </a:r>
            <a:r>
              <a:rPr lang="en-US" dirty="0"/>
              <a:t> </a:t>
            </a:r>
            <a:r>
              <a:rPr lang="en-US" dirty="0" err="1"/>
              <a:t>trình</a:t>
            </a:r>
            <a:endParaRPr lang="en-US" dirty="0"/>
          </a:p>
        </p:txBody>
      </p:sp>
    </p:spTree>
    <p:extLst>
      <p:ext uri="{BB962C8B-B14F-4D97-AF65-F5344CB8AC3E}">
        <p14:creationId xmlns:p14="http://schemas.microsoft.com/office/powerpoint/2010/main" val="30713456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32542-F433-89EE-0D50-28D9BE90C731}"/>
            </a:ext>
          </a:extLst>
        </p:cNvPr>
        <p:cNvGrpSpPr/>
        <p:nvPr/>
      </p:nvGrpSpPr>
      <p:grpSpPr>
        <a:xfrm>
          <a:off x="0" y="0"/>
          <a:ext cx="0" cy="0"/>
          <a:chOff x="0" y="0"/>
          <a:chExt cx="0" cy="0"/>
        </a:xfrm>
      </p:grpSpPr>
      <p:grpSp>
        <p:nvGrpSpPr>
          <p:cNvPr id="29" name="Group 1">
            <a:extLst>
              <a:ext uri="{FF2B5EF4-FFF2-40B4-BE49-F238E27FC236}">
                <a16:creationId xmlns:a16="http://schemas.microsoft.com/office/drawing/2014/main" id="{883C34D2-A144-6240-088A-B395D698EDAF}"/>
              </a:ext>
            </a:extLst>
          </p:cNvPr>
          <p:cNvGrpSpPr/>
          <p:nvPr/>
        </p:nvGrpSpPr>
        <p:grpSpPr>
          <a:xfrm>
            <a:off x="908610" y="2672705"/>
            <a:ext cx="10374780" cy="1472832"/>
            <a:chOff x="0" y="0"/>
            <a:chExt cx="9485212" cy="1472830"/>
          </a:xfrm>
        </p:grpSpPr>
        <p:sp>
          <p:nvSpPr>
            <p:cNvPr id="27" name="TextBox 3">
              <a:extLst>
                <a:ext uri="{FF2B5EF4-FFF2-40B4-BE49-F238E27FC236}">
                  <a16:creationId xmlns:a16="http://schemas.microsoft.com/office/drawing/2014/main" id="{1849DF65-8BDA-26A0-9247-72FCA8170E49}"/>
                </a:ext>
              </a:extLst>
            </p:cNvPr>
            <p:cNvSpPr/>
            <p:nvPr/>
          </p:nvSpPr>
          <p:spPr>
            <a:xfrm>
              <a:off x="0" y="0"/>
              <a:ext cx="9485212" cy="1323435"/>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gn="ctr">
                <a:defRPr sz="8000" b="1">
                  <a:solidFill>
                    <a:srgbClr val="FFFFFF"/>
                  </a:solidFill>
                  <a:latin typeface="+mj-lt"/>
                  <a:ea typeface="+mj-ea"/>
                  <a:cs typeface="+mj-cs"/>
                  <a:sym typeface="Helvetica"/>
                </a:defRPr>
              </a:pPr>
              <a:r>
                <a:rPr lang="en-US" dirty="0"/>
                <a:t>Thank </a:t>
              </a:r>
              <a:r>
                <a:rPr lang="vi-VN" dirty="0">
                  <a:solidFill>
                    <a:srgbClr val="B892D2"/>
                  </a:solidFill>
                </a:rPr>
                <a:t>You</a:t>
              </a:r>
              <a:endParaRPr dirty="0">
                <a:solidFill>
                  <a:srgbClr val="B892D2"/>
                </a:solidFill>
              </a:endParaRPr>
            </a:p>
          </p:txBody>
        </p:sp>
        <p:sp>
          <p:nvSpPr>
            <p:cNvPr id="28" name="TextBox 15">
              <a:extLst>
                <a:ext uri="{FF2B5EF4-FFF2-40B4-BE49-F238E27FC236}">
                  <a16:creationId xmlns:a16="http://schemas.microsoft.com/office/drawing/2014/main" id="{28901E3C-9884-172E-A0F5-A623A00FEE44}"/>
                </a:ext>
              </a:extLst>
            </p:cNvPr>
            <p:cNvSpPr/>
            <p:nvPr/>
          </p:nvSpPr>
          <p:spPr>
            <a:xfrm>
              <a:off x="1923205" y="1195833"/>
              <a:ext cx="5638801" cy="276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1200">
                  <a:solidFill>
                    <a:srgbClr val="FFFFFF"/>
                  </a:solidFill>
                </a:defRPr>
              </a:lvl1pPr>
            </a:lstStyle>
            <a:p>
              <a:endParaRPr dirty="0"/>
            </a:p>
          </p:txBody>
        </p:sp>
      </p:grpSp>
    </p:spTree>
    <p:extLst>
      <p:ext uri="{BB962C8B-B14F-4D97-AF65-F5344CB8AC3E}">
        <p14:creationId xmlns:p14="http://schemas.microsoft.com/office/powerpoint/2010/main" val="2066620865"/>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262626"/>
      </a:lt1>
      <a:dk2>
        <a:srgbClr val="A7A7A7"/>
      </a:dk2>
      <a:lt2>
        <a:srgbClr val="535353"/>
      </a:lt2>
      <a:accent1>
        <a:srgbClr val="471CA8"/>
      </a:accent1>
      <a:accent2>
        <a:srgbClr val="884AB2"/>
      </a:accent2>
      <a:accent3>
        <a:srgbClr val="FF930A"/>
      </a:accent3>
      <a:accent4>
        <a:srgbClr val="F24B04"/>
      </a:accent4>
      <a:accent5>
        <a:srgbClr val="D1105A"/>
      </a:accent5>
      <a:accent6>
        <a:srgbClr val="4EA72E"/>
      </a:accent6>
      <a:hlink>
        <a:srgbClr val="0000FF"/>
      </a:hlink>
      <a:folHlink>
        <a:srgbClr val="FF00FF"/>
      </a:folHlink>
    </a:clrScheme>
    <a:fontScheme name="Office Theme">
      <a:majorFont>
        <a:latin typeface="Helvetica"/>
        <a:ea typeface="Helvetica"/>
        <a:cs typeface="Helvetica"/>
      </a:majorFont>
      <a:minorFont>
        <a:latin typeface="Onest"/>
        <a:ea typeface="Onest"/>
        <a:cs typeface="Onest"/>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71CA8"/>
      </a:accent1>
      <a:accent2>
        <a:srgbClr val="884AB2"/>
      </a:accent2>
      <a:accent3>
        <a:srgbClr val="FF930A"/>
      </a:accent3>
      <a:accent4>
        <a:srgbClr val="F24B04"/>
      </a:accent4>
      <a:accent5>
        <a:srgbClr val="D1105A"/>
      </a:accent5>
      <a:accent6>
        <a:srgbClr val="4EA72E"/>
      </a:accent6>
      <a:hlink>
        <a:srgbClr val="0000FF"/>
      </a:hlink>
      <a:folHlink>
        <a:srgbClr val="FF00FF"/>
      </a:folHlink>
    </a:clrScheme>
    <a:fontScheme name="Office Theme">
      <a:majorFont>
        <a:latin typeface="Helvetica"/>
        <a:ea typeface="Helvetica"/>
        <a:cs typeface="Helvetica"/>
      </a:majorFont>
      <a:minorFont>
        <a:latin typeface="Onest"/>
        <a:ea typeface="Onest"/>
        <a:cs typeface="Onest"/>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Ones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1346</TotalTime>
  <Words>350</Words>
  <Application>Microsoft Macintosh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Helvetica</vt:lpstr>
      <vt:lpstr>Onest</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Ngoc Anh</cp:lastModifiedBy>
  <cp:revision>7</cp:revision>
  <dcterms:modified xsi:type="dcterms:W3CDTF">2025-05-22T16:57:10Z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2025-05-18T16:16:09Z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be97e59d-7643-4da1-b843-66deca89ce9a</vt:lpwstr>
  </property>
  <property fmtid="{D5CDD505-2E9C-101B-9397-08002B2CF9AE}" pid="7" name="MSIP_Label_defa4170-0d19-0005-0004-bc88714345d2_ActionId">
    <vt:lpwstr>ee221af9-20d5-49ad-840d-49ce3365611f</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